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7.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50" r:id="rId1"/>
  </p:sldMasterIdLst>
  <p:notesMasterIdLst>
    <p:notesMasterId r:id="rId2"/>
  </p:notesMasterIdLst>
  <p:sldIdLst>
    <p:sldId id="276" r:id="rId3"/>
    <p:sldId id="277" r:id="rId4"/>
    <p:sldId id="278" r:id="rId5"/>
    <p:sldId id="279" r:id="rId6"/>
    <p:sldId id="280" r:id="rId7"/>
    <p:sldId id="281" r:id="rId8"/>
    <p:sldId id="282" r:id="rId9"/>
    <p:sldId id="283" r:id="rId10"/>
    <p:sldId id="284" r:id="rId11"/>
    <p:sldId id="285" r:id="rId12"/>
    <p:sldId id="288" r:id="rId13"/>
    <p:sldId id="289" r:id="rId14"/>
  </p:sldIdLst>
  <p:sldSz type="screen16x9" cy="6858000" cx="12192000"/>
  <p:notesSz cx="6858000" cy="12192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611"/>
    <p:restoredTop sz="94610"/>
  </p:normalViewPr>
  <p:slideViewPr>
    <p:cSldViewPr snapToGrid="0" snapToObjects="1">
      <p:cViewPr varScale="1">
        <p:scale>
          <a:sx n="136" d="100"/>
          <a:sy n="136" d="100"/>
        </p:scale>
        <p:origin x="216" y="31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tableStyles" Target="tableStyle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3" name=""/>
        <p:cNvGrpSpPr/>
        <p:nvPr/>
      </p:nvGrpSpPr>
      <p:grpSpPr>
        <a:xfrm>
          <a:off x="0" y="0"/>
          <a:ext cx="0" cy="0"/>
          <a:chOff x="0" y="0"/>
          <a:chExt cx="0" cy="0"/>
        </a:xfrm>
      </p:grpSpPr>
      <p:sp>
        <p:nvSpPr>
          <p:cNvPr id="1049300"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9301"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5282F153-3F37-0F45-9E97-73ACFA13230C}" type="datetimeFigureOut">
              <a:rPr lang="en-US"/>
              <a:t>7/23/19</a:t>
            </a:fld>
            <a:endParaRPr lang="en-US"/>
          </a:p>
        </p:txBody>
      </p:sp>
      <p:sp>
        <p:nvSpPr>
          <p:cNvPr id="1049302"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9303"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304"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9305"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CE5E9CC1-C706-0F49-92D6-E571CC5EEA8F}" type="slidenum">
              <a:rPr lang="en-US"/>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628" name="Slide Image Placeholder 1"/>
          <p:cNvSpPr>
            <a:spLocks noChangeAspect="1" noRot="1" noGrp="1"/>
          </p:cNvSpPr>
          <p:nvPr>
            <p:ph type="sldImg"/>
          </p:nvPr>
        </p:nvSpPr>
        <p:spPr/>
      </p:sp>
      <p:sp>
        <p:nvSpPr>
          <p:cNvPr id="1048629" name="Notes Placeholder 2"/>
          <p:cNvSpPr>
            <a:spLocks noGrp="1"/>
          </p:cNvSpPr>
          <p:nvPr>
            <p:ph type="body" idx="1"/>
          </p:nvPr>
        </p:nvSpPr>
        <p:spPr/>
        <p:txBody>
          <a:bodyPr/>
          <a:p>
            <a:r>
              <a:rPr dirty="0" lang="en-US"/>
              <a:t/>
            </a:r>
            <a:endParaRPr dirty="0" lang="en-US"/>
          </a:p>
        </p:txBody>
      </p:sp>
      <p:sp>
        <p:nvSpPr>
          <p:cNvPr id="1048630"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708" name="Slide Image Placeholder 1"/>
          <p:cNvSpPr>
            <a:spLocks noChangeAspect="1" noRot="1" noGrp="1"/>
          </p:cNvSpPr>
          <p:nvPr>
            <p:ph type="sldImg"/>
          </p:nvPr>
        </p:nvSpPr>
        <p:spPr/>
      </p:sp>
      <p:sp>
        <p:nvSpPr>
          <p:cNvPr id="1048709" name="Notes Placeholder 2"/>
          <p:cNvSpPr>
            <a:spLocks noGrp="1"/>
          </p:cNvSpPr>
          <p:nvPr>
            <p:ph type="body" idx="1"/>
          </p:nvPr>
        </p:nvSpPr>
        <p:spPr/>
        <p:txBody>
          <a:bodyPr/>
          <a:p>
            <a:r>
              <a:rPr dirty="0" lang="en-US"/>
              <a:t/>
            </a:r>
            <a:endParaRPr dirty="0" lang="en-US"/>
          </a:p>
        </p:txBody>
      </p:sp>
      <p:sp>
        <p:nvSpPr>
          <p:cNvPr id="1048710"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766" name="Slide Image Placeholder 1"/>
          <p:cNvSpPr>
            <a:spLocks noChangeAspect="1" noRot="1" noGrp="1"/>
          </p:cNvSpPr>
          <p:nvPr>
            <p:ph type="sldImg"/>
          </p:nvPr>
        </p:nvSpPr>
        <p:spPr/>
      </p:sp>
      <p:sp>
        <p:nvSpPr>
          <p:cNvPr id="1048767" name="Notes Placeholder 2"/>
          <p:cNvSpPr>
            <a:spLocks noGrp="1"/>
          </p:cNvSpPr>
          <p:nvPr>
            <p:ph type="body" idx="1"/>
          </p:nvPr>
        </p:nvSpPr>
        <p:spPr/>
        <p:txBody>
          <a:bodyPr/>
          <a:p>
            <a:r>
              <a:rPr dirty="0" lang="en-US"/>
              <a:t/>
            </a:r>
            <a:endParaRPr dirty="0" lang="en-US"/>
          </a:p>
        </p:txBody>
      </p:sp>
      <p:sp>
        <p:nvSpPr>
          <p:cNvPr id="1048768"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841" name="Slide Image Placeholder 1"/>
          <p:cNvSpPr>
            <a:spLocks noChangeAspect="1" noRot="1" noGrp="1"/>
          </p:cNvSpPr>
          <p:nvPr>
            <p:ph type="sldImg"/>
          </p:nvPr>
        </p:nvSpPr>
        <p:spPr/>
      </p:sp>
      <p:sp>
        <p:nvSpPr>
          <p:cNvPr id="1048842" name="Notes Placeholder 2"/>
          <p:cNvSpPr>
            <a:spLocks noGrp="1"/>
          </p:cNvSpPr>
          <p:nvPr>
            <p:ph type="body" idx="1"/>
          </p:nvPr>
        </p:nvSpPr>
        <p:spPr/>
        <p:txBody>
          <a:bodyPr/>
          <a:p>
            <a:r>
              <a:rPr dirty="0" lang="en-US"/>
              <a:t/>
            </a:r>
            <a:endParaRPr dirty="0" lang="en-US"/>
          </a:p>
        </p:txBody>
      </p:sp>
      <p:sp>
        <p:nvSpPr>
          <p:cNvPr id="1048843"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883" name="Slide Image Placeholder 1"/>
          <p:cNvSpPr>
            <a:spLocks noChangeAspect="1" noRot="1" noGrp="1"/>
          </p:cNvSpPr>
          <p:nvPr>
            <p:ph type="sldImg"/>
          </p:nvPr>
        </p:nvSpPr>
        <p:spPr/>
      </p:sp>
      <p:sp>
        <p:nvSpPr>
          <p:cNvPr id="1048884" name="Notes Placeholder 2"/>
          <p:cNvSpPr>
            <a:spLocks noGrp="1"/>
          </p:cNvSpPr>
          <p:nvPr>
            <p:ph type="body" idx="1"/>
          </p:nvPr>
        </p:nvSpPr>
        <p:spPr/>
        <p:txBody>
          <a:bodyPr/>
          <a:p>
            <a:r>
              <a:rPr dirty="0" lang="en-US"/>
              <a:t/>
            </a:r>
            <a:endParaRPr dirty="0" lang="en-US"/>
          </a:p>
        </p:txBody>
      </p:sp>
      <p:sp>
        <p:nvSpPr>
          <p:cNvPr id="1048885"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967" name="Slide Image Placeholder 1"/>
          <p:cNvSpPr>
            <a:spLocks noChangeAspect="1" noRot="1" noGrp="1"/>
          </p:cNvSpPr>
          <p:nvPr>
            <p:ph type="sldImg"/>
          </p:nvPr>
        </p:nvSpPr>
        <p:spPr/>
      </p:sp>
      <p:sp>
        <p:nvSpPr>
          <p:cNvPr id="1048968" name="Notes Placeholder 2"/>
          <p:cNvSpPr>
            <a:spLocks noGrp="1"/>
          </p:cNvSpPr>
          <p:nvPr>
            <p:ph type="body" idx="1"/>
          </p:nvPr>
        </p:nvSpPr>
        <p:spPr/>
        <p:txBody>
          <a:bodyPr/>
          <a:p>
            <a:r>
              <a:rPr dirty="0" lang="en-US"/>
              <a:t/>
            </a:r>
            <a:endParaRPr dirty="0" lang="en-US"/>
          </a:p>
        </p:txBody>
      </p:sp>
      <p:sp>
        <p:nvSpPr>
          <p:cNvPr id="1048969"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9297" name="Slide Image Placeholder 1"/>
          <p:cNvSpPr>
            <a:spLocks noChangeAspect="1" noRot="1" noGrp="1"/>
          </p:cNvSpPr>
          <p:nvPr>
            <p:ph type="sldImg"/>
          </p:nvPr>
        </p:nvSpPr>
        <p:spPr/>
      </p:sp>
      <p:sp>
        <p:nvSpPr>
          <p:cNvPr id="1049298" name="Notes Placeholder 2"/>
          <p:cNvSpPr>
            <a:spLocks noGrp="1"/>
          </p:cNvSpPr>
          <p:nvPr>
            <p:ph type="body" idx="1"/>
          </p:nvPr>
        </p:nvSpPr>
        <p:spPr/>
        <p:txBody>
          <a:bodyPr/>
          <a:p>
            <a:r>
              <a:rPr dirty="0" lang="en-US"/>
              <a:t/>
            </a:r>
            <a:endParaRPr dirty="0" lang="en-US"/>
          </a:p>
        </p:txBody>
      </p:sp>
      <p:sp>
        <p:nvSpPr>
          <p:cNvPr id="1049299"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51"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8"/>
        </a:solidFill>
      </p:bgPr>
    </p:bg>
    <p:spTree>
      <p:nvGrpSpPr>
        <p:cNvPr id="15" name=""/>
        <p:cNvGrpSpPr/>
        <p:nvPr/>
      </p:nvGrpSpPr>
      <p:grpSpPr>
        <a:xfrm>
          <a:off x="0" y="0"/>
          <a:ext cx="0" cy="0"/>
          <a:chOff x="0" y="0"/>
          <a:chExt cx="0" cy="0"/>
        </a:xfrm>
      </p:grpSpPr>
      <p:sp>
        <p:nvSpPr>
          <p:cNvPr id="1048576" name="Shape 0"/>
          <p:cNvSpPr/>
          <p:nvPr/>
        </p:nvSpPr>
        <p:spPr>
          <a:xfrm>
            <a:off x="548640" y="0"/>
            <a:ext cx="0" cy="6858000"/>
          </a:xfrm>
          <a:prstGeom prst="line"/>
          <a:noFill/>
          <a:ln w="6350">
            <a:solidFill>
              <a:srgbClr val="1B3A5C"/>
            </a:solidFill>
            <a:prstDash val="solid"/>
          </a:ln>
        </p:spPr>
      </p:sp>
      <p:sp>
        <p:nvSpPr>
          <p:cNvPr id="1048577" name="Shape 1"/>
          <p:cNvSpPr/>
          <p:nvPr/>
        </p:nvSpPr>
        <p:spPr>
          <a:xfrm>
            <a:off x="1325880" y="0"/>
            <a:ext cx="0" cy="6858000"/>
          </a:xfrm>
          <a:prstGeom prst="line"/>
          <a:noFill/>
          <a:ln w="6350">
            <a:solidFill>
              <a:srgbClr val="1B3A5C"/>
            </a:solidFill>
            <a:prstDash val="solid"/>
          </a:ln>
        </p:spPr>
      </p:sp>
      <p:sp>
        <p:nvSpPr>
          <p:cNvPr id="1048578" name="Shape 2"/>
          <p:cNvSpPr/>
          <p:nvPr/>
        </p:nvSpPr>
        <p:spPr>
          <a:xfrm>
            <a:off x="2103120" y="0"/>
            <a:ext cx="0" cy="6858000"/>
          </a:xfrm>
          <a:prstGeom prst="line"/>
          <a:noFill/>
          <a:ln w="6350">
            <a:solidFill>
              <a:srgbClr val="1B3A5C"/>
            </a:solidFill>
            <a:prstDash val="solid"/>
          </a:ln>
        </p:spPr>
      </p:sp>
      <p:sp>
        <p:nvSpPr>
          <p:cNvPr id="1048579" name="Shape 3"/>
          <p:cNvSpPr/>
          <p:nvPr/>
        </p:nvSpPr>
        <p:spPr>
          <a:xfrm>
            <a:off x="2880360" y="0"/>
            <a:ext cx="0" cy="6858000"/>
          </a:xfrm>
          <a:prstGeom prst="line"/>
          <a:noFill/>
          <a:ln w="6350">
            <a:solidFill>
              <a:srgbClr val="1B3A5C"/>
            </a:solidFill>
            <a:prstDash val="solid"/>
          </a:ln>
        </p:spPr>
      </p:sp>
      <p:sp>
        <p:nvSpPr>
          <p:cNvPr id="1048580" name="Shape 4"/>
          <p:cNvSpPr/>
          <p:nvPr/>
        </p:nvSpPr>
        <p:spPr>
          <a:xfrm>
            <a:off x="3657600" y="0"/>
            <a:ext cx="0" cy="6858000"/>
          </a:xfrm>
          <a:prstGeom prst="line"/>
          <a:noFill/>
          <a:ln w="6350">
            <a:solidFill>
              <a:srgbClr val="1B3A5C"/>
            </a:solidFill>
            <a:prstDash val="solid"/>
          </a:ln>
        </p:spPr>
      </p:sp>
      <p:sp>
        <p:nvSpPr>
          <p:cNvPr id="1048581" name="Shape 5"/>
          <p:cNvSpPr/>
          <p:nvPr/>
        </p:nvSpPr>
        <p:spPr>
          <a:xfrm>
            <a:off x="4434840" y="0"/>
            <a:ext cx="0" cy="6858000"/>
          </a:xfrm>
          <a:prstGeom prst="line"/>
          <a:noFill/>
          <a:ln w="6350">
            <a:solidFill>
              <a:srgbClr val="1B3A5C"/>
            </a:solidFill>
            <a:prstDash val="solid"/>
          </a:ln>
        </p:spPr>
      </p:sp>
      <p:sp>
        <p:nvSpPr>
          <p:cNvPr id="1048582" name="Shape 6"/>
          <p:cNvSpPr/>
          <p:nvPr/>
        </p:nvSpPr>
        <p:spPr>
          <a:xfrm>
            <a:off x="5212080" y="0"/>
            <a:ext cx="0" cy="6858000"/>
          </a:xfrm>
          <a:prstGeom prst="line"/>
          <a:noFill/>
          <a:ln w="6350">
            <a:solidFill>
              <a:srgbClr val="1B3A5C"/>
            </a:solidFill>
            <a:prstDash val="solid"/>
          </a:ln>
        </p:spPr>
      </p:sp>
      <p:sp>
        <p:nvSpPr>
          <p:cNvPr id="1048583" name="Shape 7"/>
          <p:cNvSpPr/>
          <p:nvPr/>
        </p:nvSpPr>
        <p:spPr>
          <a:xfrm>
            <a:off x="5989320" y="0"/>
            <a:ext cx="0" cy="6858000"/>
          </a:xfrm>
          <a:prstGeom prst="line"/>
          <a:noFill/>
          <a:ln w="6350">
            <a:solidFill>
              <a:srgbClr val="1B3A5C"/>
            </a:solidFill>
            <a:prstDash val="solid"/>
          </a:ln>
        </p:spPr>
      </p:sp>
      <p:sp>
        <p:nvSpPr>
          <p:cNvPr id="1048584" name="Shape 8"/>
          <p:cNvSpPr/>
          <p:nvPr/>
        </p:nvSpPr>
        <p:spPr>
          <a:xfrm>
            <a:off x="6766560" y="0"/>
            <a:ext cx="0" cy="6858000"/>
          </a:xfrm>
          <a:prstGeom prst="line"/>
          <a:noFill/>
          <a:ln w="6350">
            <a:solidFill>
              <a:srgbClr val="1B3A5C"/>
            </a:solidFill>
            <a:prstDash val="solid"/>
          </a:ln>
        </p:spPr>
      </p:sp>
      <p:sp>
        <p:nvSpPr>
          <p:cNvPr id="1048585" name="Shape 9"/>
          <p:cNvSpPr/>
          <p:nvPr/>
        </p:nvSpPr>
        <p:spPr>
          <a:xfrm>
            <a:off x="7543800" y="0"/>
            <a:ext cx="0" cy="6858000"/>
          </a:xfrm>
          <a:prstGeom prst="line"/>
          <a:noFill/>
          <a:ln w="6350">
            <a:solidFill>
              <a:srgbClr val="1B3A5C"/>
            </a:solidFill>
            <a:prstDash val="solid"/>
          </a:ln>
        </p:spPr>
      </p:sp>
      <p:sp>
        <p:nvSpPr>
          <p:cNvPr id="1048586" name="Shape 10"/>
          <p:cNvSpPr/>
          <p:nvPr/>
        </p:nvSpPr>
        <p:spPr>
          <a:xfrm>
            <a:off x="8321040" y="0"/>
            <a:ext cx="0" cy="6858000"/>
          </a:xfrm>
          <a:prstGeom prst="line"/>
          <a:noFill/>
          <a:ln w="6350">
            <a:solidFill>
              <a:srgbClr val="1B3A5C"/>
            </a:solidFill>
            <a:prstDash val="solid"/>
          </a:ln>
        </p:spPr>
      </p:sp>
      <p:sp>
        <p:nvSpPr>
          <p:cNvPr id="1048587" name="Shape 11"/>
          <p:cNvSpPr/>
          <p:nvPr/>
        </p:nvSpPr>
        <p:spPr>
          <a:xfrm>
            <a:off x="9098280" y="0"/>
            <a:ext cx="0" cy="6858000"/>
          </a:xfrm>
          <a:prstGeom prst="line"/>
          <a:noFill/>
          <a:ln w="6350">
            <a:solidFill>
              <a:srgbClr val="1B3A5C"/>
            </a:solidFill>
            <a:prstDash val="solid"/>
          </a:ln>
        </p:spPr>
      </p:sp>
      <p:sp>
        <p:nvSpPr>
          <p:cNvPr id="1048588" name="Shape 12"/>
          <p:cNvSpPr/>
          <p:nvPr/>
        </p:nvSpPr>
        <p:spPr>
          <a:xfrm>
            <a:off x="9875520" y="0"/>
            <a:ext cx="0" cy="6858000"/>
          </a:xfrm>
          <a:prstGeom prst="line"/>
          <a:noFill/>
          <a:ln w="6350">
            <a:solidFill>
              <a:srgbClr val="1B3A5C"/>
            </a:solidFill>
            <a:prstDash val="solid"/>
          </a:ln>
        </p:spPr>
      </p:sp>
      <p:sp>
        <p:nvSpPr>
          <p:cNvPr id="1048589" name="Shape 13"/>
          <p:cNvSpPr/>
          <p:nvPr/>
        </p:nvSpPr>
        <p:spPr>
          <a:xfrm>
            <a:off x="10652760" y="0"/>
            <a:ext cx="0" cy="6858000"/>
          </a:xfrm>
          <a:prstGeom prst="line"/>
          <a:noFill/>
          <a:ln w="6350">
            <a:solidFill>
              <a:srgbClr val="1B3A5C"/>
            </a:solidFill>
            <a:prstDash val="solid"/>
          </a:ln>
        </p:spPr>
      </p:sp>
      <p:sp>
        <p:nvSpPr>
          <p:cNvPr id="1048590" name="Shape 14"/>
          <p:cNvSpPr/>
          <p:nvPr/>
        </p:nvSpPr>
        <p:spPr>
          <a:xfrm>
            <a:off x="11430000" y="0"/>
            <a:ext cx="0" cy="6858000"/>
          </a:xfrm>
          <a:prstGeom prst="line"/>
          <a:noFill/>
          <a:ln w="6350">
            <a:solidFill>
              <a:srgbClr val="1B3A5C"/>
            </a:solidFill>
            <a:prstDash val="solid"/>
          </a:ln>
        </p:spPr>
      </p:sp>
      <p:sp>
        <p:nvSpPr>
          <p:cNvPr id="1048591" name="Shape 15"/>
          <p:cNvSpPr/>
          <p:nvPr/>
        </p:nvSpPr>
        <p:spPr>
          <a:xfrm>
            <a:off x="0" y="548640"/>
            <a:ext cx="12191695" cy="0"/>
          </a:xfrm>
          <a:prstGeom prst="line"/>
          <a:noFill/>
          <a:ln w="6350">
            <a:solidFill>
              <a:srgbClr val="1B3A5C"/>
            </a:solidFill>
            <a:prstDash val="solid"/>
          </a:ln>
        </p:spPr>
      </p:sp>
      <p:sp>
        <p:nvSpPr>
          <p:cNvPr id="1048592" name="Shape 16"/>
          <p:cNvSpPr/>
          <p:nvPr/>
        </p:nvSpPr>
        <p:spPr>
          <a:xfrm>
            <a:off x="0" y="1325880"/>
            <a:ext cx="12191695" cy="0"/>
          </a:xfrm>
          <a:prstGeom prst="line"/>
          <a:noFill/>
          <a:ln w="6350">
            <a:solidFill>
              <a:srgbClr val="1B3A5C"/>
            </a:solidFill>
            <a:prstDash val="solid"/>
          </a:ln>
        </p:spPr>
      </p:sp>
      <p:sp>
        <p:nvSpPr>
          <p:cNvPr id="1048593" name="Shape 17"/>
          <p:cNvSpPr/>
          <p:nvPr/>
        </p:nvSpPr>
        <p:spPr>
          <a:xfrm>
            <a:off x="0" y="2103120"/>
            <a:ext cx="12191695" cy="0"/>
          </a:xfrm>
          <a:prstGeom prst="line"/>
          <a:noFill/>
          <a:ln w="6350">
            <a:solidFill>
              <a:srgbClr val="1B3A5C"/>
            </a:solidFill>
            <a:prstDash val="solid"/>
          </a:ln>
        </p:spPr>
      </p:sp>
      <p:sp>
        <p:nvSpPr>
          <p:cNvPr id="1048594" name="Shape 18"/>
          <p:cNvSpPr/>
          <p:nvPr/>
        </p:nvSpPr>
        <p:spPr>
          <a:xfrm>
            <a:off x="0" y="2880360"/>
            <a:ext cx="12191695" cy="0"/>
          </a:xfrm>
          <a:prstGeom prst="line"/>
          <a:noFill/>
          <a:ln w="6350">
            <a:solidFill>
              <a:srgbClr val="1B3A5C"/>
            </a:solidFill>
            <a:prstDash val="solid"/>
          </a:ln>
        </p:spPr>
      </p:sp>
      <p:sp>
        <p:nvSpPr>
          <p:cNvPr id="1048595" name="Shape 19"/>
          <p:cNvSpPr/>
          <p:nvPr/>
        </p:nvSpPr>
        <p:spPr>
          <a:xfrm>
            <a:off x="0" y="3657600"/>
            <a:ext cx="12191695" cy="0"/>
          </a:xfrm>
          <a:prstGeom prst="line"/>
          <a:noFill/>
          <a:ln w="6350">
            <a:solidFill>
              <a:srgbClr val="1B3A5C"/>
            </a:solidFill>
            <a:prstDash val="solid"/>
          </a:ln>
        </p:spPr>
      </p:sp>
      <p:sp>
        <p:nvSpPr>
          <p:cNvPr id="1048596" name="Shape 20"/>
          <p:cNvSpPr/>
          <p:nvPr/>
        </p:nvSpPr>
        <p:spPr>
          <a:xfrm>
            <a:off x="0" y="4434840"/>
            <a:ext cx="12191695" cy="0"/>
          </a:xfrm>
          <a:prstGeom prst="line"/>
          <a:noFill/>
          <a:ln w="6350">
            <a:solidFill>
              <a:srgbClr val="1B3A5C"/>
            </a:solidFill>
            <a:prstDash val="solid"/>
          </a:ln>
        </p:spPr>
      </p:sp>
      <p:sp>
        <p:nvSpPr>
          <p:cNvPr id="1048597" name="Shape 21"/>
          <p:cNvSpPr/>
          <p:nvPr/>
        </p:nvSpPr>
        <p:spPr>
          <a:xfrm>
            <a:off x="0" y="5212080"/>
            <a:ext cx="12191695" cy="0"/>
          </a:xfrm>
          <a:prstGeom prst="line"/>
          <a:noFill/>
          <a:ln w="6350">
            <a:solidFill>
              <a:srgbClr val="1B3A5C"/>
            </a:solidFill>
            <a:prstDash val="solid"/>
          </a:ln>
        </p:spPr>
      </p:sp>
      <p:sp>
        <p:nvSpPr>
          <p:cNvPr id="1048598" name="Shape 22"/>
          <p:cNvSpPr/>
          <p:nvPr/>
        </p:nvSpPr>
        <p:spPr>
          <a:xfrm>
            <a:off x="0" y="5989320"/>
            <a:ext cx="12191695" cy="0"/>
          </a:xfrm>
          <a:prstGeom prst="line"/>
          <a:noFill/>
          <a:ln w="6350">
            <a:solidFill>
              <a:srgbClr val="1B3A5C"/>
            </a:solidFill>
            <a:prstDash val="solid"/>
          </a:ln>
        </p:spPr>
      </p:sp>
      <p:sp>
        <p:nvSpPr>
          <p:cNvPr id="1048599" name="Shape 23"/>
          <p:cNvSpPr/>
          <p:nvPr/>
        </p:nvSpPr>
        <p:spPr>
          <a:xfrm>
            <a:off x="0" y="6766560"/>
            <a:ext cx="12191695" cy="0"/>
          </a:xfrm>
          <a:prstGeom prst="line"/>
          <a:noFill/>
          <a:ln w="6350">
            <a:solidFill>
              <a:srgbClr val="1B3A5C"/>
            </a:solidFill>
            <a:prstDash val="solid"/>
          </a:ln>
        </p:spPr>
      </p:sp>
      <p:sp>
        <p:nvSpPr>
          <p:cNvPr id="1048600" name="Shape 24"/>
          <p:cNvSpPr/>
          <p:nvPr/>
        </p:nvSpPr>
        <p:spPr>
          <a:xfrm>
            <a:off x="201168" y="201168"/>
            <a:ext cx="11789359" cy="6455664"/>
          </a:xfrm>
          <a:prstGeom prst="rect"/>
          <a:ln w="15875">
            <a:solidFill>
              <a:srgbClr val="3E6690"/>
            </a:solidFill>
            <a:prstDash val="solid"/>
          </a:ln>
        </p:spPr>
      </p:sp>
      <p:sp>
        <p:nvSpPr>
          <p:cNvPr id="1048601" name="Shape 25"/>
          <p:cNvSpPr/>
          <p:nvPr/>
        </p:nvSpPr>
        <p:spPr>
          <a:xfrm>
            <a:off x="320040" y="320040"/>
            <a:ext cx="384048" cy="0"/>
          </a:xfrm>
          <a:prstGeom prst="line"/>
          <a:noFill/>
          <a:ln w="25400">
            <a:solidFill>
              <a:srgbClr val="6EC6FF"/>
            </a:solidFill>
            <a:prstDash val="solid"/>
          </a:ln>
        </p:spPr>
      </p:sp>
      <p:sp>
        <p:nvSpPr>
          <p:cNvPr id="1048602" name="Shape 26"/>
          <p:cNvSpPr/>
          <p:nvPr/>
        </p:nvSpPr>
        <p:spPr>
          <a:xfrm>
            <a:off x="320040" y="320040"/>
            <a:ext cx="0" cy="384048"/>
          </a:xfrm>
          <a:prstGeom prst="line"/>
          <a:noFill/>
          <a:ln w="25400">
            <a:solidFill>
              <a:srgbClr val="6EC6FF"/>
            </a:solidFill>
            <a:prstDash val="solid"/>
          </a:ln>
        </p:spPr>
      </p:sp>
      <p:sp>
        <p:nvSpPr>
          <p:cNvPr id="1048603" name="Shape 27"/>
          <p:cNvSpPr/>
          <p:nvPr/>
        </p:nvSpPr>
        <p:spPr>
          <a:xfrm>
            <a:off x="11487607" y="320040"/>
            <a:ext cx="384048" cy="0"/>
          </a:xfrm>
          <a:prstGeom prst="line"/>
          <a:noFill/>
          <a:ln w="25400">
            <a:solidFill>
              <a:srgbClr val="6EC6FF"/>
            </a:solidFill>
            <a:prstDash val="solid"/>
          </a:ln>
        </p:spPr>
      </p:sp>
      <p:sp>
        <p:nvSpPr>
          <p:cNvPr id="1048604" name="Shape 28"/>
          <p:cNvSpPr/>
          <p:nvPr/>
        </p:nvSpPr>
        <p:spPr>
          <a:xfrm>
            <a:off x="11871655" y="320040"/>
            <a:ext cx="0" cy="384048"/>
          </a:xfrm>
          <a:prstGeom prst="line"/>
          <a:noFill/>
          <a:ln w="25400">
            <a:solidFill>
              <a:srgbClr val="6EC6FF"/>
            </a:solidFill>
            <a:prstDash val="solid"/>
          </a:ln>
        </p:spPr>
      </p:sp>
      <p:sp>
        <p:nvSpPr>
          <p:cNvPr id="1048605" name="Shape 29"/>
          <p:cNvSpPr/>
          <p:nvPr/>
        </p:nvSpPr>
        <p:spPr>
          <a:xfrm>
            <a:off x="320040" y="6537960"/>
            <a:ext cx="384048" cy="0"/>
          </a:xfrm>
          <a:prstGeom prst="line"/>
          <a:noFill/>
          <a:ln w="25400">
            <a:solidFill>
              <a:srgbClr val="6EC6FF"/>
            </a:solidFill>
            <a:prstDash val="solid"/>
          </a:ln>
        </p:spPr>
      </p:sp>
      <p:sp>
        <p:nvSpPr>
          <p:cNvPr id="1048606" name="Shape 30"/>
          <p:cNvSpPr/>
          <p:nvPr/>
        </p:nvSpPr>
        <p:spPr>
          <a:xfrm>
            <a:off x="320040" y="6153912"/>
            <a:ext cx="0" cy="384048"/>
          </a:xfrm>
          <a:prstGeom prst="line"/>
          <a:noFill/>
          <a:ln w="25400">
            <a:solidFill>
              <a:srgbClr val="6EC6FF"/>
            </a:solidFill>
            <a:prstDash val="solid"/>
          </a:ln>
        </p:spPr>
      </p:sp>
      <p:sp>
        <p:nvSpPr>
          <p:cNvPr id="1048607" name="Shape 31"/>
          <p:cNvSpPr/>
          <p:nvPr/>
        </p:nvSpPr>
        <p:spPr>
          <a:xfrm>
            <a:off x="11487607" y="6537960"/>
            <a:ext cx="384048" cy="0"/>
          </a:xfrm>
          <a:prstGeom prst="line"/>
          <a:noFill/>
          <a:ln w="25400">
            <a:solidFill>
              <a:srgbClr val="6EC6FF"/>
            </a:solidFill>
            <a:prstDash val="solid"/>
          </a:ln>
        </p:spPr>
      </p:sp>
      <p:sp>
        <p:nvSpPr>
          <p:cNvPr id="1048608" name="Shape 32"/>
          <p:cNvSpPr/>
          <p:nvPr/>
        </p:nvSpPr>
        <p:spPr>
          <a:xfrm>
            <a:off x="11871655" y="6153912"/>
            <a:ext cx="0" cy="384048"/>
          </a:xfrm>
          <a:prstGeom prst="line"/>
          <a:noFill/>
          <a:ln w="25400">
            <a:solidFill>
              <a:srgbClr val="6EC6FF"/>
            </a:solidFill>
            <a:prstDash val="solid"/>
          </a:ln>
        </p:spPr>
      </p:sp>
      <p:sp>
        <p:nvSpPr>
          <p:cNvPr id="1048609" name="Shape 33"/>
          <p:cNvSpPr/>
          <p:nvPr/>
        </p:nvSpPr>
        <p:spPr>
          <a:xfrm>
            <a:off x="548640" y="914400"/>
            <a:ext cx="3017520" cy="292608"/>
          </a:xfrm>
          <a:prstGeom prst="rect"/>
          <a:solidFill>
            <a:srgbClr val="06162A"/>
          </a:solidFill>
          <a:ln w="12700">
            <a:solidFill>
              <a:srgbClr val="8FD3FF"/>
            </a:solidFill>
            <a:prstDash val="solid"/>
          </a:ln>
        </p:spPr>
      </p:sp>
      <p:sp>
        <p:nvSpPr>
          <p:cNvPr id="1048610" name="Text 34"/>
          <p:cNvSpPr/>
          <p:nvPr/>
        </p:nvSpPr>
        <p:spPr>
          <a:xfrm>
            <a:off x="548640" y="914400"/>
            <a:ext cx="3017520" cy="292608"/>
          </a:xfrm>
          <a:prstGeom prst="rect"/>
          <a:noFill/>
        </p:spPr>
        <p:txBody>
          <a:bodyPr anchor="ctr" rtlCol="0" wrap="square"/>
          <a:p>
            <a:pPr algn="ctr" indent="0" marL="0">
              <a:buNone/>
            </a:pPr>
            <a:r>
              <a:rPr b="1" dirty="0" sz="1050" kern="0" lang="en-US" spc="100">
                <a:solidFill>
                  <a:srgbClr val="8FD3FF"/>
                </a:solidFill>
                <a:latin typeface="Courier New" pitchFamily="34" charset="0"/>
                <a:ea typeface="Courier New" pitchFamily="34" charset="-122"/>
                <a:cs typeface="Courier New" pitchFamily="34" charset="-120"/>
              </a:rPr>
              <a:t>REFACTORING CASE STUDY</a:t>
            </a:r>
            <a:endParaRPr dirty="0" sz="1050" lang="en-US"/>
          </a:p>
        </p:txBody>
      </p:sp>
      <p:sp>
        <p:nvSpPr>
          <p:cNvPr id="1048611" name="Text 35"/>
          <p:cNvSpPr/>
          <p:nvPr/>
        </p:nvSpPr>
        <p:spPr>
          <a:xfrm>
            <a:off x="548640" y="1600200"/>
            <a:ext cx="8778240" cy="1828800"/>
          </a:xfrm>
          <a:prstGeom prst="rect"/>
          <a:noFill/>
        </p:spPr>
        <p:txBody>
          <a:bodyPr anchor="ctr" rtlCol="0" wrap="square"/>
          <a:p>
            <a:pPr indent="0" marL="0">
              <a:lnSpc>
                <a:spcPct val="105000"/>
              </a:lnSpc>
              <a:buNone/>
            </a:pPr>
            <a:r>
              <a:rPr b="1" dirty="0" sz="4200" kern="0" lang="en-US" spc="50">
                <a:solidFill>
                  <a:srgbClr val="FFFFFF"/>
                </a:solidFill>
                <a:latin typeface="Arial" pitchFamily="34" charset="0"/>
                <a:ea typeface="Arial" pitchFamily="34" charset="-122"/>
                <a:cs typeface="Arial" pitchFamily="34" charset="-120"/>
              </a:rPr>
              <a:t>FROM G</a:t>
            </a:r>
            <a:r>
              <a:rPr b="1" dirty="0" sz="4200" kern="0" lang="en-US" spc="50">
                <a:solidFill>
                  <a:srgbClr val="FFFFFF"/>
                </a:solidFill>
                <a:latin typeface="Arial" pitchFamily="34" charset="0"/>
                <a:ea typeface="Arial" pitchFamily="34" charset="-122"/>
                <a:cs typeface="Arial" pitchFamily="34" charset="-120"/>
              </a:rPr>
              <a:t>O</a:t>
            </a:r>
            <a:r>
              <a:rPr b="1" dirty="0" sz="4200" kern="0" lang="en-US" spc="50">
                <a:solidFill>
                  <a:srgbClr val="FFFFFF"/>
                </a:solidFill>
                <a:latin typeface="Arial" pitchFamily="34" charset="0"/>
                <a:ea typeface="Arial" pitchFamily="34" charset="-122"/>
                <a:cs typeface="Arial" pitchFamily="34" charset="-120"/>
              </a:rPr>
              <a:t>OD CLASS TO</a:t>
            </a:r>
            <a:endParaRPr dirty="0" sz="4200" lang="en-US"/>
          </a:p>
          <a:p>
            <a:pPr indent="0" marL="0">
              <a:lnSpc>
                <a:spcPct val="105000"/>
              </a:lnSpc>
              <a:buNone/>
            </a:pPr>
            <a:r>
              <a:rPr b="1" dirty="0" sz="4200" kern="0" lang="en-US" spc="50">
                <a:solidFill>
                  <a:srgbClr val="FFFFFF"/>
                </a:solidFill>
                <a:latin typeface="Arial" pitchFamily="34" charset="0"/>
                <a:ea typeface="Arial" pitchFamily="34" charset="-122"/>
                <a:cs typeface="Arial" pitchFamily="34" charset="-120"/>
              </a:rPr>
              <a:t>CLEAN ARCHITECTURE</a:t>
            </a:r>
            <a:endParaRPr dirty="0" sz="4200" lang="en-US"/>
          </a:p>
        </p:txBody>
      </p:sp>
      <p:sp>
        <p:nvSpPr>
          <p:cNvPr id="1048612" name="Shape 36"/>
          <p:cNvSpPr/>
          <p:nvPr/>
        </p:nvSpPr>
        <p:spPr>
          <a:xfrm>
            <a:off x="576072" y="3520440"/>
            <a:ext cx="4937760" cy="0"/>
          </a:xfrm>
          <a:prstGeom prst="line"/>
          <a:noFill/>
          <a:ln w="12700">
            <a:solidFill>
              <a:srgbClr val="3E6690"/>
            </a:solidFill>
            <a:prstDash val="solid"/>
          </a:ln>
        </p:spPr>
      </p:sp>
      <p:sp>
        <p:nvSpPr>
          <p:cNvPr id="1048613" name="Text 37"/>
          <p:cNvSpPr/>
          <p:nvPr/>
        </p:nvSpPr>
        <p:spPr>
          <a:xfrm>
            <a:off x="548640" y="3703320"/>
            <a:ext cx="7863840" cy="640080"/>
          </a:xfrm>
          <a:prstGeom prst="rect"/>
          <a:noFill/>
        </p:spPr>
        <p:txBody>
          <a:bodyPr anchor="ctr" rtlCol="0" wrap="square"/>
          <a:p>
            <a:pPr indent="0" marL="0">
              <a:buNone/>
            </a:pPr>
            <a:r>
              <a:rPr dirty="0" sz="1550" i="1" lang="en-US">
                <a:solidFill>
                  <a:srgbClr val="9FB8D1"/>
                </a:solidFill>
                <a:latin typeface="Calibri" pitchFamily="34" charset="0"/>
                <a:ea typeface="Calibri" pitchFamily="34" charset="-122"/>
                <a:cs typeface="Calibri" pitchFamily="34" charset="-120"/>
              </a:rPr>
              <a:t>Refactoring the naive Coffee Shop Order Processor for low coupling and high cohesion.</a:t>
            </a:r>
            <a:endParaRPr dirty="0" sz="1550" lang="en-US"/>
          </a:p>
        </p:txBody>
      </p:sp>
      <p:sp>
        <p:nvSpPr>
          <p:cNvPr id="1048614" name="Text 38"/>
          <p:cNvSpPr/>
          <p:nvPr/>
        </p:nvSpPr>
        <p:spPr>
          <a:xfrm>
            <a:off x="548640" y="5623560"/>
            <a:ext cx="5486400" cy="320040"/>
          </a:xfrm>
          <a:prstGeom prst="rect"/>
          <a:noFill/>
        </p:spPr>
        <p:txBody>
          <a:bodyPr anchor="ctr" rtlCol="0" wrap="square"/>
          <a:p>
            <a:pPr indent="0" marL="0">
              <a:buNone/>
            </a:pPr>
            <a:r>
              <a:rPr dirty="0" sz="1200" lang="en-US">
                <a:solidFill>
                  <a:srgbClr val="8FD3FF"/>
                </a:solidFill>
                <a:latin typeface="Courier New" pitchFamily="34" charset="0"/>
                <a:ea typeface="Courier New" pitchFamily="34" charset="-122"/>
                <a:cs typeface="Courier New" pitchFamily="34" charset="-120"/>
              </a:rPr>
              <a:t>REF: com.coffeeshop.refactored</a:t>
            </a:r>
            <a:endParaRPr dirty="0" sz="1200" lang="en-US"/>
          </a:p>
        </p:txBody>
      </p:sp>
      <p:sp>
        <p:nvSpPr>
          <p:cNvPr id="1048615" name="Shape 39"/>
          <p:cNvSpPr/>
          <p:nvPr/>
        </p:nvSpPr>
        <p:spPr>
          <a:xfrm>
            <a:off x="7863840" y="4480560"/>
            <a:ext cx="3566160" cy="1600200"/>
          </a:xfrm>
          <a:prstGeom prst="rect"/>
          <a:solidFill>
            <a:srgbClr val="102C4C"/>
          </a:solidFill>
          <a:ln w="15875">
            <a:solidFill>
              <a:srgbClr val="3E6690"/>
            </a:solidFill>
            <a:prstDash val="solid"/>
          </a:ln>
        </p:spPr>
      </p:sp>
      <p:sp>
        <p:nvSpPr>
          <p:cNvPr id="1048616" name="Text 40"/>
          <p:cNvSpPr/>
          <p:nvPr/>
        </p:nvSpPr>
        <p:spPr>
          <a:xfrm>
            <a:off x="8001000" y="4480560"/>
            <a:ext cx="1463040" cy="400050"/>
          </a:xfrm>
          <a:prstGeom prst="rect"/>
          <a:noFill/>
        </p:spPr>
        <p:txBody>
          <a:bodyPr anchor="ctr" rtlCol="0" wrap="square"/>
          <a:p>
            <a:pPr indent="0" marL="0">
              <a:buNone/>
            </a:pPr>
            <a:r>
              <a:rPr dirty="0" sz="1000" lang="en-US">
                <a:solidFill>
                  <a:srgbClr val="9FB8D1"/>
                </a:solidFill>
                <a:latin typeface="Courier New" pitchFamily="34" charset="0"/>
                <a:ea typeface="Courier New" pitchFamily="34" charset="-122"/>
                <a:cs typeface="Courier New" pitchFamily="34" charset="-120"/>
              </a:rPr>
              <a:t>DWG NO.</a:t>
            </a:r>
            <a:endParaRPr dirty="0" sz="1000" lang="en-US"/>
          </a:p>
        </p:txBody>
      </p:sp>
      <p:sp>
        <p:nvSpPr>
          <p:cNvPr id="1048617" name="Text 41"/>
          <p:cNvSpPr/>
          <p:nvPr/>
        </p:nvSpPr>
        <p:spPr>
          <a:xfrm>
            <a:off x="9464040" y="4480560"/>
            <a:ext cx="1828800" cy="400050"/>
          </a:xfrm>
          <a:prstGeom prst="rect"/>
          <a:noFill/>
        </p:spPr>
        <p:txBody>
          <a:bodyPr anchor="ctr" rtlCol="0" wrap="square"/>
          <a:p>
            <a:pPr indent="0" marL="0">
              <a:buNone/>
            </a:pPr>
            <a:r>
              <a:rPr b="1" dirty="0" sz="1100" lang="en-US">
                <a:solidFill>
                  <a:srgbClr val="FFB627"/>
                </a:solidFill>
                <a:latin typeface="Courier New" pitchFamily="34" charset="0"/>
                <a:ea typeface="Courier New" pitchFamily="34" charset="-122"/>
                <a:cs typeface="Courier New" pitchFamily="34" charset="-120"/>
              </a:rPr>
              <a:t>CS-001</a:t>
            </a:r>
            <a:endParaRPr dirty="0" sz="1100" lang="en-US"/>
          </a:p>
        </p:txBody>
      </p:sp>
      <p:sp>
        <p:nvSpPr>
          <p:cNvPr id="1048618" name="Shape 42"/>
          <p:cNvSpPr/>
          <p:nvPr/>
        </p:nvSpPr>
        <p:spPr>
          <a:xfrm>
            <a:off x="7863840" y="4880610"/>
            <a:ext cx="3566160" cy="0"/>
          </a:xfrm>
          <a:prstGeom prst="line"/>
          <a:noFill/>
          <a:ln w="9525">
            <a:solidFill>
              <a:srgbClr val="3E6690"/>
            </a:solidFill>
            <a:prstDash val="solid"/>
          </a:ln>
        </p:spPr>
      </p:sp>
      <p:sp>
        <p:nvSpPr>
          <p:cNvPr id="1048619" name="Text 43"/>
          <p:cNvSpPr/>
          <p:nvPr/>
        </p:nvSpPr>
        <p:spPr>
          <a:xfrm>
            <a:off x="8001000" y="4880610"/>
            <a:ext cx="1463040" cy="400050"/>
          </a:xfrm>
          <a:prstGeom prst="rect"/>
          <a:noFill/>
        </p:spPr>
        <p:txBody>
          <a:bodyPr anchor="ctr" rtlCol="0" wrap="square"/>
          <a:p>
            <a:pPr indent="0" marL="0">
              <a:buNone/>
            </a:pPr>
            <a:r>
              <a:rPr dirty="0" sz="1000" lang="en-US">
                <a:solidFill>
                  <a:srgbClr val="9FB8D1"/>
                </a:solidFill>
                <a:latin typeface="Courier New" pitchFamily="34" charset="0"/>
                <a:ea typeface="Courier New" pitchFamily="34" charset="-122"/>
                <a:cs typeface="Courier New" pitchFamily="34" charset="-120"/>
              </a:rPr>
              <a:t>REV</a:t>
            </a:r>
            <a:endParaRPr dirty="0" sz="1000" lang="en-US"/>
          </a:p>
        </p:txBody>
      </p:sp>
      <p:sp>
        <p:nvSpPr>
          <p:cNvPr id="1048620" name="Text 44"/>
          <p:cNvSpPr/>
          <p:nvPr/>
        </p:nvSpPr>
        <p:spPr>
          <a:xfrm>
            <a:off x="9464040" y="4880610"/>
            <a:ext cx="1828800" cy="400050"/>
          </a:xfrm>
          <a:prstGeom prst="rect"/>
          <a:noFill/>
        </p:spPr>
        <p:txBody>
          <a:bodyPr anchor="ctr" rtlCol="0" wrap="square"/>
          <a:p>
            <a:pPr indent="0" marL="0">
              <a:buNone/>
            </a:pPr>
            <a:r>
              <a:rPr b="1" dirty="0" sz="1100" lang="en-US">
                <a:solidFill>
                  <a:srgbClr val="FFB627"/>
                </a:solidFill>
                <a:latin typeface="Courier New" pitchFamily="34" charset="0"/>
                <a:ea typeface="Courier New" pitchFamily="34" charset="-122"/>
                <a:cs typeface="Courier New" pitchFamily="34" charset="-120"/>
              </a:rPr>
              <a:t>A</a:t>
            </a:r>
            <a:endParaRPr dirty="0" sz="1100" lang="en-US"/>
          </a:p>
        </p:txBody>
      </p:sp>
      <p:sp>
        <p:nvSpPr>
          <p:cNvPr id="1048621" name="Shape 45"/>
          <p:cNvSpPr/>
          <p:nvPr/>
        </p:nvSpPr>
        <p:spPr>
          <a:xfrm>
            <a:off x="7863840" y="5280660"/>
            <a:ext cx="3566160" cy="0"/>
          </a:xfrm>
          <a:prstGeom prst="line"/>
          <a:noFill/>
          <a:ln w="9525">
            <a:solidFill>
              <a:srgbClr val="3E6690"/>
            </a:solidFill>
            <a:prstDash val="solid"/>
          </a:ln>
        </p:spPr>
      </p:sp>
      <p:sp>
        <p:nvSpPr>
          <p:cNvPr id="1048622" name="Text 46"/>
          <p:cNvSpPr/>
          <p:nvPr/>
        </p:nvSpPr>
        <p:spPr>
          <a:xfrm>
            <a:off x="8001000" y="5280660"/>
            <a:ext cx="1463040" cy="400050"/>
          </a:xfrm>
          <a:prstGeom prst="rect"/>
          <a:noFill/>
        </p:spPr>
        <p:txBody>
          <a:bodyPr anchor="ctr" rtlCol="0" wrap="square"/>
          <a:p>
            <a:pPr indent="0" marL="0">
              <a:buNone/>
            </a:pPr>
            <a:r>
              <a:rPr dirty="0" sz="1000" lang="en-US">
                <a:solidFill>
                  <a:srgbClr val="9FB8D1"/>
                </a:solidFill>
                <a:latin typeface="Courier New" pitchFamily="34" charset="0"/>
                <a:ea typeface="Courier New" pitchFamily="34" charset="-122"/>
                <a:cs typeface="Courier New" pitchFamily="34" charset="-120"/>
              </a:rPr>
              <a:t>SCALE</a:t>
            </a:r>
            <a:endParaRPr dirty="0" sz="1000" lang="en-US"/>
          </a:p>
        </p:txBody>
      </p:sp>
      <p:sp>
        <p:nvSpPr>
          <p:cNvPr id="1048623" name="Text 47"/>
          <p:cNvSpPr/>
          <p:nvPr/>
        </p:nvSpPr>
        <p:spPr>
          <a:xfrm>
            <a:off x="9464040" y="5280660"/>
            <a:ext cx="1828800" cy="400050"/>
          </a:xfrm>
          <a:prstGeom prst="rect"/>
          <a:noFill/>
        </p:spPr>
        <p:txBody>
          <a:bodyPr anchor="ctr" rtlCol="0" wrap="square"/>
          <a:p>
            <a:pPr indent="0" marL="0">
              <a:buNone/>
            </a:pPr>
            <a:r>
              <a:rPr b="1" dirty="0" sz="1100" lang="en-US">
                <a:solidFill>
                  <a:srgbClr val="FFB627"/>
                </a:solidFill>
                <a:latin typeface="Courier New" pitchFamily="34" charset="0"/>
                <a:ea typeface="Courier New" pitchFamily="34" charset="-122"/>
                <a:cs typeface="Courier New" pitchFamily="34" charset="-120"/>
              </a:rPr>
              <a:t>N.T.S.</a:t>
            </a:r>
            <a:endParaRPr dirty="0" sz="1100" lang="en-US"/>
          </a:p>
        </p:txBody>
      </p:sp>
      <p:sp>
        <p:nvSpPr>
          <p:cNvPr id="1048624" name="Shape 48"/>
          <p:cNvSpPr/>
          <p:nvPr/>
        </p:nvSpPr>
        <p:spPr>
          <a:xfrm>
            <a:off x="7863840" y="5680710"/>
            <a:ext cx="3566160" cy="0"/>
          </a:xfrm>
          <a:prstGeom prst="line"/>
          <a:noFill/>
          <a:ln w="9525">
            <a:solidFill>
              <a:srgbClr val="3E6690"/>
            </a:solidFill>
            <a:prstDash val="solid"/>
          </a:ln>
        </p:spPr>
      </p:sp>
      <p:sp>
        <p:nvSpPr>
          <p:cNvPr id="1048625" name="Text 49"/>
          <p:cNvSpPr/>
          <p:nvPr/>
        </p:nvSpPr>
        <p:spPr>
          <a:xfrm>
            <a:off x="8001000" y="5680710"/>
            <a:ext cx="1463040" cy="400050"/>
          </a:xfrm>
          <a:prstGeom prst="rect"/>
          <a:noFill/>
        </p:spPr>
        <p:txBody>
          <a:bodyPr anchor="ctr" rtlCol="0" wrap="square"/>
          <a:p>
            <a:pPr indent="0" marL="0">
              <a:buNone/>
            </a:pPr>
            <a:r>
              <a:rPr dirty="0" sz="1000" lang="en-US">
                <a:solidFill>
                  <a:srgbClr val="9FB8D1"/>
                </a:solidFill>
                <a:latin typeface="Courier New" pitchFamily="34" charset="0"/>
                <a:ea typeface="Courier New" pitchFamily="34" charset="-122"/>
                <a:cs typeface="Courier New" pitchFamily="34" charset="-120"/>
              </a:rPr>
              <a:t>STATUS</a:t>
            </a:r>
            <a:endParaRPr dirty="0" sz="1000" lang="en-US"/>
          </a:p>
        </p:txBody>
      </p:sp>
      <p:sp>
        <p:nvSpPr>
          <p:cNvPr id="1048626" name="Text 50"/>
          <p:cNvSpPr/>
          <p:nvPr/>
        </p:nvSpPr>
        <p:spPr>
          <a:xfrm>
            <a:off x="9464040" y="5680710"/>
            <a:ext cx="1828800" cy="400050"/>
          </a:xfrm>
          <a:prstGeom prst="rect"/>
          <a:noFill/>
        </p:spPr>
        <p:txBody>
          <a:bodyPr anchor="ctr" rtlCol="0" wrap="square"/>
          <a:p>
            <a:pPr indent="0" marL="0">
              <a:buNone/>
            </a:pPr>
            <a:r>
              <a:rPr b="1" dirty="0" sz="1100" lang="en-US">
                <a:solidFill>
                  <a:srgbClr val="FFB627"/>
                </a:solidFill>
                <a:latin typeface="Courier New" pitchFamily="34" charset="0"/>
                <a:ea typeface="Courier New" pitchFamily="34" charset="-122"/>
                <a:cs typeface="Courier New" pitchFamily="34" charset="-120"/>
              </a:rPr>
              <a:t>APPROVED</a:t>
            </a:r>
            <a:endParaRPr dirty="0" sz="1100" lang="en-US"/>
          </a:p>
        </p:txBody>
      </p:sp>
      <p:sp>
        <p:nvSpPr>
          <p:cNvPr id="1048627" name="Shape 51"/>
          <p:cNvSpPr/>
          <p:nvPr/>
        </p:nvSpPr>
        <p:spPr>
          <a:xfrm>
            <a:off x="9400032" y="4480560"/>
            <a:ext cx="0" cy="1600200"/>
          </a:xfrm>
          <a:prstGeom prst="line"/>
          <a:noFill/>
          <a:ln w="9525">
            <a:solidFill>
              <a:srgbClr val="3E669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F38"/>
        </a:solidFill>
      </p:bgPr>
    </p:bg>
    <p:spTree>
      <p:nvGrpSpPr>
        <p:cNvPr id="20" name=""/>
        <p:cNvGrpSpPr/>
        <p:nvPr/>
      </p:nvGrpSpPr>
      <p:grpSpPr>
        <a:xfrm>
          <a:off x="0" y="0"/>
          <a:ext cx="0" cy="0"/>
          <a:chOff x="0" y="0"/>
          <a:chExt cx="0" cy="0"/>
        </a:xfrm>
      </p:grpSpPr>
      <p:sp>
        <p:nvSpPr>
          <p:cNvPr id="1048631" name="Shape 0"/>
          <p:cNvSpPr/>
          <p:nvPr/>
        </p:nvSpPr>
        <p:spPr>
          <a:xfrm>
            <a:off x="548640" y="0"/>
            <a:ext cx="0" cy="6858000"/>
          </a:xfrm>
          <a:prstGeom prst="line"/>
          <a:noFill/>
          <a:ln w="6350">
            <a:solidFill>
              <a:srgbClr val="1B3A5C"/>
            </a:solidFill>
            <a:prstDash val="solid"/>
          </a:ln>
        </p:spPr>
      </p:sp>
      <p:sp>
        <p:nvSpPr>
          <p:cNvPr id="1048632" name="Shape 1"/>
          <p:cNvSpPr/>
          <p:nvPr/>
        </p:nvSpPr>
        <p:spPr>
          <a:xfrm>
            <a:off x="1325880" y="0"/>
            <a:ext cx="0" cy="6858000"/>
          </a:xfrm>
          <a:prstGeom prst="line"/>
          <a:noFill/>
          <a:ln w="6350">
            <a:solidFill>
              <a:srgbClr val="1B3A5C"/>
            </a:solidFill>
            <a:prstDash val="solid"/>
          </a:ln>
        </p:spPr>
      </p:sp>
      <p:sp>
        <p:nvSpPr>
          <p:cNvPr id="1048633" name="Shape 2"/>
          <p:cNvSpPr/>
          <p:nvPr/>
        </p:nvSpPr>
        <p:spPr>
          <a:xfrm>
            <a:off x="2103120" y="0"/>
            <a:ext cx="0" cy="6858000"/>
          </a:xfrm>
          <a:prstGeom prst="line"/>
          <a:noFill/>
          <a:ln w="6350">
            <a:solidFill>
              <a:srgbClr val="1B3A5C"/>
            </a:solidFill>
            <a:prstDash val="solid"/>
          </a:ln>
        </p:spPr>
      </p:sp>
      <p:sp>
        <p:nvSpPr>
          <p:cNvPr id="1048634" name="Shape 3"/>
          <p:cNvSpPr/>
          <p:nvPr/>
        </p:nvSpPr>
        <p:spPr>
          <a:xfrm>
            <a:off x="2880360" y="0"/>
            <a:ext cx="0" cy="6858000"/>
          </a:xfrm>
          <a:prstGeom prst="line"/>
          <a:noFill/>
          <a:ln w="6350">
            <a:solidFill>
              <a:srgbClr val="1B3A5C"/>
            </a:solidFill>
            <a:prstDash val="solid"/>
          </a:ln>
        </p:spPr>
      </p:sp>
      <p:sp>
        <p:nvSpPr>
          <p:cNvPr id="1048635" name="Shape 4"/>
          <p:cNvSpPr/>
          <p:nvPr/>
        </p:nvSpPr>
        <p:spPr>
          <a:xfrm>
            <a:off x="3657600" y="0"/>
            <a:ext cx="0" cy="6858000"/>
          </a:xfrm>
          <a:prstGeom prst="line"/>
          <a:noFill/>
          <a:ln w="6350">
            <a:solidFill>
              <a:srgbClr val="1B3A5C"/>
            </a:solidFill>
            <a:prstDash val="solid"/>
          </a:ln>
        </p:spPr>
      </p:sp>
      <p:sp>
        <p:nvSpPr>
          <p:cNvPr id="1048636" name="Shape 5"/>
          <p:cNvSpPr/>
          <p:nvPr/>
        </p:nvSpPr>
        <p:spPr>
          <a:xfrm>
            <a:off x="4434840" y="0"/>
            <a:ext cx="0" cy="6858000"/>
          </a:xfrm>
          <a:prstGeom prst="line"/>
          <a:noFill/>
          <a:ln w="6350">
            <a:solidFill>
              <a:srgbClr val="1B3A5C"/>
            </a:solidFill>
            <a:prstDash val="solid"/>
          </a:ln>
        </p:spPr>
      </p:sp>
      <p:sp>
        <p:nvSpPr>
          <p:cNvPr id="1048637" name="Shape 6"/>
          <p:cNvSpPr/>
          <p:nvPr/>
        </p:nvSpPr>
        <p:spPr>
          <a:xfrm>
            <a:off x="5212080" y="0"/>
            <a:ext cx="0" cy="6858000"/>
          </a:xfrm>
          <a:prstGeom prst="line"/>
          <a:noFill/>
          <a:ln w="6350">
            <a:solidFill>
              <a:srgbClr val="1B3A5C"/>
            </a:solidFill>
            <a:prstDash val="solid"/>
          </a:ln>
        </p:spPr>
      </p:sp>
      <p:sp>
        <p:nvSpPr>
          <p:cNvPr id="1048638" name="Shape 7"/>
          <p:cNvSpPr/>
          <p:nvPr/>
        </p:nvSpPr>
        <p:spPr>
          <a:xfrm>
            <a:off x="5989320" y="0"/>
            <a:ext cx="0" cy="6858000"/>
          </a:xfrm>
          <a:prstGeom prst="line"/>
          <a:noFill/>
          <a:ln w="6350">
            <a:solidFill>
              <a:srgbClr val="1B3A5C"/>
            </a:solidFill>
            <a:prstDash val="solid"/>
          </a:ln>
        </p:spPr>
      </p:sp>
      <p:sp>
        <p:nvSpPr>
          <p:cNvPr id="1048639" name="Shape 8"/>
          <p:cNvSpPr/>
          <p:nvPr/>
        </p:nvSpPr>
        <p:spPr>
          <a:xfrm>
            <a:off x="6766560" y="0"/>
            <a:ext cx="0" cy="6858000"/>
          </a:xfrm>
          <a:prstGeom prst="line"/>
          <a:noFill/>
          <a:ln w="6350">
            <a:solidFill>
              <a:srgbClr val="1B3A5C"/>
            </a:solidFill>
            <a:prstDash val="solid"/>
          </a:ln>
        </p:spPr>
      </p:sp>
      <p:sp>
        <p:nvSpPr>
          <p:cNvPr id="1048640" name="Shape 9"/>
          <p:cNvSpPr/>
          <p:nvPr/>
        </p:nvSpPr>
        <p:spPr>
          <a:xfrm>
            <a:off x="7543800" y="0"/>
            <a:ext cx="0" cy="6858000"/>
          </a:xfrm>
          <a:prstGeom prst="line"/>
          <a:noFill/>
          <a:ln w="6350">
            <a:solidFill>
              <a:srgbClr val="1B3A5C"/>
            </a:solidFill>
            <a:prstDash val="solid"/>
          </a:ln>
        </p:spPr>
      </p:sp>
      <p:sp>
        <p:nvSpPr>
          <p:cNvPr id="1048641" name="Shape 10"/>
          <p:cNvSpPr/>
          <p:nvPr/>
        </p:nvSpPr>
        <p:spPr>
          <a:xfrm>
            <a:off x="8321040" y="0"/>
            <a:ext cx="0" cy="6858000"/>
          </a:xfrm>
          <a:prstGeom prst="line"/>
          <a:noFill/>
          <a:ln w="6350">
            <a:solidFill>
              <a:srgbClr val="1B3A5C"/>
            </a:solidFill>
            <a:prstDash val="solid"/>
          </a:ln>
        </p:spPr>
      </p:sp>
      <p:sp>
        <p:nvSpPr>
          <p:cNvPr id="1048642" name="Shape 11"/>
          <p:cNvSpPr/>
          <p:nvPr/>
        </p:nvSpPr>
        <p:spPr>
          <a:xfrm>
            <a:off x="9098280" y="0"/>
            <a:ext cx="0" cy="6858000"/>
          </a:xfrm>
          <a:prstGeom prst="line"/>
          <a:noFill/>
          <a:ln w="6350">
            <a:solidFill>
              <a:srgbClr val="1B3A5C"/>
            </a:solidFill>
            <a:prstDash val="solid"/>
          </a:ln>
        </p:spPr>
      </p:sp>
      <p:sp>
        <p:nvSpPr>
          <p:cNvPr id="1048643" name="Shape 12"/>
          <p:cNvSpPr/>
          <p:nvPr/>
        </p:nvSpPr>
        <p:spPr>
          <a:xfrm>
            <a:off x="9875520" y="0"/>
            <a:ext cx="0" cy="6858000"/>
          </a:xfrm>
          <a:prstGeom prst="line"/>
          <a:noFill/>
          <a:ln w="6350">
            <a:solidFill>
              <a:srgbClr val="1B3A5C"/>
            </a:solidFill>
            <a:prstDash val="solid"/>
          </a:ln>
        </p:spPr>
      </p:sp>
      <p:sp>
        <p:nvSpPr>
          <p:cNvPr id="1048644" name="Shape 13"/>
          <p:cNvSpPr/>
          <p:nvPr/>
        </p:nvSpPr>
        <p:spPr>
          <a:xfrm>
            <a:off x="10652760" y="0"/>
            <a:ext cx="0" cy="6858000"/>
          </a:xfrm>
          <a:prstGeom prst="line"/>
          <a:noFill/>
          <a:ln w="6350">
            <a:solidFill>
              <a:srgbClr val="1B3A5C"/>
            </a:solidFill>
            <a:prstDash val="solid"/>
          </a:ln>
        </p:spPr>
      </p:sp>
      <p:sp>
        <p:nvSpPr>
          <p:cNvPr id="1048645" name="Shape 14"/>
          <p:cNvSpPr/>
          <p:nvPr/>
        </p:nvSpPr>
        <p:spPr>
          <a:xfrm>
            <a:off x="11430000" y="0"/>
            <a:ext cx="0" cy="6858000"/>
          </a:xfrm>
          <a:prstGeom prst="line"/>
          <a:noFill/>
          <a:ln w="6350">
            <a:solidFill>
              <a:srgbClr val="1B3A5C"/>
            </a:solidFill>
            <a:prstDash val="solid"/>
          </a:ln>
        </p:spPr>
      </p:sp>
      <p:sp>
        <p:nvSpPr>
          <p:cNvPr id="1048646" name="Shape 15"/>
          <p:cNvSpPr/>
          <p:nvPr/>
        </p:nvSpPr>
        <p:spPr>
          <a:xfrm>
            <a:off x="0" y="548640"/>
            <a:ext cx="12191695" cy="0"/>
          </a:xfrm>
          <a:prstGeom prst="line"/>
          <a:noFill/>
          <a:ln w="6350">
            <a:solidFill>
              <a:srgbClr val="1B3A5C"/>
            </a:solidFill>
            <a:prstDash val="solid"/>
          </a:ln>
        </p:spPr>
      </p:sp>
      <p:sp>
        <p:nvSpPr>
          <p:cNvPr id="1048647" name="Shape 16"/>
          <p:cNvSpPr/>
          <p:nvPr/>
        </p:nvSpPr>
        <p:spPr>
          <a:xfrm>
            <a:off x="0" y="1325880"/>
            <a:ext cx="12191695" cy="0"/>
          </a:xfrm>
          <a:prstGeom prst="line"/>
          <a:noFill/>
          <a:ln w="6350">
            <a:solidFill>
              <a:srgbClr val="1B3A5C"/>
            </a:solidFill>
            <a:prstDash val="solid"/>
          </a:ln>
        </p:spPr>
      </p:sp>
      <p:sp>
        <p:nvSpPr>
          <p:cNvPr id="1048648" name="Shape 17"/>
          <p:cNvSpPr/>
          <p:nvPr/>
        </p:nvSpPr>
        <p:spPr>
          <a:xfrm>
            <a:off x="0" y="2103120"/>
            <a:ext cx="12191695" cy="0"/>
          </a:xfrm>
          <a:prstGeom prst="line"/>
          <a:noFill/>
          <a:ln w="6350">
            <a:solidFill>
              <a:srgbClr val="1B3A5C"/>
            </a:solidFill>
            <a:prstDash val="solid"/>
          </a:ln>
        </p:spPr>
      </p:sp>
      <p:sp>
        <p:nvSpPr>
          <p:cNvPr id="1048649" name="Shape 18"/>
          <p:cNvSpPr/>
          <p:nvPr/>
        </p:nvSpPr>
        <p:spPr>
          <a:xfrm>
            <a:off x="0" y="2880360"/>
            <a:ext cx="12191695" cy="0"/>
          </a:xfrm>
          <a:prstGeom prst="line"/>
          <a:noFill/>
          <a:ln w="6350">
            <a:solidFill>
              <a:srgbClr val="1B3A5C"/>
            </a:solidFill>
            <a:prstDash val="solid"/>
          </a:ln>
        </p:spPr>
      </p:sp>
      <p:sp>
        <p:nvSpPr>
          <p:cNvPr id="1048650" name="Shape 19"/>
          <p:cNvSpPr/>
          <p:nvPr/>
        </p:nvSpPr>
        <p:spPr>
          <a:xfrm>
            <a:off x="0" y="3657600"/>
            <a:ext cx="12191695" cy="0"/>
          </a:xfrm>
          <a:prstGeom prst="line"/>
          <a:noFill/>
          <a:ln w="6350">
            <a:solidFill>
              <a:srgbClr val="1B3A5C"/>
            </a:solidFill>
            <a:prstDash val="solid"/>
          </a:ln>
        </p:spPr>
      </p:sp>
      <p:sp>
        <p:nvSpPr>
          <p:cNvPr id="1048651" name="Shape 20"/>
          <p:cNvSpPr/>
          <p:nvPr/>
        </p:nvSpPr>
        <p:spPr>
          <a:xfrm>
            <a:off x="0" y="4434840"/>
            <a:ext cx="12191695" cy="0"/>
          </a:xfrm>
          <a:prstGeom prst="line"/>
          <a:noFill/>
          <a:ln w="6350">
            <a:solidFill>
              <a:srgbClr val="1B3A5C"/>
            </a:solidFill>
            <a:prstDash val="solid"/>
          </a:ln>
        </p:spPr>
      </p:sp>
      <p:sp>
        <p:nvSpPr>
          <p:cNvPr id="1048652" name="Shape 21"/>
          <p:cNvSpPr/>
          <p:nvPr/>
        </p:nvSpPr>
        <p:spPr>
          <a:xfrm>
            <a:off x="0" y="5212080"/>
            <a:ext cx="12191695" cy="0"/>
          </a:xfrm>
          <a:prstGeom prst="line"/>
          <a:noFill/>
          <a:ln w="6350">
            <a:solidFill>
              <a:srgbClr val="1B3A5C"/>
            </a:solidFill>
            <a:prstDash val="solid"/>
          </a:ln>
        </p:spPr>
      </p:sp>
      <p:sp>
        <p:nvSpPr>
          <p:cNvPr id="1048653" name="Shape 22"/>
          <p:cNvSpPr/>
          <p:nvPr/>
        </p:nvSpPr>
        <p:spPr>
          <a:xfrm>
            <a:off x="0" y="5989320"/>
            <a:ext cx="12191695" cy="0"/>
          </a:xfrm>
          <a:prstGeom prst="line"/>
          <a:noFill/>
          <a:ln w="6350">
            <a:solidFill>
              <a:srgbClr val="1B3A5C"/>
            </a:solidFill>
            <a:prstDash val="solid"/>
          </a:ln>
        </p:spPr>
      </p:sp>
      <p:sp>
        <p:nvSpPr>
          <p:cNvPr id="1048654" name="Shape 23"/>
          <p:cNvSpPr/>
          <p:nvPr/>
        </p:nvSpPr>
        <p:spPr>
          <a:xfrm>
            <a:off x="0" y="6766560"/>
            <a:ext cx="12191695" cy="0"/>
          </a:xfrm>
          <a:prstGeom prst="line"/>
          <a:noFill/>
          <a:ln w="6350">
            <a:solidFill>
              <a:srgbClr val="1B3A5C"/>
            </a:solidFill>
            <a:prstDash val="solid"/>
          </a:ln>
        </p:spPr>
      </p:sp>
      <p:sp>
        <p:nvSpPr>
          <p:cNvPr id="1048655" name="Shape 24"/>
          <p:cNvSpPr/>
          <p:nvPr/>
        </p:nvSpPr>
        <p:spPr>
          <a:xfrm>
            <a:off x="201168" y="201168"/>
            <a:ext cx="11789359" cy="6455664"/>
          </a:xfrm>
          <a:prstGeom prst="rect"/>
          <a:ln w="15875">
            <a:solidFill>
              <a:srgbClr val="3E6690"/>
            </a:solidFill>
            <a:prstDash val="solid"/>
          </a:ln>
        </p:spPr>
      </p:sp>
      <p:sp>
        <p:nvSpPr>
          <p:cNvPr id="1048656" name="Shape 25"/>
          <p:cNvSpPr/>
          <p:nvPr/>
        </p:nvSpPr>
        <p:spPr>
          <a:xfrm>
            <a:off x="320040" y="320040"/>
            <a:ext cx="384048" cy="0"/>
          </a:xfrm>
          <a:prstGeom prst="line"/>
          <a:noFill/>
          <a:ln w="25400">
            <a:solidFill>
              <a:srgbClr val="6EC6FF"/>
            </a:solidFill>
            <a:prstDash val="solid"/>
          </a:ln>
        </p:spPr>
      </p:sp>
      <p:sp>
        <p:nvSpPr>
          <p:cNvPr id="1048657" name="Shape 26"/>
          <p:cNvSpPr/>
          <p:nvPr/>
        </p:nvSpPr>
        <p:spPr>
          <a:xfrm>
            <a:off x="320040" y="320040"/>
            <a:ext cx="0" cy="384048"/>
          </a:xfrm>
          <a:prstGeom prst="line"/>
          <a:noFill/>
          <a:ln w="25400">
            <a:solidFill>
              <a:srgbClr val="6EC6FF"/>
            </a:solidFill>
            <a:prstDash val="solid"/>
          </a:ln>
        </p:spPr>
      </p:sp>
      <p:sp>
        <p:nvSpPr>
          <p:cNvPr id="1048658" name="Shape 27"/>
          <p:cNvSpPr/>
          <p:nvPr/>
        </p:nvSpPr>
        <p:spPr>
          <a:xfrm>
            <a:off x="11487607" y="320040"/>
            <a:ext cx="384048" cy="0"/>
          </a:xfrm>
          <a:prstGeom prst="line"/>
          <a:noFill/>
          <a:ln w="25400">
            <a:solidFill>
              <a:srgbClr val="6EC6FF"/>
            </a:solidFill>
            <a:prstDash val="solid"/>
          </a:ln>
        </p:spPr>
      </p:sp>
      <p:sp>
        <p:nvSpPr>
          <p:cNvPr id="1048659" name="Shape 28"/>
          <p:cNvSpPr/>
          <p:nvPr/>
        </p:nvSpPr>
        <p:spPr>
          <a:xfrm>
            <a:off x="11871655" y="320040"/>
            <a:ext cx="0" cy="384048"/>
          </a:xfrm>
          <a:prstGeom prst="line"/>
          <a:noFill/>
          <a:ln w="25400">
            <a:solidFill>
              <a:srgbClr val="6EC6FF"/>
            </a:solidFill>
            <a:prstDash val="solid"/>
          </a:ln>
        </p:spPr>
      </p:sp>
      <p:sp>
        <p:nvSpPr>
          <p:cNvPr id="1048660" name="Shape 29"/>
          <p:cNvSpPr/>
          <p:nvPr/>
        </p:nvSpPr>
        <p:spPr>
          <a:xfrm>
            <a:off x="320040" y="6537960"/>
            <a:ext cx="384048" cy="0"/>
          </a:xfrm>
          <a:prstGeom prst="line"/>
          <a:noFill/>
          <a:ln w="25400">
            <a:solidFill>
              <a:srgbClr val="6EC6FF"/>
            </a:solidFill>
            <a:prstDash val="solid"/>
          </a:ln>
        </p:spPr>
      </p:sp>
      <p:sp>
        <p:nvSpPr>
          <p:cNvPr id="1048661" name="Shape 30"/>
          <p:cNvSpPr/>
          <p:nvPr/>
        </p:nvSpPr>
        <p:spPr>
          <a:xfrm>
            <a:off x="320040" y="6153912"/>
            <a:ext cx="0" cy="384048"/>
          </a:xfrm>
          <a:prstGeom prst="line"/>
          <a:noFill/>
          <a:ln w="25400">
            <a:solidFill>
              <a:srgbClr val="6EC6FF"/>
            </a:solidFill>
            <a:prstDash val="solid"/>
          </a:ln>
        </p:spPr>
      </p:sp>
      <p:sp>
        <p:nvSpPr>
          <p:cNvPr id="1048662" name="Shape 31"/>
          <p:cNvSpPr/>
          <p:nvPr/>
        </p:nvSpPr>
        <p:spPr>
          <a:xfrm>
            <a:off x="11487607" y="6537960"/>
            <a:ext cx="384048" cy="0"/>
          </a:xfrm>
          <a:prstGeom prst="line"/>
          <a:noFill/>
          <a:ln w="25400">
            <a:solidFill>
              <a:srgbClr val="6EC6FF"/>
            </a:solidFill>
            <a:prstDash val="solid"/>
          </a:ln>
        </p:spPr>
      </p:sp>
      <p:sp>
        <p:nvSpPr>
          <p:cNvPr id="1048663" name="Shape 32"/>
          <p:cNvSpPr/>
          <p:nvPr/>
        </p:nvSpPr>
        <p:spPr>
          <a:xfrm>
            <a:off x="11871655" y="6153912"/>
            <a:ext cx="0" cy="384048"/>
          </a:xfrm>
          <a:prstGeom prst="line"/>
          <a:noFill/>
          <a:ln w="25400">
            <a:solidFill>
              <a:srgbClr val="6EC6FF"/>
            </a:solidFill>
            <a:prstDash val="solid"/>
          </a:ln>
        </p:spPr>
      </p:sp>
      <p:sp>
        <p:nvSpPr>
          <p:cNvPr id="1048664" name="Text 33"/>
          <p:cNvSpPr/>
          <p:nvPr/>
        </p:nvSpPr>
        <p:spPr>
          <a:xfrm>
            <a:off x="9265615" y="6400800"/>
            <a:ext cx="2651760" cy="274320"/>
          </a:xfrm>
          <a:prstGeom prst="rect"/>
          <a:noFill/>
        </p:spPr>
        <p:txBody>
          <a:bodyPr anchor="ctr" rtlCol="0" wrap="square"/>
          <a:p>
            <a:pPr algn="r" indent="0" marL="0">
              <a:buNone/>
            </a:pPr>
            <a:r>
              <a:rPr dirty="0" sz="900" kern="0" lang="en-US" spc="100">
                <a:solidFill>
                  <a:srgbClr val="9FB8D1"/>
                </a:solidFill>
                <a:latin typeface="Courier New" pitchFamily="34" charset="0"/>
                <a:ea typeface="Courier New" pitchFamily="34" charset="-122"/>
                <a:cs typeface="Courier New" pitchFamily="34" charset="-120"/>
              </a:rPr>
              <a:t>CS / SHEET 2 OF 12</a:t>
            </a:r>
            <a:endParaRPr dirty="0" sz="900" lang="en-US"/>
          </a:p>
        </p:txBody>
      </p:sp>
      <p:sp>
        <p:nvSpPr>
          <p:cNvPr id="1048665" name="Text 34"/>
          <p:cNvSpPr/>
          <p:nvPr/>
        </p:nvSpPr>
        <p:spPr>
          <a:xfrm>
            <a:off x="411480" y="6400800"/>
            <a:ext cx="5486400" cy="274320"/>
          </a:xfrm>
          <a:prstGeom prst="rect"/>
          <a:noFill/>
        </p:spPr>
        <p:txBody>
          <a:bodyPr anchor="ctr" rtlCol="0" wrap="square"/>
          <a:p>
            <a:pPr indent="0" marL="0">
              <a:buNone/>
            </a:pPr>
            <a:r>
              <a:rPr dirty="0" sz="900" kern="0" lang="en-US" spc="100">
                <a:solidFill>
                  <a:srgbClr val="9FB8D1"/>
                </a:solidFill>
                <a:latin typeface="Courier New" pitchFamily="34" charset="0"/>
                <a:ea typeface="Courier New" pitchFamily="34" charset="-122"/>
                <a:cs typeface="Courier New" pitchFamily="34" charset="-120"/>
              </a:rPr>
              <a:t>COFFEE SHOP ORDER PROCESSOR — REFACTORING</a:t>
            </a:r>
            <a:endParaRPr dirty="0" sz="900" lang="en-US"/>
          </a:p>
        </p:txBody>
      </p:sp>
      <p:sp>
        <p:nvSpPr>
          <p:cNvPr id="1048666" name="Shape 35"/>
          <p:cNvSpPr/>
          <p:nvPr/>
        </p:nvSpPr>
        <p:spPr>
          <a:xfrm>
            <a:off x="548640" y="502920"/>
            <a:ext cx="3291840" cy="292608"/>
          </a:xfrm>
          <a:prstGeom prst="rect"/>
          <a:solidFill>
            <a:srgbClr val="06162A"/>
          </a:solidFill>
          <a:ln w="12700">
            <a:solidFill>
              <a:srgbClr val="8FD3FF"/>
            </a:solidFill>
            <a:prstDash val="solid"/>
          </a:ln>
        </p:spPr>
      </p:sp>
      <p:sp>
        <p:nvSpPr>
          <p:cNvPr id="1048667" name="Text 36"/>
          <p:cNvSpPr/>
          <p:nvPr/>
        </p:nvSpPr>
        <p:spPr>
          <a:xfrm>
            <a:off x="548640" y="502920"/>
            <a:ext cx="3291840" cy="292608"/>
          </a:xfrm>
          <a:prstGeom prst="rect"/>
          <a:noFill/>
        </p:spPr>
        <p:txBody>
          <a:bodyPr anchor="ctr" rtlCol="0" wrap="square"/>
          <a:p>
            <a:pPr algn="ctr" indent="0" marL="0">
              <a:buNone/>
            </a:pPr>
            <a:r>
              <a:rPr b="1" dirty="0" sz="1050" kern="0" lang="en-US" spc="100">
                <a:solidFill>
                  <a:srgbClr val="8FD3FF"/>
                </a:solidFill>
                <a:latin typeface="Courier New" pitchFamily="34" charset="0"/>
                <a:ea typeface="Courier New" pitchFamily="34" charset="-122"/>
                <a:cs typeface="Courier New" pitchFamily="34" charset="-120"/>
              </a:rPr>
              <a:t>SHEET 02 — DEFECT ANALYSIS</a:t>
            </a:r>
            <a:endParaRPr dirty="0" sz="1050" lang="en-US"/>
          </a:p>
        </p:txBody>
      </p:sp>
      <p:sp>
        <p:nvSpPr>
          <p:cNvPr id="1048668" name="Text 37"/>
          <p:cNvSpPr/>
          <p:nvPr/>
        </p:nvSpPr>
        <p:spPr>
          <a:xfrm>
            <a:off x="548640" y="914400"/>
            <a:ext cx="10515600" cy="548640"/>
          </a:xfrm>
          <a:prstGeom prst="rect"/>
          <a:noFill/>
        </p:spPr>
        <p:txBody>
          <a:bodyPr anchor="ctr" rtlCol="0" wrap="square"/>
          <a:p>
            <a:pPr indent="0" marL="0">
              <a:buNone/>
            </a:pPr>
            <a:r>
              <a:rPr b="1" dirty="0" sz="2800" lang="en-US">
                <a:solidFill>
                  <a:srgbClr val="FFFFFF"/>
                </a:solidFill>
                <a:latin typeface="Arial" pitchFamily="34" charset="0"/>
                <a:ea typeface="Arial" pitchFamily="34" charset="-122"/>
                <a:cs typeface="Arial" pitchFamily="34" charset="-120"/>
              </a:rPr>
              <a:t>The Problem With the Base Code</a:t>
            </a:r>
            <a:endParaRPr dirty="0" sz="2800" lang="en-US"/>
          </a:p>
        </p:txBody>
      </p:sp>
      <p:sp>
        <p:nvSpPr>
          <p:cNvPr id="1048669" name="Text 38"/>
          <p:cNvSpPr/>
          <p:nvPr/>
        </p:nvSpPr>
        <p:spPr>
          <a:xfrm>
            <a:off x="548640" y="1417320"/>
            <a:ext cx="10058400" cy="365760"/>
          </a:xfrm>
          <a:prstGeom prst="rect"/>
          <a:noFill/>
        </p:spPr>
        <p:txBody>
          <a:bodyPr anchor="ctr" rtlCol="0" wrap="square"/>
          <a:p>
            <a:pPr indent="0" marL="0">
              <a:buNone/>
            </a:pPr>
            <a:r>
              <a:rPr dirty="0" sz="1400" i="1" lang="en-US">
                <a:solidFill>
                  <a:srgbClr val="9FB8D1"/>
                </a:solidFill>
                <a:latin typeface="Calibri" pitchFamily="34" charset="0"/>
                <a:ea typeface="Calibri" pitchFamily="34" charset="-122"/>
                <a:cs typeface="Calibri" pitchFamily="34" charset="-120"/>
              </a:rPr>
              <a:t>One class, one method, three unrelated jobs</a:t>
            </a:r>
            <a:endParaRPr dirty="0" sz="1400" lang="en-US"/>
          </a:p>
        </p:txBody>
      </p:sp>
      <p:sp>
        <p:nvSpPr>
          <p:cNvPr id="1048670" name="Shape 39"/>
          <p:cNvSpPr/>
          <p:nvPr/>
        </p:nvSpPr>
        <p:spPr>
          <a:xfrm>
            <a:off x="4084168" y="1965960"/>
            <a:ext cx="4023360" cy="777240"/>
          </a:xfrm>
          <a:prstGeom prst="rect"/>
          <a:solidFill>
            <a:srgbClr val="06162A"/>
          </a:solidFill>
          <a:ln w="19050">
            <a:solidFill>
              <a:srgbClr val="FFB627"/>
            </a:solidFill>
            <a:prstDash val="solid"/>
          </a:ln>
        </p:spPr>
      </p:sp>
      <p:sp>
        <p:nvSpPr>
          <p:cNvPr id="1048671" name="Text 40"/>
          <p:cNvSpPr/>
          <p:nvPr/>
        </p:nvSpPr>
        <p:spPr>
          <a:xfrm>
            <a:off x="4084168" y="2011680"/>
            <a:ext cx="4023360" cy="685800"/>
          </a:xfrm>
          <a:prstGeom prst="rect"/>
          <a:noFill/>
        </p:spPr>
        <p:txBody>
          <a:bodyPr anchor="ctr" rtlCol="0" wrap="square"/>
          <a:p>
            <a:pPr algn="ctr" indent="0" marL="0">
              <a:buNone/>
            </a:pPr>
            <a:r>
              <a:rPr b="1" dirty="0" sz="1400" lang="en-US">
                <a:solidFill>
                  <a:srgbClr val="FFFFFF"/>
                </a:solidFill>
                <a:latin typeface="Courier New" pitchFamily="34" charset="0"/>
                <a:ea typeface="Courier New" pitchFamily="34" charset="-122"/>
                <a:cs typeface="Courier New" pitchFamily="34" charset="-120"/>
              </a:rPr>
              <a:t>OrderProcessor.processOrder()
</a:t>
            </a:r>
            <a:r>
              <a:rPr dirty="0" sz="1000" kern="0" lang="en-US" spc="100">
                <a:solidFill>
                  <a:srgbClr val="FFB627"/>
                </a:solidFill>
                <a:latin typeface="Courier New" pitchFamily="34" charset="0"/>
                <a:ea typeface="Courier New" pitchFamily="34" charset="-122"/>
                <a:cs typeface="Courier New" pitchFamily="34" charset="-120"/>
              </a:rPr>
              <a:t>NODE 01 — LOW COHESION</a:t>
            </a:r>
            <a:endParaRPr dirty="0" sz="1400" lang="en-US"/>
          </a:p>
        </p:txBody>
      </p:sp>
      <p:sp>
        <p:nvSpPr>
          <p:cNvPr id="1048672" name="Shape 41"/>
          <p:cNvSpPr/>
          <p:nvPr/>
        </p:nvSpPr>
        <p:spPr>
          <a:xfrm>
            <a:off x="6095848" y="2743200"/>
            <a:ext cx="0" cy="525780"/>
          </a:xfrm>
          <a:prstGeom prst="line"/>
          <a:noFill/>
          <a:ln w="19050">
            <a:solidFill>
              <a:srgbClr val="3E6690"/>
            </a:solidFill>
            <a:prstDash val="solid"/>
          </a:ln>
        </p:spPr>
      </p:sp>
      <p:sp>
        <p:nvSpPr>
          <p:cNvPr id="1048673" name="Shape 42"/>
          <p:cNvSpPr/>
          <p:nvPr/>
        </p:nvSpPr>
        <p:spPr>
          <a:xfrm>
            <a:off x="2318004" y="3268980"/>
            <a:ext cx="3777844" cy="0"/>
          </a:xfrm>
          <a:prstGeom prst="line"/>
          <a:noFill/>
          <a:ln w="19050">
            <a:solidFill>
              <a:srgbClr val="3E6690"/>
            </a:solidFill>
            <a:prstDash val="solid"/>
          </a:ln>
        </p:spPr>
      </p:sp>
      <p:sp>
        <p:nvSpPr>
          <p:cNvPr id="1048674" name="Shape 43"/>
          <p:cNvSpPr/>
          <p:nvPr/>
        </p:nvSpPr>
        <p:spPr>
          <a:xfrm>
            <a:off x="2318004" y="3268980"/>
            <a:ext cx="0" cy="525780"/>
          </a:xfrm>
          <a:prstGeom prst="line"/>
          <a:noFill/>
          <a:ln w="19050">
            <a:solidFill>
              <a:srgbClr val="3E6690"/>
            </a:solidFill>
            <a:prstDash val="solid"/>
            <a:tailEnd type="triangle"/>
          </a:ln>
        </p:spPr>
      </p:sp>
      <p:sp>
        <p:nvSpPr>
          <p:cNvPr id="1048675" name="Shape 44"/>
          <p:cNvSpPr/>
          <p:nvPr/>
        </p:nvSpPr>
        <p:spPr>
          <a:xfrm>
            <a:off x="548640" y="3794760"/>
            <a:ext cx="3538728" cy="2331720"/>
          </a:xfrm>
          <a:prstGeom prst="rect"/>
          <a:solidFill>
            <a:srgbClr val="102C4C"/>
          </a:solidFill>
          <a:ln w="12700">
            <a:solidFill>
              <a:srgbClr val="3E6690"/>
            </a:solidFill>
            <a:prstDash val="solid"/>
          </a:ln>
        </p:spPr>
      </p:sp>
      <p:sp>
        <p:nvSpPr>
          <p:cNvPr id="1048676" name="Shape 45"/>
          <p:cNvSpPr/>
          <p:nvPr/>
        </p:nvSpPr>
        <p:spPr>
          <a:xfrm>
            <a:off x="548640" y="3502152"/>
            <a:ext cx="960120" cy="292608"/>
          </a:xfrm>
          <a:prstGeom prst="rect"/>
          <a:solidFill>
            <a:srgbClr val="102C4C"/>
          </a:solidFill>
          <a:ln w="12700">
            <a:solidFill>
              <a:srgbClr val="3E6690"/>
            </a:solidFill>
            <a:prstDash val="solid"/>
          </a:ln>
        </p:spPr>
      </p:sp>
      <p:sp>
        <p:nvSpPr>
          <p:cNvPr id="1048677" name="Text 46"/>
          <p:cNvSpPr/>
          <p:nvPr/>
        </p:nvSpPr>
        <p:spPr>
          <a:xfrm>
            <a:off x="548640" y="3502152"/>
            <a:ext cx="960120" cy="292608"/>
          </a:xfrm>
          <a:prstGeom prst="rect"/>
          <a:noFill/>
        </p:spPr>
        <p:txBody>
          <a:bodyPr anchor="ctr" rtlCol="0" wrap="square"/>
          <a:p>
            <a:pPr algn="ctr" indent="0" marL="0">
              <a:buNone/>
            </a:pPr>
            <a:r>
              <a:rPr b="1" dirty="0" sz="950" lang="en-US">
                <a:solidFill>
                  <a:srgbClr val="8FD3FF"/>
                </a:solidFill>
                <a:latin typeface="Courier New" pitchFamily="34" charset="0"/>
                <a:ea typeface="Courier New" pitchFamily="34" charset="-122"/>
                <a:cs typeface="Courier New" pitchFamily="34" charset="-120"/>
              </a:rPr>
              <a:t>SUB-01</a:t>
            </a:r>
            <a:endParaRPr dirty="0" sz="950" lang="en-US"/>
          </a:p>
        </p:txBody>
      </p:sp>
      <p:sp>
        <p:nvSpPr>
          <p:cNvPr id="1048678" name="Shape 47"/>
          <p:cNvSpPr/>
          <p:nvPr/>
        </p:nvSpPr>
        <p:spPr>
          <a:xfrm>
            <a:off x="777240" y="4023360"/>
            <a:ext cx="457200" cy="457200"/>
          </a:xfrm>
          <a:prstGeom prst="rect"/>
          <a:solidFill>
            <a:srgbClr val="FFB627"/>
          </a:solidFill>
          <a:ln w="12700">
            <a:solidFill>
              <a:srgbClr val="FFFFFF"/>
            </a:solidFill>
            <a:prstDash val="solid"/>
          </a:ln>
        </p:spPr>
      </p:sp>
      <p:pic>
        <p:nvPicPr>
          <p:cNvPr id="2097152" name="Image 0" descr="/home/claude/icons/alerttriangle.png"/>
          <p:cNvPicPr>
            <a:picLocks noChangeAspect="1"/>
          </p:cNvPicPr>
          <p:nvPr/>
        </p:nvPicPr>
        <p:blipFill>
          <a:blip xmlns:r="http://schemas.openxmlformats.org/officeDocument/2006/relationships" r:embed="rId1"/>
          <a:stretch>
            <a:fillRect/>
          </a:stretch>
        </p:blipFill>
        <p:spPr>
          <a:xfrm>
            <a:off x="886968" y="4133088"/>
            <a:ext cx="237744" cy="237744"/>
          </a:xfrm>
          <a:prstGeom prst="rect"/>
        </p:spPr>
      </p:pic>
      <p:sp>
        <p:nvSpPr>
          <p:cNvPr id="1048679" name="Text 48"/>
          <p:cNvSpPr/>
          <p:nvPr/>
        </p:nvSpPr>
        <p:spPr>
          <a:xfrm>
            <a:off x="1371600" y="4023360"/>
            <a:ext cx="2532888" cy="457200"/>
          </a:xfrm>
          <a:prstGeom prst="rect"/>
          <a:noFill/>
        </p:spPr>
        <p:txBody>
          <a:bodyPr anchor="ctr" rtlCol="0" wrap="square"/>
          <a:p>
            <a:pPr indent="0" marL="0">
              <a:buNone/>
            </a:pPr>
            <a:r>
              <a:rPr b="1" dirty="0" sz="1600" lang="en-US">
                <a:solidFill>
                  <a:srgbClr val="FFFFFF"/>
                </a:solidFill>
                <a:latin typeface="Arial" pitchFamily="34" charset="0"/>
                <a:ea typeface="Arial" pitchFamily="34" charset="-122"/>
                <a:cs typeface="Arial" pitchFamily="34" charset="-120"/>
              </a:rPr>
              <a:t>Tax Calculation</a:t>
            </a:r>
            <a:endParaRPr dirty="0" sz="1600" lang="en-US"/>
          </a:p>
        </p:txBody>
      </p:sp>
      <p:sp>
        <p:nvSpPr>
          <p:cNvPr id="1048680" name="Text 49"/>
          <p:cNvSpPr/>
          <p:nvPr/>
        </p:nvSpPr>
        <p:spPr>
          <a:xfrm>
            <a:off x="777240" y="4572000"/>
            <a:ext cx="3081528" cy="365760"/>
          </a:xfrm>
          <a:prstGeom prst="rect"/>
          <a:noFill/>
        </p:spPr>
        <p:txBody>
          <a:bodyPr anchor="ctr" rtlCol="0" wrap="square"/>
          <a:p>
            <a:pPr indent="0" marL="0">
              <a:buNone/>
            </a:pPr>
            <a:r>
              <a:rPr dirty="0" sz="1150" i="1" lang="en-US">
                <a:solidFill>
                  <a:srgbClr val="9FB8D1"/>
                </a:solidFill>
                <a:latin typeface="Calibri" pitchFamily="34" charset="0"/>
                <a:ea typeface="Calibri" pitchFamily="34" charset="-122"/>
                <a:cs typeface="Calibri" pitchFamily="34" charset="-120"/>
              </a:rPr>
              <a:t>Hardcoded 12% VAT logic</a:t>
            </a:r>
            <a:endParaRPr dirty="0" sz="1150" lang="en-US"/>
          </a:p>
        </p:txBody>
      </p:sp>
      <p:sp>
        <p:nvSpPr>
          <p:cNvPr id="1048681" name="Shape 50"/>
          <p:cNvSpPr/>
          <p:nvPr/>
        </p:nvSpPr>
        <p:spPr>
          <a:xfrm>
            <a:off x="777240" y="4983480"/>
            <a:ext cx="3081528" cy="0"/>
          </a:xfrm>
          <a:prstGeom prst="line"/>
          <a:noFill/>
          <a:ln w="9525">
            <a:solidFill>
              <a:srgbClr val="3E6690"/>
            </a:solidFill>
            <a:prstDash val="dash"/>
          </a:ln>
        </p:spPr>
      </p:sp>
      <p:sp>
        <p:nvSpPr>
          <p:cNvPr id="1048682" name="Text 51"/>
          <p:cNvSpPr/>
          <p:nvPr/>
        </p:nvSpPr>
        <p:spPr>
          <a:xfrm>
            <a:off x="777240" y="5074920"/>
            <a:ext cx="3081528" cy="274320"/>
          </a:xfrm>
          <a:prstGeom prst="rect"/>
          <a:noFill/>
        </p:spPr>
        <p:txBody>
          <a:bodyPr anchor="ctr" rtlCol="0" wrap="square"/>
          <a:p>
            <a:pPr indent="0" marL="0">
              <a:buNone/>
            </a:pPr>
            <a:r>
              <a:rPr b="1" dirty="0" sz="1200" kern="0" lang="en-US" spc="50">
                <a:solidFill>
                  <a:srgbClr val="FFB627"/>
                </a:solidFill>
                <a:latin typeface="Courier New" pitchFamily="34" charset="0"/>
                <a:ea typeface="Courier New" pitchFamily="34" charset="-122"/>
                <a:cs typeface="Courier New" pitchFamily="34" charset="-120"/>
              </a:rPr>
              <a:t>FRAGILE CHANGES</a:t>
            </a:r>
            <a:endParaRPr dirty="0" sz="1200" lang="en-US"/>
          </a:p>
        </p:txBody>
      </p:sp>
      <p:sp>
        <p:nvSpPr>
          <p:cNvPr id="1048683" name="Text 52"/>
          <p:cNvSpPr/>
          <p:nvPr/>
        </p:nvSpPr>
        <p:spPr>
          <a:xfrm>
            <a:off x="777240" y="5367528"/>
            <a:ext cx="3081528" cy="685800"/>
          </a:xfrm>
          <a:prstGeom prst="rect"/>
          <a:noFill/>
        </p:spPr>
        <p:txBody>
          <a:bodyPr anchor="ctr" rtlCol="0" wrap="square"/>
          <a:p>
            <a:pPr indent="0" marL="0">
              <a:buNone/>
            </a:pPr>
            <a:r>
              <a:rPr dirty="0" sz="1100" lang="en-US">
                <a:solidFill>
                  <a:srgbClr val="9FB8D1"/>
                </a:solidFill>
                <a:latin typeface="Calibri" pitchFamily="34" charset="0"/>
                <a:ea typeface="Calibri" pitchFamily="34" charset="-122"/>
                <a:cs typeface="Calibri" pitchFamily="34" charset="-120"/>
              </a:rPr>
              <a:t>Changing the VAT rate risks touching file-writing code by accident.</a:t>
            </a:r>
            <a:endParaRPr dirty="0" sz="1100" lang="en-US"/>
          </a:p>
        </p:txBody>
      </p:sp>
      <p:sp>
        <p:nvSpPr>
          <p:cNvPr id="1048684" name="Shape 53"/>
          <p:cNvSpPr/>
          <p:nvPr/>
        </p:nvSpPr>
        <p:spPr>
          <a:xfrm>
            <a:off x="6095848" y="2743200"/>
            <a:ext cx="0" cy="525780"/>
          </a:xfrm>
          <a:prstGeom prst="line"/>
          <a:noFill/>
          <a:ln w="19050">
            <a:solidFill>
              <a:srgbClr val="3E6690"/>
            </a:solidFill>
            <a:prstDash val="solid"/>
          </a:ln>
        </p:spPr>
      </p:sp>
      <p:sp>
        <p:nvSpPr>
          <p:cNvPr id="1048685" name="Shape 54"/>
          <p:cNvSpPr/>
          <p:nvPr/>
        </p:nvSpPr>
        <p:spPr>
          <a:xfrm>
            <a:off x="6095848" y="3268980"/>
            <a:ext cx="16916" cy="0"/>
          </a:xfrm>
          <a:prstGeom prst="line"/>
          <a:noFill/>
          <a:ln w="19050">
            <a:solidFill>
              <a:srgbClr val="3E6690"/>
            </a:solidFill>
            <a:prstDash val="solid"/>
          </a:ln>
        </p:spPr>
      </p:sp>
      <p:sp>
        <p:nvSpPr>
          <p:cNvPr id="1048686" name="Shape 55"/>
          <p:cNvSpPr/>
          <p:nvPr/>
        </p:nvSpPr>
        <p:spPr>
          <a:xfrm>
            <a:off x="6112764" y="3268980"/>
            <a:ext cx="0" cy="525780"/>
          </a:xfrm>
          <a:prstGeom prst="line"/>
          <a:noFill/>
          <a:ln w="19050">
            <a:solidFill>
              <a:srgbClr val="3E6690"/>
            </a:solidFill>
            <a:prstDash val="solid"/>
            <a:tailEnd type="triangle"/>
          </a:ln>
        </p:spPr>
      </p:sp>
      <p:sp>
        <p:nvSpPr>
          <p:cNvPr id="1048687" name="Shape 56"/>
          <p:cNvSpPr/>
          <p:nvPr/>
        </p:nvSpPr>
        <p:spPr>
          <a:xfrm>
            <a:off x="4343400" y="3794760"/>
            <a:ext cx="3538728" cy="2331720"/>
          </a:xfrm>
          <a:prstGeom prst="rect"/>
          <a:solidFill>
            <a:srgbClr val="102C4C"/>
          </a:solidFill>
          <a:ln w="12700">
            <a:solidFill>
              <a:srgbClr val="3E6690"/>
            </a:solidFill>
            <a:prstDash val="solid"/>
          </a:ln>
        </p:spPr>
      </p:sp>
      <p:sp>
        <p:nvSpPr>
          <p:cNvPr id="1048688" name="Shape 57"/>
          <p:cNvSpPr/>
          <p:nvPr/>
        </p:nvSpPr>
        <p:spPr>
          <a:xfrm>
            <a:off x="4343400" y="3502152"/>
            <a:ext cx="960120" cy="292608"/>
          </a:xfrm>
          <a:prstGeom prst="rect"/>
          <a:solidFill>
            <a:srgbClr val="102C4C"/>
          </a:solidFill>
          <a:ln w="12700">
            <a:solidFill>
              <a:srgbClr val="3E6690"/>
            </a:solidFill>
            <a:prstDash val="solid"/>
          </a:ln>
        </p:spPr>
      </p:sp>
      <p:sp>
        <p:nvSpPr>
          <p:cNvPr id="1048689" name="Text 58"/>
          <p:cNvSpPr/>
          <p:nvPr/>
        </p:nvSpPr>
        <p:spPr>
          <a:xfrm>
            <a:off x="4343400" y="3502152"/>
            <a:ext cx="960120" cy="292608"/>
          </a:xfrm>
          <a:prstGeom prst="rect"/>
          <a:noFill/>
        </p:spPr>
        <p:txBody>
          <a:bodyPr anchor="ctr" rtlCol="0" wrap="square"/>
          <a:p>
            <a:pPr algn="ctr" indent="0" marL="0">
              <a:buNone/>
            </a:pPr>
            <a:r>
              <a:rPr b="1" dirty="0" sz="950" lang="en-US">
                <a:solidFill>
                  <a:srgbClr val="8FD3FF"/>
                </a:solidFill>
                <a:latin typeface="Courier New" pitchFamily="34" charset="0"/>
                <a:ea typeface="Courier New" pitchFamily="34" charset="-122"/>
                <a:cs typeface="Courier New" pitchFamily="34" charset="-120"/>
              </a:rPr>
              <a:t>SUB-02</a:t>
            </a:r>
            <a:endParaRPr dirty="0" sz="950" lang="en-US"/>
          </a:p>
        </p:txBody>
      </p:sp>
      <p:sp>
        <p:nvSpPr>
          <p:cNvPr id="1048690" name="Shape 59"/>
          <p:cNvSpPr/>
          <p:nvPr/>
        </p:nvSpPr>
        <p:spPr>
          <a:xfrm>
            <a:off x="4572000" y="4023360"/>
            <a:ext cx="457200" cy="457200"/>
          </a:xfrm>
          <a:prstGeom prst="rect"/>
          <a:solidFill>
            <a:srgbClr val="FFB627"/>
          </a:solidFill>
          <a:ln w="12700">
            <a:solidFill>
              <a:srgbClr val="FFFFFF"/>
            </a:solidFill>
            <a:prstDash val="solid"/>
          </a:ln>
        </p:spPr>
      </p:sp>
      <p:pic>
        <p:nvPicPr>
          <p:cNvPr id="2097153" name="Image 1" descr="/home/claude/icons/alerttriangle.png"/>
          <p:cNvPicPr>
            <a:picLocks noChangeAspect="1"/>
          </p:cNvPicPr>
          <p:nvPr/>
        </p:nvPicPr>
        <p:blipFill>
          <a:blip xmlns:r="http://schemas.openxmlformats.org/officeDocument/2006/relationships" r:embed="rId1"/>
          <a:stretch>
            <a:fillRect/>
          </a:stretch>
        </p:blipFill>
        <p:spPr>
          <a:xfrm>
            <a:off x="4681728" y="4133088"/>
            <a:ext cx="237744" cy="237744"/>
          </a:xfrm>
          <a:prstGeom prst="rect"/>
        </p:spPr>
      </p:pic>
      <p:sp>
        <p:nvSpPr>
          <p:cNvPr id="1048691" name="Text 60"/>
          <p:cNvSpPr/>
          <p:nvPr/>
        </p:nvSpPr>
        <p:spPr>
          <a:xfrm>
            <a:off x="5166360" y="4023360"/>
            <a:ext cx="2532888" cy="457200"/>
          </a:xfrm>
          <a:prstGeom prst="rect"/>
          <a:noFill/>
        </p:spPr>
        <p:txBody>
          <a:bodyPr anchor="ctr" rtlCol="0" wrap="square"/>
          <a:p>
            <a:pPr indent="0" marL="0">
              <a:buNone/>
            </a:pPr>
            <a:r>
              <a:rPr b="1" dirty="0" sz="1600" lang="en-US">
                <a:solidFill>
                  <a:srgbClr val="FFFFFF"/>
                </a:solidFill>
                <a:latin typeface="Arial" pitchFamily="34" charset="0"/>
                <a:ea typeface="Arial" pitchFamily="34" charset="-122"/>
                <a:cs typeface="Arial" pitchFamily="34" charset="-120"/>
              </a:rPr>
              <a:t>Presentation</a:t>
            </a:r>
            <a:endParaRPr dirty="0" sz="1600" lang="en-US"/>
          </a:p>
        </p:txBody>
      </p:sp>
      <p:sp>
        <p:nvSpPr>
          <p:cNvPr id="1048692" name="Text 61"/>
          <p:cNvSpPr/>
          <p:nvPr/>
        </p:nvSpPr>
        <p:spPr>
          <a:xfrm>
            <a:off x="4572000" y="4572000"/>
            <a:ext cx="3081528" cy="365760"/>
          </a:xfrm>
          <a:prstGeom prst="rect"/>
          <a:noFill/>
        </p:spPr>
        <p:txBody>
          <a:bodyPr anchor="ctr" rtlCol="0" wrap="square"/>
          <a:p>
            <a:pPr indent="0" marL="0">
              <a:buNone/>
            </a:pPr>
            <a:r>
              <a:rPr dirty="0" sz="1150" i="1" lang="en-US">
                <a:solidFill>
                  <a:srgbClr val="9FB8D1"/>
                </a:solidFill>
                <a:latin typeface="Calibri" pitchFamily="34" charset="0"/>
                <a:ea typeface="Calibri" pitchFamily="34" charset="-122"/>
                <a:cs typeface="Calibri" pitchFamily="34" charset="-120"/>
              </a:rPr>
              <a:t>Console receipt formatting</a:t>
            </a:r>
            <a:endParaRPr dirty="0" sz="1150" lang="en-US"/>
          </a:p>
        </p:txBody>
      </p:sp>
      <p:sp>
        <p:nvSpPr>
          <p:cNvPr id="1048693" name="Shape 62"/>
          <p:cNvSpPr/>
          <p:nvPr/>
        </p:nvSpPr>
        <p:spPr>
          <a:xfrm>
            <a:off x="4572000" y="4983480"/>
            <a:ext cx="3081528" cy="0"/>
          </a:xfrm>
          <a:prstGeom prst="line"/>
          <a:noFill/>
          <a:ln w="9525">
            <a:solidFill>
              <a:srgbClr val="3E6690"/>
            </a:solidFill>
            <a:prstDash val="dash"/>
          </a:ln>
        </p:spPr>
      </p:sp>
      <p:sp>
        <p:nvSpPr>
          <p:cNvPr id="1048694" name="Text 63"/>
          <p:cNvSpPr/>
          <p:nvPr/>
        </p:nvSpPr>
        <p:spPr>
          <a:xfrm>
            <a:off x="4572000" y="5074920"/>
            <a:ext cx="3081528" cy="274320"/>
          </a:xfrm>
          <a:prstGeom prst="rect"/>
          <a:noFill/>
        </p:spPr>
        <p:txBody>
          <a:bodyPr anchor="ctr" rtlCol="0" wrap="square"/>
          <a:p>
            <a:pPr indent="0" marL="0">
              <a:buNone/>
            </a:pPr>
            <a:r>
              <a:rPr b="1" dirty="0" sz="1200" kern="0" lang="en-US" spc="50">
                <a:solidFill>
                  <a:srgbClr val="FFB627"/>
                </a:solidFill>
                <a:latin typeface="Courier New" pitchFamily="34" charset="0"/>
                <a:ea typeface="Courier New" pitchFamily="34" charset="-122"/>
                <a:cs typeface="Courier New" pitchFamily="34" charset="-120"/>
              </a:rPr>
              <a:t>HARD TO TEST</a:t>
            </a:r>
            <a:endParaRPr dirty="0" sz="1200" lang="en-US"/>
          </a:p>
        </p:txBody>
      </p:sp>
      <p:sp>
        <p:nvSpPr>
          <p:cNvPr id="1048695" name="Text 64"/>
          <p:cNvSpPr/>
          <p:nvPr/>
        </p:nvSpPr>
        <p:spPr>
          <a:xfrm>
            <a:off x="4572000" y="5367528"/>
            <a:ext cx="3081528" cy="685800"/>
          </a:xfrm>
          <a:prstGeom prst="rect"/>
          <a:noFill/>
        </p:spPr>
        <p:txBody>
          <a:bodyPr anchor="ctr" rtlCol="0" wrap="square"/>
          <a:p>
            <a:pPr indent="0" marL="0">
              <a:buNone/>
            </a:pPr>
            <a:r>
              <a:rPr dirty="0" sz="1100" lang="en-US">
                <a:solidFill>
                  <a:srgbClr val="9FB8D1"/>
                </a:solidFill>
                <a:latin typeface="Calibri" pitchFamily="34" charset="0"/>
                <a:ea typeface="Calibri" pitchFamily="34" charset="-122"/>
                <a:cs typeface="Calibri" pitchFamily="34" charset="-120"/>
              </a:rPr>
              <a:t>Can't unit test tax logic without also triggering real file I/O.</a:t>
            </a:r>
            <a:endParaRPr dirty="0" sz="1100" lang="en-US"/>
          </a:p>
        </p:txBody>
      </p:sp>
      <p:sp>
        <p:nvSpPr>
          <p:cNvPr id="1048696" name="Shape 65"/>
          <p:cNvSpPr/>
          <p:nvPr/>
        </p:nvSpPr>
        <p:spPr>
          <a:xfrm>
            <a:off x="6095848" y="2743200"/>
            <a:ext cx="0" cy="525780"/>
          </a:xfrm>
          <a:prstGeom prst="line"/>
          <a:noFill/>
          <a:ln w="19050">
            <a:solidFill>
              <a:srgbClr val="3E6690"/>
            </a:solidFill>
            <a:prstDash val="solid"/>
          </a:ln>
        </p:spPr>
      </p:sp>
      <p:sp>
        <p:nvSpPr>
          <p:cNvPr id="1048697" name="Shape 66"/>
          <p:cNvSpPr/>
          <p:nvPr/>
        </p:nvSpPr>
        <p:spPr>
          <a:xfrm>
            <a:off x="6095848" y="3268980"/>
            <a:ext cx="3811676" cy="0"/>
          </a:xfrm>
          <a:prstGeom prst="line"/>
          <a:noFill/>
          <a:ln w="19050">
            <a:solidFill>
              <a:srgbClr val="3E6690"/>
            </a:solidFill>
            <a:prstDash val="solid"/>
          </a:ln>
        </p:spPr>
      </p:sp>
      <p:sp>
        <p:nvSpPr>
          <p:cNvPr id="1048698" name="Shape 67"/>
          <p:cNvSpPr/>
          <p:nvPr/>
        </p:nvSpPr>
        <p:spPr>
          <a:xfrm>
            <a:off x="9907524" y="3268980"/>
            <a:ext cx="0" cy="525780"/>
          </a:xfrm>
          <a:prstGeom prst="line"/>
          <a:noFill/>
          <a:ln w="19050">
            <a:solidFill>
              <a:srgbClr val="3E6690"/>
            </a:solidFill>
            <a:prstDash val="solid"/>
            <a:tailEnd type="triangle"/>
          </a:ln>
        </p:spPr>
      </p:sp>
      <p:sp>
        <p:nvSpPr>
          <p:cNvPr id="1048699" name="Shape 68"/>
          <p:cNvSpPr/>
          <p:nvPr/>
        </p:nvSpPr>
        <p:spPr>
          <a:xfrm>
            <a:off x="8138160" y="3794760"/>
            <a:ext cx="3538728" cy="2331720"/>
          </a:xfrm>
          <a:prstGeom prst="rect"/>
          <a:solidFill>
            <a:srgbClr val="102C4C"/>
          </a:solidFill>
          <a:ln w="12700">
            <a:solidFill>
              <a:srgbClr val="3E6690"/>
            </a:solidFill>
            <a:prstDash val="solid"/>
          </a:ln>
        </p:spPr>
      </p:sp>
      <p:sp>
        <p:nvSpPr>
          <p:cNvPr id="1048700" name="Shape 69"/>
          <p:cNvSpPr/>
          <p:nvPr/>
        </p:nvSpPr>
        <p:spPr>
          <a:xfrm>
            <a:off x="8138160" y="3502152"/>
            <a:ext cx="960120" cy="292608"/>
          </a:xfrm>
          <a:prstGeom prst="rect"/>
          <a:solidFill>
            <a:srgbClr val="102C4C"/>
          </a:solidFill>
          <a:ln w="12700">
            <a:solidFill>
              <a:srgbClr val="3E6690"/>
            </a:solidFill>
            <a:prstDash val="solid"/>
          </a:ln>
        </p:spPr>
      </p:sp>
      <p:sp>
        <p:nvSpPr>
          <p:cNvPr id="1048701" name="Text 70"/>
          <p:cNvSpPr/>
          <p:nvPr/>
        </p:nvSpPr>
        <p:spPr>
          <a:xfrm>
            <a:off x="8138160" y="3502152"/>
            <a:ext cx="960120" cy="292608"/>
          </a:xfrm>
          <a:prstGeom prst="rect"/>
          <a:noFill/>
        </p:spPr>
        <p:txBody>
          <a:bodyPr anchor="ctr" rtlCol="0" wrap="square"/>
          <a:p>
            <a:pPr algn="ctr" indent="0" marL="0">
              <a:buNone/>
            </a:pPr>
            <a:r>
              <a:rPr b="1" dirty="0" sz="950" lang="en-US">
                <a:solidFill>
                  <a:srgbClr val="8FD3FF"/>
                </a:solidFill>
                <a:latin typeface="Courier New" pitchFamily="34" charset="0"/>
                <a:ea typeface="Courier New" pitchFamily="34" charset="-122"/>
                <a:cs typeface="Courier New" pitchFamily="34" charset="-120"/>
              </a:rPr>
              <a:t>SUB-03</a:t>
            </a:r>
            <a:endParaRPr dirty="0" sz="950" lang="en-US"/>
          </a:p>
        </p:txBody>
      </p:sp>
      <p:sp>
        <p:nvSpPr>
          <p:cNvPr id="1048702" name="Shape 71"/>
          <p:cNvSpPr/>
          <p:nvPr/>
        </p:nvSpPr>
        <p:spPr>
          <a:xfrm>
            <a:off x="8366760" y="4023360"/>
            <a:ext cx="457200" cy="457200"/>
          </a:xfrm>
          <a:prstGeom prst="rect"/>
          <a:solidFill>
            <a:srgbClr val="FFB627"/>
          </a:solidFill>
          <a:ln w="12700">
            <a:solidFill>
              <a:srgbClr val="FFFFFF"/>
            </a:solidFill>
            <a:prstDash val="solid"/>
          </a:ln>
        </p:spPr>
      </p:sp>
      <p:pic>
        <p:nvPicPr>
          <p:cNvPr id="2097154" name="Image 2" descr="/home/claude/icons/alerttriangle.png"/>
          <p:cNvPicPr>
            <a:picLocks noChangeAspect="1"/>
          </p:cNvPicPr>
          <p:nvPr/>
        </p:nvPicPr>
        <p:blipFill>
          <a:blip xmlns:r="http://schemas.openxmlformats.org/officeDocument/2006/relationships" r:embed="rId1"/>
          <a:stretch>
            <a:fillRect/>
          </a:stretch>
        </p:blipFill>
        <p:spPr>
          <a:xfrm>
            <a:off x="8476488" y="4133088"/>
            <a:ext cx="237744" cy="237744"/>
          </a:xfrm>
          <a:prstGeom prst="rect"/>
        </p:spPr>
      </p:pic>
      <p:sp>
        <p:nvSpPr>
          <p:cNvPr id="1048703" name="Text 72"/>
          <p:cNvSpPr/>
          <p:nvPr/>
        </p:nvSpPr>
        <p:spPr>
          <a:xfrm>
            <a:off x="8961120" y="4023360"/>
            <a:ext cx="2532888" cy="457200"/>
          </a:xfrm>
          <a:prstGeom prst="rect"/>
          <a:noFill/>
        </p:spPr>
        <p:txBody>
          <a:bodyPr anchor="ctr" rtlCol="0" wrap="square"/>
          <a:p>
            <a:pPr indent="0" marL="0">
              <a:buNone/>
            </a:pPr>
            <a:r>
              <a:rPr b="1" dirty="0" sz="1600" lang="en-US">
                <a:solidFill>
                  <a:srgbClr val="FFFFFF"/>
                </a:solidFill>
                <a:latin typeface="Arial" pitchFamily="34" charset="0"/>
                <a:ea typeface="Arial" pitchFamily="34" charset="-122"/>
                <a:cs typeface="Arial" pitchFamily="34" charset="-120"/>
              </a:rPr>
              <a:t>Persistence</a:t>
            </a:r>
            <a:endParaRPr dirty="0" sz="1600" lang="en-US"/>
          </a:p>
        </p:txBody>
      </p:sp>
      <p:sp>
        <p:nvSpPr>
          <p:cNvPr id="1048704" name="Text 73"/>
          <p:cNvSpPr/>
          <p:nvPr/>
        </p:nvSpPr>
        <p:spPr>
          <a:xfrm>
            <a:off x="8366760" y="4572000"/>
            <a:ext cx="3081528" cy="365760"/>
          </a:xfrm>
          <a:prstGeom prst="rect"/>
          <a:noFill/>
        </p:spPr>
        <p:txBody>
          <a:bodyPr anchor="ctr" rtlCol="0" wrap="square"/>
          <a:p>
            <a:pPr indent="0" marL="0">
              <a:buNone/>
            </a:pPr>
            <a:r>
              <a:rPr dirty="0" sz="1150" i="1" lang="en-US">
                <a:solidFill>
                  <a:srgbClr val="9FB8D1"/>
                </a:solidFill>
                <a:latin typeface="Calibri" pitchFamily="34" charset="0"/>
                <a:ea typeface="Calibri" pitchFamily="34" charset="-122"/>
                <a:cs typeface="Calibri" pitchFamily="34" charset="-120"/>
              </a:rPr>
              <a:t>Direct file-system writes</a:t>
            </a:r>
            <a:endParaRPr dirty="0" sz="1150" lang="en-US"/>
          </a:p>
        </p:txBody>
      </p:sp>
      <p:sp>
        <p:nvSpPr>
          <p:cNvPr id="1048705" name="Shape 74"/>
          <p:cNvSpPr/>
          <p:nvPr/>
        </p:nvSpPr>
        <p:spPr>
          <a:xfrm>
            <a:off x="8366760" y="4983480"/>
            <a:ext cx="3081528" cy="0"/>
          </a:xfrm>
          <a:prstGeom prst="line"/>
          <a:noFill/>
          <a:ln w="9525">
            <a:solidFill>
              <a:srgbClr val="3E6690"/>
            </a:solidFill>
            <a:prstDash val="dash"/>
          </a:ln>
        </p:spPr>
      </p:sp>
      <p:sp>
        <p:nvSpPr>
          <p:cNvPr id="1048706" name="Text 75"/>
          <p:cNvSpPr/>
          <p:nvPr/>
        </p:nvSpPr>
        <p:spPr>
          <a:xfrm>
            <a:off x="8366760" y="5074920"/>
            <a:ext cx="3081528" cy="274320"/>
          </a:xfrm>
          <a:prstGeom prst="rect"/>
          <a:noFill/>
        </p:spPr>
        <p:txBody>
          <a:bodyPr anchor="ctr" rtlCol="0" wrap="square"/>
          <a:p>
            <a:pPr indent="0" marL="0">
              <a:buNone/>
            </a:pPr>
            <a:r>
              <a:rPr b="1" dirty="0" sz="1200" kern="0" lang="en-US" spc="50">
                <a:solidFill>
                  <a:srgbClr val="FFB627"/>
                </a:solidFill>
                <a:latin typeface="Courier New" pitchFamily="34" charset="0"/>
                <a:ea typeface="Courier New" pitchFamily="34" charset="-122"/>
                <a:cs typeface="Courier New" pitchFamily="34" charset="-120"/>
              </a:rPr>
              <a:t>HARD TO EXTEND</a:t>
            </a:r>
            <a:endParaRPr dirty="0" sz="1200" lang="en-US"/>
          </a:p>
        </p:txBody>
      </p:sp>
      <p:sp>
        <p:nvSpPr>
          <p:cNvPr id="1048707" name="Text 76"/>
          <p:cNvSpPr/>
          <p:nvPr/>
        </p:nvSpPr>
        <p:spPr>
          <a:xfrm>
            <a:off x="8366760" y="5367528"/>
            <a:ext cx="3081528" cy="685800"/>
          </a:xfrm>
          <a:prstGeom prst="rect"/>
          <a:noFill/>
        </p:spPr>
        <p:txBody>
          <a:bodyPr anchor="ctr" rtlCol="0" wrap="square"/>
          <a:p>
            <a:pPr indent="0" marL="0">
              <a:buNone/>
            </a:pPr>
            <a:r>
              <a:rPr dirty="0" sz="1100" lang="en-US">
                <a:solidFill>
                  <a:srgbClr val="9FB8D1"/>
                </a:solidFill>
                <a:latin typeface="Calibri" pitchFamily="34" charset="0"/>
                <a:ea typeface="Calibri" pitchFamily="34" charset="-122"/>
                <a:cs typeface="Calibri" pitchFamily="34" charset="-120"/>
              </a:rPr>
              <a:t>Swapping storage (e.g. to a database) means editing business logic too.</a:t>
            </a:r>
            <a:endParaRPr dirty="0" sz="11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F38"/>
        </a:solidFill>
      </p:bgPr>
    </p:bg>
    <p:spTree>
      <p:nvGrpSpPr>
        <p:cNvPr id="23" name=""/>
        <p:cNvGrpSpPr/>
        <p:nvPr/>
      </p:nvGrpSpPr>
      <p:grpSpPr>
        <a:xfrm>
          <a:off x="0" y="0"/>
          <a:ext cx="0" cy="0"/>
          <a:chOff x="0" y="0"/>
          <a:chExt cx="0" cy="0"/>
        </a:xfrm>
      </p:grpSpPr>
      <p:sp>
        <p:nvSpPr>
          <p:cNvPr id="1048711" name="Shape 0"/>
          <p:cNvSpPr/>
          <p:nvPr/>
        </p:nvSpPr>
        <p:spPr>
          <a:xfrm>
            <a:off x="548640" y="0"/>
            <a:ext cx="0" cy="6858000"/>
          </a:xfrm>
          <a:prstGeom prst="line"/>
          <a:noFill/>
          <a:ln w="6350">
            <a:solidFill>
              <a:srgbClr val="1B3A5C"/>
            </a:solidFill>
            <a:prstDash val="solid"/>
          </a:ln>
        </p:spPr>
      </p:sp>
      <p:sp>
        <p:nvSpPr>
          <p:cNvPr id="1048712" name="Shape 1"/>
          <p:cNvSpPr/>
          <p:nvPr/>
        </p:nvSpPr>
        <p:spPr>
          <a:xfrm>
            <a:off x="1325880" y="0"/>
            <a:ext cx="0" cy="6858000"/>
          </a:xfrm>
          <a:prstGeom prst="line"/>
          <a:noFill/>
          <a:ln w="6350">
            <a:solidFill>
              <a:srgbClr val="1B3A5C"/>
            </a:solidFill>
            <a:prstDash val="solid"/>
          </a:ln>
        </p:spPr>
      </p:sp>
      <p:sp>
        <p:nvSpPr>
          <p:cNvPr id="1048713" name="Shape 2"/>
          <p:cNvSpPr/>
          <p:nvPr/>
        </p:nvSpPr>
        <p:spPr>
          <a:xfrm>
            <a:off x="2103120" y="0"/>
            <a:ext cx="0" cy="6858000"/>
          </a:xfrm>
          <a:prstGeom prst="line"/>
          <a:noFill/>
          <a:ln w="6350">
            <a:solidFill>
              <a:srgbClr val="1B3A5C"/>
            </a:solidFill>
            <a:prstDash val="solid"/>
          </a:ln>
        </p:spPr>
      </p:sp>
      <p:sp>
        <p:nvSpPr>
          <p:cNvPr id="1048714" name="Shape 3"/>
          <p:cNvSpPr/>
          <p:nvPr/>
        </p:nvSpPr>
        <p:spPr>
          <a:xfrm>
            <a:off x="2880360" y="0"/>
            <a:ext cx="0" cy="6858000"/>
          </a:xfrm>
          <a:prstGeom prst="line"/>
          <a:noFill/>
          <a:ln w="6350">
            <a:solidFill>
              <a:srgbClr val="1B3A5C"/>
            </a:solidFill>
            <a:prstDash val="solid"/>
          </a:ln>
        </p:spPr>
      </p:sp>
      <p:sp>
        <p:nvSpPr>
          <p:cNvPr id="1048715" name="Shape 4"/>
          <p:cNvSpPr/>
          <p:nvPr/>
        </p:nvSpPr>
        <p:spPr>
          <a:xfrm>
            <a:off x="3657600" y="0"/>
            <a:ext cx="0" cy="6858000"/>
          </a:xfrm>
          <a:prstGeom prst="line"/>
          <a:noFill/>
          <a:ln w="6350">
            <a:solidFill>
              <a:srgbClr val="1B3A5C"/>
            </a:solidFill>
            <a:prstDash val="solid"/>
          </a:ln>
        </p:spPr>
      </p:sp>
      <p:sp>
        <p:nvSpPr>
          <p:cNvPr id="1048716" name="Shape 5"/>
          <p:cNvSpPr/>
          <p:nvPr/>
        </p:nvSpPr>
        <p:spPr>
          <a:xfrm>
            <a:off x="4434840" y="0"/>
            <a:ext cx="0" cy="6858000"/>
          </a:xfrm>
          <a:prstGeom prst="line"/>
          <a:noFill/>
          <a:ln w="6350">
            <a:solidFill>
              <a:srgbClr val="1B3A5C"/>
            </a:solidFill>
            <a:prstDash val="solid"/>
          </a:ln>
        </p:spPr>
      </p:sp>
      <p:sp>
        <p:nvSpPr>
          <p:cNvPr id="1048717" name="Shape 6"/>
          <p:cNvSpPr/>
          <p:nvPr/>
        </p:nvSpPr>
        <p:spPr>
          <a:xfrm>
            <a:off x="5212080" y="0"/>
            <a:ext cx="0" cy="6858000"/>
          </a:xfrm>
          <a:prstGeom prst="line"/>
          <a:noFill/>
          <a:ln w="6350">
            <a:solidFill>
              <a:srgbClr val="1B3A5C"/>
            </a:solidFill>
            <a:prstDash val="solid"/>
          </a:ln>
        </p:spPr>
      </p:sp>
      <p:sp>
        <p:nvSpPr>
          <p:cNvPr id="1048718" name="Shape 7"/>
          <p:cNvSpPr/>
          <p:nvPr/>
        </p:nvSpPr>
        <p:spPr>
          <a:xfrm>
            <a:off x="5989320" y="0"/>
            <a:ext cx="0" cy="6858000"/>
          </a:xfrm>
          <a:prstGeom prst="line"/>
          <a:noFill/>
          <a:ln w="6350">
            <a:solidFill>
              <a:srgbClr val="1B3A5C"/>
            </a:solidFill>
            <a:prstDash val="solid"/>
          </a:ln>
        </p:spPr>
      </p:sp>
      <p:sp>
        <p:nvSpPr>
          <p:cNvPr id="1048719" name="Shape 8"/>
          <p:cNvSpPr/>
          <p:nvPr/>
        </p:nvSpPr>
        <p:spPr>
          <a:xfrm>
            <a:off x="6766560" y="0"/>
            <a:ext cx="0" cy="6858000"/>
          </a:xfrm>
          <a:prstGeom prst="line"/>
          <a:noFill/>
          <a:ln w="6350">
            <a:solidFill>
              <a:srgbClr val="1B3A5C"/>
            </a:solidFill>
            <a:prstDash val="solid"/>
          </a:ln>
        </p:spPr>
      </p:sp>
      <p:sp>
        <p:nvSpPr>
          <p:cNvPr id="1048720" name="Shape 9"/>
          <p:cNvSpPr/>
          <p:nvPr/>
        </p:nvSpPr>
        <p:spPr>
          <a:xfrm>
            <a:off x="7543800" y="0"/>
            <a:ext cx="0" cy="6858000"/>
          </a:xfrm>
          <a:prstGeom prst="line"/>
          <a:noFill/>
          <a:ln w="6350">
            <a:solidFill>
              <a:srgbClr val="1B3A5C"/>
            </a:solidFill>
            <a:prstDash val="solid"/>
          </a:ln>
        </p:spPr>
      </p:sp>
      <p:sp>
        <p:nvSpPr>
          <p:cNvPr id="1048721" name="Shape 10"/>
          <p:cNvSpPr/>
          <p:nvPr/>
        </p:nvSpPr>
        <p:spPr>
          <a:xfrm>
            <a:off x="8321040" y="0"/>
            <a:ext cx="0" cy="6858000"/>
          </a:xfrm>
          <a:prstGeom prst="line"/>
          <a:noFill/>
          <a:ln w="6350">
            <a:solidFill>
              <a:srgbClr val="1B3A5C"/>
            </a:solidFill>
            <a:prstDash val="solid"/>
          </a:ln>
        </p:spPr>
      </p:sp>
      <p:sp>
        <p:nvSpPr>
          <p:cNvPr id="1048722" name="Shape 11"/>
          <p:cNvSpPr/>
          <p:nvPr/>
        </p:nvSpPr>
        <p:spPr>
          <a:xfrm>
            <a:off x="9098280" y="0"/>
            <a:ext cx="0" cy="6858000"/>
          </a:xfrm>
          <a:prstGeom prst="line"/>
          <a:noFill/>
          <a:ln w="6350">
            <a:solidFill>
              <a:srgbClr val="1B3A5C"/>
            </a:solidFill>
            <a:prstDash val="solid"/>
          </a:ln>
        </p:spPr>
      </p:sp>
      <p:sp>
        <p:nvSpPr>
          <p:cNvPr id="1048723" name="Shape 12"/>
          <p:cNvSpPr/>
          <p:nvPr/>
        </p:nvSpPr>
        <p:spPr>
          <a:xfrm>
            <a:off x="9875520" y="0"/>
            <a:ext cx="0" cy="6858000"/>
          </a:xfrm>
          <a:prstGeom prst="line"/>
          <a:noFill/>
          <a:ln w="6350">
            <a:solidFill>
              <a:srgbClr val="1B3A5C"/>
            </a:solidFill>
            <a:prstDash val="solid"/>
          </a:ln>
        </p:spPr>
      </p:sp>
      <p:sp>
        <p:nvSpPr>
          <p:cNvPr id="1048724" name="Shape 13"/>
          <p:cNvSpPr/>
          <p:nvPr/>
        </p:nvSpPr>
        <p:spPr>
          <a:xfrm>
            <a:off x="10652760" y="0"/>
            <a:ext cx="0" cy="6858000"/>
          </a:xfrm>
          <a:prstGeom prst="line"/>
          <a:noFill/>
          <a:ln w="6350">
            <a:solidFill>
              <a:srgbClr val="1B3A5C"/>
            </a:solidFill>
            <a:prstDash val="solid"/>
          </a:ln>
        </p:spPr>
      </p:sp>
      <p:sp>
        <p:nvSpPr>
          <p:cNvPr id="1048725" name="Shape 14"/>
          <p:cNvSpPr/>
          <p:nvPr/>
        </p:nvSpPr>
        <p:spPr>
          <a:xfrm>
            <a:off x="11430000" y="0"/>
            <a:ext cx="0" cy="6858000"/>
          </a:xfrm>
          <a:prstGeom prst="line"/>
          <a:noFill/>
          <a:ln w="6350">
            <a:solidFill>
              <a:srgbClr val="1B3A5C"/>
            </a:solidFill>
            <a:prstDash val="solid"/>
          </a:ln>
        </p:spPr>
      </p:sp>
      <p:sp>
        <p:nvSpPr>
          <p:cNvPr id="1048726" name="Shape 15"/>
          <p:cNvSpPr/>
          <p:nvPr/>
        </p:nvSpPr>
        <p:spPr>
          <a:xfrm>
            <a:off x="0" y="548640"/>
            <a:ext cx="12191695" cy="0"/>
          </a:xfrm>
          <a:prstGeom prst="line"/>
          <a:noFill/>
          <a:ln w="6350">
            <a:solidFill>
              <a:srgbClr val="1B3A5C"/>
            </a:solidFill>
            <a:prstDash val="solid"/>
          </a:ln>
        </p:spPr>
      </p:sp>
      <p:sp>
        <p:nvSpPr>
          <p:cNvPr id="1048727" name="Shape 16"/>
          <p:cNvSpPr/>
          <p:nvPr/>
        </p:nvSpPr>
        <p:spPr>
          <a:xfrm>
            <a:off x="0" y="1325880"/>
            <a:ext cx="12191695" cy="0"/>
          </a:xfrm>
          <a:prstGeom prst="line"/>
          <a:noFill/>
          <a:ln w="6350">
            <a:solidFill>
              <a:srgbClr val="1B3A5C"/>
            </a:solidFill>
            <a:prstDash val="solid"/>
          </a:ln>
        </p:spPr>
      </p:sp>
      <p:sp>
        <p:nvSpPr>
          <p:cNvPr id="1048728" name="Shape 17"/>
          <p:cNvSpPr/>
          <p:nvPr/>
        </p:nvSpPr>
        <p:spPr>
          <a:xfrm>
            <a:off x="0" y="2103120"/>
            <a:ext cx="12191695" cy="0"/>
          </a:xfrm>
          <a:prstGeom prst="line"/>
          <a:noFill/>
          <a:ln w="6350">
            <a:solidFill>
              <a:srgbClr val="1B3A5C"/>
            </a:solidFill>
            <a:prstDash val="solid"/>
          </a:ln>
        </p:spPr>
      </p:sp>
      <p:sp>
        <p:nvSpPr>
          <p:cNvPr id="1048729" name="Shape 18"/>
          <p:cNvSpPr/>
          <p:nvPr/>
        </p:nvSpPr>
        <p:spPr>
          <a:xfrm>
            <a:off x="0" y="2880360"/>
            <a:ext cx="12191695" cy="0"/>
          </a:xfrm>
          <a:prstGeom prst="line"/>
          <a:noFill/>
          <a:ln w="6350">
            <a:solidFill>
              <a:srgbClr val="1B3A5C"/>
            </a:solidFill>
            <a:prstDash val="solid"/>
          </a:ln>
        </p:spPr>
      </p:sp>
      <p:sp>
        <p:nvSpPr>
          <p:cNvPr id="1048730" name="Shape 19"/>
          <p:cNvSpPr/>
          <p:nvPr/>
        </p:nvSpPr>
        <p:spPr>
          <a:xfrm>
            <a:off x="0" y="3657600"/>
            <a:ext cx="12191695" cy="0"/>
          </a:xfrm>
          <a:prstGeom prst="line"/>
          <a:noFill/>
          <a:ln w="6350">
            <a:solidFill>
              <a:srgbClr val="1B3A5C"/>
            </a:solidFill>
            <a:prstDash val="solid"/>
          </a:ln>
        </p:spPr>
      </p:sp>
      <p:sp>
        <p:nvSpPr>
          <p:cNvPr id="1048731" name="Shape 20"/>
          <p:cNvSpPr/>
          <p:nvPr/>
        </p:nvSpPr>
        <p:spPr>
          <a:xfrm>
            <a:off x="0" y="4434840"/>
            <a:ext cx="12191695" cy="0"/>
          </a:xfrm>
          <a:prstGeom prst="line"/>
          <a:noFill/>
          <a:ln w="6350">
            <a:solidFill>
              <a:srgbClr val="1B3A5C"/>
            </a:solidFill>
            <a:prstDash val="solid"/>
          </a:ln>
        </p:spPr>
      </p:sp>
      <p:sp>
        <p:nvSpPr>
          <p:cNvPr id="1048732" name="Shape 21"/>
          <p:cNvSpPr/>
          <p:nvPr/>
        </p:nvSpPr>
        <p:spPr>
          <a:xfrm>
            <a:off x="0" y="5212080"/>
            <a:ext cx="12191695" cy="0"/>
          </a:xfrm>
          <a:prstGeom prst="line"/>
          <a:noFill/>
          <a:ln w="6350">
            <a:solidFill>
              <a:srgbClr val="1B3A5C"/>
            </a:solidFill>
            <a:prstDash val="solid"/>
          </a:ln>
        </p:spPr>
      </p:sp>
      <p:sp>
        <p:nvSpPr>
          <p:cNvPr id="1048733" name="Shape 22"/>
          <p:cNvSpPr/>
          <p:nvPr/>
        </p:nvSpPr>
        <p:spPr>
          <a:xfrm>
            <a:off x="0" y="5989320"/>
            <a:ext cx="12191695" cy="0"/>
          </a:xfrm>
          <a:prstGeom prst="line"/>
          <a:noFill/>
          <a:ln w="6350">
            <a:solidFill>
              <a:srgbClr val="1B3A5C"/>
            </a:solidFill>
            <a:prstDash val="solid"/>
          </a:ln>
        </p:spPr>
      </p:sp>
      <p:sp>
        <p:nvSpPr>
          <p:cNvPr id="1048734" name="Shape 23"/>
          <p:cNvSpPr/>
          <p:nvPr/>
        </p:nvSpPr>
        <p:spPr>
          <a:xfrm>
            <a:off x="0" y="6766560"/>
            <a:ext cx="12191695" cy="0"/>
          </a:xfrm>
          <a:prstGeom prst="line"/>
          <a:noFill/>
          <a:ln w="6350">
            <a:solidFill>
              <a:srgbClr val="1B3A5C"/>
            </a:solidFill>
            <a:prstDash val="solid"/>
          </a:ln>
        </p:spPr>
      </p:sp>
      <p:sp>
        <p:nvSpPr>
          <p:cNvPr id="1048735" name="Shape 24"/>
          <p:cNvSpPr/>
          <p:nvPr/>
        </p:nvSpPr>
        <p:spPr>
          <a:xfrm>
            <a:off x="201168" y="201168"/>
            <a:ext cx="11789359" cy="6455664"/>
          </a:xfrm>
          <a:prstGeom prst="rect"/>
          <a:ln w="15875">
            <a:solidFill>
              <a:srgbClr val="3E6690"/>
            </a:solidFill>
            <a:prstDash val="solid"/>
          </a:ln>
        </p:spPr>
      </p:sp>
      <p:sp>
        <p:nvSpPr>
          <p:cNvPr id="1048736" name="Shape 25"/>
          <p:cNvSpPr/>
          <p:nvPr/>
        </p:nvSpPr>
        <p:spPr>
          <a:xfrm>
            <a:off x="320040" y="320040"/>
            <a:ext cx="384048" cy="0"/>
          </a:xfrm>
          <a:prstGeom prst="line"/>
          <a:noFill/>
          <a:ln w="25400">
            <a:solidFill>
              <a:srgbClr val="6EC6FF"/>
            </a:solidFill>
            <a:prstDash val="solid"/>
          </a:ln>
        </p:spPr>
      </p:sp>
      <p:sp>
        <p:nvSpPr>
          <p:cNvPr id="1048737" name="Shape 26"/>
          <p:cNvSpPr/>
          <p:nvPr/>
        </p:nvSpPr>
        <p:spPr>
          <a:xfrm>
            <a:off x="320040" y="320040"/>
            <a:ext cx="0" cy="384048"/>
          </a:xfrm>
          <a:prstGeom prst="line"/>
          <a:noFill/>
          <a:ln w="25400">
            <a:solidFill>
              <a:srgbClr val="6EC6FF"/>
            </a:solidFill>
            <a:prstDash val="solid"/>
          </a:ln>
        </p:spPr>
      </p:sp>
      <p:sp>
        <p:nvSpPr>
          <p:cNvPr id="1048738" name="Shape 27"/>
          <p:cNvSpPr/>
          <p:nvPr/>
        </p:nvSpPr>
        <p:spPr>
          <a:xfrm>
            <a:off x="11487607" y="320040"/>
            <a:ext cx="384048" cy="0"/>
          </a:xfrm>
          <a:prstGeom prst="line"/>
          <a:noFill/>
          <a:ln w="25400">
            <a:solidFill>
              <a:srgbClr val="6EC6FF"/>
            </a:solidFill>
            <a:prstDash val="solid"/>
          </a:ln>
        </p:spPr>
      </p:sp>
      <p:sp>
        <p:nvSpPr>
          <p:cNvPr id="1048739" name="Shape 28"/>
          <p:cNvSpPr/>
          <p:nvPr/>
        </p:nvSpPr>
        <p:spPr>
          <a:xfrm>
            <a:off x="11871655" y="320040"/>
            <a:ext cx="0" cy="384048"/>
          </a:xfrm>
          <a:prstGeom prst="line"/>
          <a:noFill/>
          <a:ln w="25400">
            <a:solidFill>
              <a:srgbClr val="6EC6FF"/>
            </a:solidFill>
            <a:prstDash val="solid"/>
          </a:ln>
        </p:spPr>
      </p:sp>
      <p:sp>
        <p:nvSpPr>
          <p:cNvPr id="1048740" name="Shape 29"/>
          <p:cNvSpPr/>
          <p:nvPr/>
        </p:nvSpPr>
        <p:spPr>
          <a:xfrm>
            <a:off x="320040" y="6537960"/>
            <a:ext cx="384048" cy="0"/>
          </a:xfrm>
          <a:prstGeom prst="line"/>
          <a:noFill/>
          <a:ln w="25400">
            <a:solidFill>
              <a:srgbClr val="6EC6FF"/>
            </a:solidFill>
            <a:prstDash val="solid"/>
          </a:ln>
        </p:spPr>
      </p:sp>
      <p:sp>
        <p:nvSpPr>
          <p:cNvPr id="1048741" name="Shape 30"/>
          <p:cNvSpPr/>
          <p:nvPr/>
        </p:nvSpPr>
        <p:spPr>
          <a:xfrm>
            <a:off x="320040" y="6153912"/>
            <a:ext cx="0" cy="384048"/>
          </a:xfrm>
          <a:prstGeom prst="line"/>
          <a:noFill/>
          <a:ln w="25400">
            <a:solidFill>
              <a:srgbClr val="6EC6FF"/>
            </a:solidFill>
            <a:prstDash val="solid"/>
          </a:ln>
        </p:spPr>
      </p:sp>
      <p:sp>
        <p:nvSpPr>
          <p:cNvPr id="1048742" name="Shape 31"/>
          <p:cNvSpPr/>
          <p:nvPr/>
        </p:nvSpPr>
        <p:spPr>
          <a:xfrm>
            <a:off x="11487607" y="6537960"/>
            <a:ext cx="384048" cy="0"/>
          </a:xfrm>
          <a:prstGeom prst="line"/>
          <a:noFill/>
          <a:ln w="25400">
            <a:solidFill>
              <a:srgbClr val="6EC6FF"/>
            </a:solidFill>
            <a:prstDash val="solid"/>
          </a:ln>
        </p:spPr>
      </p:sp>
      <p:sp>
        <p:nvSpPr>
          <p:cNvPr id="1048743" name="Shape 32"/>
          <p:cNvSpPr/>
          <p:nvPr/>
        </p:nvSpPr>
        <p:spPr>
          <a:xfrm>
            <a:off x="11871655" y="6153912"/>
            <a:ext cx="0" cy="384048"/>
          </a:xfrm>
          <a:prstGeom prst="line"/>
          <a:noFill/>
          <a:ln w="25400">
            <a:solidFill>
              <a:srgbClr val="6EC6FF"/>
            </a:solidFill>
            <a:prstDash val="solid"/>
          </a:ln>
        </p:spPr>
      </p:sp>
      <p:sp>
        <p:nvSpPr>
          <p:cNvPr id="1048744" name="Text 33"/>
          <p:cNvSpPr/>
          <p:nvPr/>
        </p:nvSpPr>
        <p:spPr>
          <a:xfrm>
            <a:off x="9265615" y="6400800"/>
            <a:ext cx="2651760" cy="274320"/>
          </a:xfrm>
          <a:prstGeom prst="rect"/>
          <a:noFill/>
        </p:spPr>
        <p:txBody>
          <a:bodyPr anchor="ctr" rtlCol="0" wrap="square"/>
          <a:p>
            <a:pPr algn="r" indent="0" marL="0">
              <a:buNone/>
            </a:pPr>
            <a:r>
              <a:rPr dirty="0" sz="900" kern="0" lang="en-US" spc="100">
                <a:solidFill>
                  <a:srgbClr val="9FB8D1"/>
                </a:solidFill>
                <a:latin typeface="Courier New" pitchFamily="34" charset="0"/>
                <a:ea typeface="Courier New" pitchFamily="34" charset="-122"/>
                <a:cs typeface="Courier New" pitchFamily="34" charset="-120"/>
              </a:rPr>
              <a:t>CS / SHEET 3 OF 12</a:t>
            </a:r>
            <a:endParaRPr dirty="0" sz="900" lang="en-US"/>
          </a:p>
        </p:txBody>
      </p:sp>
      <p:sp>
        <p:nvSpPr>
          <p:cNvPr id="1048745" name="Text 34"/>
          <p:cNvSpPr/>
          <p:nvPr/>
        </p:nvSpPr>
        <p:spPr>
          <a:xfrm>
            <a:off x="411480" y="6400800"/>
            <a:ext cx="5486400" cy="274320"/>
          </a:xfrm>
          <a:prstGeom prst="rect"/>
          <a:noFill/>
        </p:spPr>
        <p:txBody>
          <a:bodyPr anchor="ctr" rtlCol="0" wrap="square"/>
          <a:p>
            <a:pPr indent="0" marL="0">
              <a:buNone/>
            </a:pPr>
            <a:r>
              <a:rPr dirty="0" sz="900" kern="0" lang="en-US" spc="100">
                <a:solidFill>
                  <a:srgbClr val="9FB8D1"/>
                </a:solidFill>
                <a:latin typeface="Courier New" pitchFamily="34" charset="0"/>
                <a:ea typeface="Courier New" pitchFamily="34" charset="-122"/>
                <a:cs typeface="Courier New" pitchFamily="34" charset="-120"/>
              </a:rPr>
              <a:t>COFFEE SHOP ORDER PROCESSOR — REFACTORING</a:t>
            </a:r>
            <a:endParaRPr dirty="0" sz="900" lang="en-US"/>
          </a:p>
        </p:txBody>
      </p:sp>
      <p:sp>
        <p:nvSpPr>
          <p:cNvPr id="1048746" name="Shape 35"/>
          <p:cNvSpPr/>
          <p:nvPr/>
        </p:nvSpPr>
        <p:spPr>
          <a:xfrm>
            <a:off x="548640" y="502920"/>
            <a:ext cx="3383280" cy="292608"/>
          </a:xfrm>
          <a:prstGeom prst="rect"/>
          <a:solidFill>
            <a:srgbClr val="06162A"/>
          </a:solidFill>
          <a:ln w="12700">
            <a:solidFill>
              <a:srgbClr val="8FD3FF"/>
            </a:solidFill>
            <a:prstDash val="solid"/>
          </a:ln>
        </p:spPr>
      </p:sp>
      <p:sp>
        <p:nvSpPr>
          <p:cNvPr id="1048747" name="Text 36"/>
          <p:cNvSpPr/>
          <p:nvPr/>
        </p:nvSpPr>
        <p:spPr>
          <a:xfrm>
            <a:off x="548640" y="502920"/>
            <a:ext cx="3383280" cy="292608"/>
          </a:xfrm>
          <a:prstGeom prst="rect"/>
          <a:noFill/>
        </p:spPr>
        <p:txBody>
          <a:bodyPr anchor="ctr" rtlCol="0" wrap="square"/>
          <a:p>
            <a:pPr algn="ctr" indent="0" marL="0">
              <a:buNone/>
            </a:pPr>
            <a:r>
              <a:rPr b="1" dirty="0" sz="1050" kern="0" lang="en-US" spc="100">
                <a:solidFill>
                  <a:srgbClr val="8FD3FF"/>
                </a:solidFill>
                <a:latin typeface="Courier New" pitchFamily="34" charset="0"/>
                <a:ea typeface="Courier New" pitchFamily="34" charset="-122"/>
                <a:cs typeface="Courier New" pitchFamily="34" charset="-120"/>
              </a:rPr>
              <a:t>SHEET 03 — DESIGN PRINCIPLES</a:t>
            </a:r>
            <a:endParaRPr dirty="0" sz="1050" lang="en-US"/>
          </a:p>
        </p:txBody>
      </p:sp>
      <p:sp>
        <p:nvSpPr>
          <p:cNvPr id="1048748" name="Text 37"/>
          <p:cNvSpPr/>
          <p:nvPr/>
        </p:nvSpPr>
        <p:spPr>
          <a:xfrm>
            <a:off x="548640" y="914400"/>
            <a:ext cx="10058400" cy="548640"/>
          </a:xfrm>
          <a:prstGeom prst="rect"/>
          <a:noFill/>
        </p:spPr>
        <p:txBody>
          <a:bodyPr anchor="ctr" rtlCol="0" wrap="square"/>
          <a:p>
            <a:pPr indent="0" marL="0">
              <a:buNone/>
            </a:pPr>
            <a:r>
              <a:rPr b="1" dirty="0" sz="2800" lang="en-US">
                <a:solidFill>
                  <a:srgbClr val="FFFFFF"/>
                </a:solidFill>
                <a:latin typeface="Arial" pitchFamily="34" charset="0"/>
                <a:ea typeface="Arial" pitchFamily="34" charset="-122"/>
                <a:cs typeface="Arial" pitchFamily="34" charset="-120"/>
              </a:rPr>
              <a:t>Principles Applied</a:t>
            </a:r>
            <a:endParaRPr dirty="0" sz="2800" lang="en-US"/>
          </a:p>
        </p:txBody>
      </p:sp>
      <p:sp>
        <p:nvSpPr>
          <p:cNvPr id="1048749" name="Text 38"/>
          <p:cNvSpPr/>
          <p:nvPr/>
        </p:nvSpPr>
        <p:spPr>
          <a:xfrm>
            <a:off x="548640" y="1417320"/>
            <a:ext cx="10058400" cy="365760"/>
          </a:xfrm>
          <a:prstGeom prst="rect"/>
          <a:noFill/>
        </p:spPr>
        <p:txBody>
          <a:bodyPr anchor="ctr" rtlCol="0" wrap="square"/>
          <a:p>
            <a:pPr indent="0" marL="0">
              <a:buNone/>
            </a:pPr>
            <a:r>
              <a:rPr dirty="0" sz="1400" i="1" lang="en-US">
                <a:solidFill>
                  <a:srgbClr val="9FB8D1"/>
                </a:solidFill>
                <a:latin typeface="Calibri" pitchFamily="34" charset="0"/>
                <a:ea typeface="Calibri" pitchFamily="34" charset="-122"/>
                <a:cs typeface="Calibri" pitchFamily="34" charset="-120"/>
              </a:rPr>
              <a:t>Two design principles guided every change</a:t>
            </a:r>
            <a:endParaRPr dirty="0" sz="1400" lang="en-US"/>
          </a:p>
        </p:txBody>
      </p:sp>
      <p:sp>
        <p:nvSpPr>
          <p:cNvPr id="1048750" name="Shape 39"/>
          <p:cNvSpPr/>
          <p:nvPr/>
        </p:nvSpPr>
        <p:spPr>
          <a:xfrm>
            <a:off x="292608" y="1847088"/>
            <a:ext cx="512064" cy="512064"/>
          </a:xfrm>
          <a:prstGeom prst="ellipse"/>
          <a:solidFill>
            <a:srgbClr val="06162A"/>
          </a:solidFill>
          <a:ln w="19050">
            <a:solidFill>
              <a:srgbClr val="FFB627"/>
            </a:solidFill>
            <a:prstDash val="solid"/>
          </a:ln>
        </p:spPr>
      </p:sp>
      <p:sp>
        <p:nvSpPr>
          <p:cNvPr id="1048751" name="Text 40"/>
          <p:cNvSpPr/>
          <p:nvPr/>
        </p:nvSpPr>
        <p:spPr>
          <a:xfrm>
            <a:off x="292608" y="1847088"/>
            <a:ext cx="512064" cy="512064"/>
          </a:xfrm>
          <a:prstGeom prst="rect"/>
          <a:noFill/>
        </p:spPr>
        <p:txBody>
          <a:bodyPr anchor="ctr" rtlCol="0" wrap="square"/>
          <a:p>
            <a:pPr algn="ctr" indent="0" marL="0">
              <a:buNone/>
            </a:pPr>
            <a:r>
              <a:rPr b="1" dirty="0" sz="1800" lang="en-US">
                <a:solidFill>
                  <a:srgbClr val="FFB627"/>
                </a:solidFill>
                <a:latin typeface="Courier New" pitchFamily="34" charset="0"/>
                <a:ea typeface="Courier New" pitchFamily="34" charset="-122"/>
                <a:cs typeface="Courier New" pitchFamily="34" charset="-120"/>
              </a:rPr>
              <a:t>A</a:t>
            </a:r>
            <a:endParaRPr dirty="0" sz="1800" lang="en-US"/>
          </a:p>
        </p:txBody>
      </p:sp>
      <p:sp>
        <p:nvSpPr>
          <p:cNvPr id="1048752" name="Shape 41"/>
          <p:cNvSpPr/>
          <p:nvPr/>
        </p:nvSpPr>
        <p:spPr>
          <a:xfrm>
            <a:off x="548640" y="2103120"/>
            <a:ext cx="5349240" cy="3977640"/>
          </a:xfrm>
          <a:prstGeom prst="rect"/>
          <a:solidFill>
            <a:srgbClr val="102C4C"/>
          </a:solidFill>
          <a:ln w="12700">
            <a:solidFill>
              <a:srgbClr val="3E6690"/>
            </a:solidFill>
            <a:prstDash val="dash"/>
          </a:ln>
        </p:spPr>
      </p:sp>
      <p:sp>
        <p:nvSpPr>
          <p:cNvPr id="1048753" name="Shape 42"/>
          <p:cNvSpPr/>
          <p:nvPr/>
        </p:nvSpPr>
        <p:spPr>
          <a:xfrm>
            <a:off x="868680" y="2468880"/>
            <a:ext cx="685800" cy="685800"/>
          </a:xfrm>
          <a:prstGeom prst="rect"/>
          <a:solidFill>
            <a:srgbClr val="FFB627"/>
          </a:solidFill>
          <a:ln w="12700">
            <a:solidFill>
              <a:srgbClr val="FFFFFF"/>
            </a:solidFill>
            <a:prstDash val="solid"/>
          </a:ln>
        </p:spPr>
      </p:sp>
      <p:pic>
        <p:nvPicPr>
          <p:cNvPr id="2097155" name="Image 0" descr="/home/claude/icons/layers.png"/>
          <p:cNvPicPr>
            <a:picLocks noChangeAspect="1"/>
          </p:cNvPicPr>
          <p:nvPr/>
        </p:nvPicPr>
        <p:blipFill>
          <a:blip xmlns:r="http://schemas.openxmlformats.org/officeDocument/2006/relationships" r:embed="rId1"/>
          <a:stretch>
            <a:fillRect/>
          </a:stretch>
        </p:blipFill>
        <p:spPr>
          <a:xfrm>
            <a:off x="1033272" y="2633472"/>
            <a:ext cx="356616" cy="356616"/>
          </a:xfrm>
          <a:prstGeom prst="rect"/>
        </p:spPr>
      </p:pic>
      <p:sp>
        <p:nvSpPr>
          <p:cNvPr id="1048754" name="Text 43"/>
          <p:cNvSpPr/>
          <p:nvPr/>
        </p:nvSpPr>
        <p:spPr>
          <a:xfrm>
            <a:off x="1783080" y="2487168"/>
            <a:ext cx="3794760" cy="320040"/>
          </a:xfrm>
          <a:prstGeom prst="rect"/>
          <a:noFill/>
        </p:spPr>
        <p:txBody>
          <a:bodyPr anchor="ctr" rtlCol="0" wrap="square"/>
          <a:p>
            <a:pPr indent="0" marL="0">
              <a:buNone/>
            </a:pPr>
            <a:r>
              <a:rPr b="1" dirty="0" sz="1300" kern="0" lang="en-US" spc="150">
                <a:solidFill>
                  <a:srgbClr val="8FD3FF"/>
                </a:solidFill>
                <a:latin typeface="Courier New" pitchFamily="34" charset="0"/>
                <a:ea typeface="Courier New" pitchFamily="34" charset="-122"/>
                <a:cs typeface="Courier New" pitchFamily="34" charset="-120"/>
              </a:rPr>
              <a:t>HIGH COHESION</a:t>
            </a:r>
            <a:endParaRPr dirty="0" sz="1300" lang="en-US"/>
          </a:p>
        </p:txBody>
      </p:sp>
      <p:sp>
        <p:nvSpPr>
          <p:cNvPr id="1048755" name="Text 44"/>
          <p:cNvSpPr/>
          <p:nvPr/>
        </p:nvSpPr>
        <p:spPr>
          <a:xfrm>
            <a:off x="1783080" y="2816352"/>
            <a:ext cx="3794760" cy="457200"/>
          </a:xfrm>
          <a:prstGeom prst="rect"/>
          <a:noFill/>
        </p:spPr>
        <p:txBody>
          <a:bodyPr anchor="ctr" rtlCol="0" wrap="square"/>
          <a:p>
            <a:pPr indent="0" marL="0">
              <a:buNone/>
            </a:pPr>
            <a:r>
              <a:rPr b="1" dirty="0" sz="1900" lang="en-US">
                <a:solidFill>
                  <a:srgbClr val="FFFFFF"/>
                </a:solidFill>
                <a:latin typeface="Arial" pitchFamily="34" charset="0"/>
                <a:ea typeface="Arial" pitchFamily="34" charset="-122"/>
                <a:cs typeface="Arial" pitchFamily="34" charset="-120"/>
              </a:rPr>
              <a:t>Single Responsibility Principle</a:t>
            </a:r>
            <a:endParaRPr dirty="0" sz="1900" lang="en-US"/>
          </a:p>
        </p:txBody>
      </p:sp>
      <p:sp>
        <p:nvSpPr>
          <p:cNvPr id="1048756" name="Shape 45"/>
          <p:cNvSpPr/>
          <p:nvPr/>
        </p:nvSpPr>
        <p:spPr>
          <a:xfrm>
            <a:off x="868680" y="3520440"/>
            <a:ext cx="4709160" cy="0"/>
          </a:xfrm>
          <a:prstGeom prst="line"/>
          <a:noFill/>
          <a:ln w="9525">
            <a:solidFill>
              <a:srgbClr val="3E6690"/>
            </a:solidFill>
            <a:prstDash val="solid"/>
          </a:ln>
        </p:spPr>
      </p:sp>
      <p:sp>
        <p:nvSpPr>
          <p:cNvPr id="1048757" name="Text 46"/>
          <p:cNvSpPr/>
          <p:nvPr/>
        </p:nvSpPr>
        <p:spPr>
          <a:xfrm>
            <a:off x="868680" y="3749040"/>
            <a:ext cx="4709160" cy="2103120"/>
          </a:xfrm>
          <a:prstGeom prst="rect"/>
          <a:noFill/>
        </p:spPr>
        <p:txBody>
          <a:bodyPr anchor="t" rtlCol="0" wrap="square"/>
          <a:p>
            <a:pPr indent="0" marL="0">
              <a:buNone/>
            </a:pPr>
            <a:r>
              <a:rPr dirty="0" sz="1500" lang="en-US">
                <a:solidFill>
                  <a:srgbClr val="9FB8D1"/>
                </a:solidFill>
                <a:latin typeface="Calibri" pitchFamily="34" charset="0"/>
                <a:ea typeface="Calibri" pitchFamily="34" charset="-122"/>
                <a:cs typeface="Calibri" pitchFamily="34" charset="-120"/>
              </a:rPr>
              <a:t>Each class has exactly one reason to change. Tax rules, receipt formatting, and data storage were pulled apart into their own classes.</a:t>
            </a:r>
            <a:endParaRPr dirty="0" sz="1500" lang="en-US"/>
          </a:p>
        </p:txBody>
      </p:sp>
      <p:sp>
        <p:nvSpPr>
          <p:cNvPr id="1048758" name="Shape 47"/>
          <p:cNvSpPr/>
          <p:nvPr/>
        </p:nvSpPr>
        <p:spPr>
          <a:xfrm>
            <a:off x="6007608" y="1847088"/>
            <a:ext cx="512064" cy="512064"/>
          </a:xfrm>
          <a:prstGeom prst="ellipse"/>
          <a:solidFill>
            <a:srgbClr val="06162A"/>
          </a:solidFill>
          <a:ln w="19050">
            <a:solidFill>
              <a:srgbClr val="FFB627"/>
            </a:solidFill>
            <a:prstDash val="solid"/>
          </a:ln>
        </p:spPr>
      </p:sp>
      <p:sp>
        <p:nvSpPr>
          <p:cNvPr id="1048759" name="Text 48"/>
          <p:cNvSpPr/>
          <p:nvPr/>
        </p:nvSpPr>
        <p:spPr>
          <a:xfrm>
            <a:off x="6007608" y="1847088"/>
            <a:ext cx="512064" cy="512064"/>
          </a:xfrm>
          <a:prstGeom prst="rect"/>
          <a:noFill/>
        </p:spPr>
        <p:txBody>
          <a:bodyPr anchor="ctr" rtlCol="0" wrap="square"/>
          <a:p>
            <a:pPr algn="ctr" indent="0" marL="0">
              <a:buNone/>
            </a:pPr>
            <a:r>
              <a:rPr b="1" dirty="0" sz="1800" lang="en-US">
                <a:solidFill>
                  <a:srgbClr val="FFB627"/>
                </a:solidFill>
                <a:latin typeface="Courier New" pitchFamily="34" charset="0"/>
                <a:ea typeface="Courier New" pitchFamily="34" charset="-122"/>
                <a:cs typeface="Courier New" pitchFamily="34" charset="-120"/>
              </a:rPr>
              <a:t>B</a:t>
            </a:r>
            <a:endParaRPr dirty="0" sz="1800" lang="en-US"/>
          </a:p>
        </p:txBody>
      </p:sp>
      <p:sp>
        <p:nvSpPr>
          <p:cNvPr id="1048760" name="Shape 49"/>
          <p:cNvSpPr/>
          <p:nvPr/>
        </p:nvSpPr>
        <p:spPr>
          <a:xfrm>
            <a:off x="6263640" y="2103120"/>
            <a:ext cx="5349240" cy="3977640"/>
          </a:xfrm>
          <a:prstGeom prst="rect"/>
          <a:solidFill>
            <a:srgbClr val="102C4C"/>
          </a:solidFill>
          <a:ln w="12700">
            <a:solidFill>
              <a:srgbClr val="3E6690"/>
            </a:solidFill>
            <a:prstDash val="dash"/>
          </a:ln>
        </p:spPr>
      </p:sp>
      <p:sp>
        <p:nvSpPr>
          <p:cNvPr id="1048761" name="Shape 50"/>
          <p:cNvSpPr/>
          <p:nvPr/>
        </p:nvSpPr>
        <p:spPr>
          <a:xfrm>
            <a:off x="6583680" y="2468880"/>
            <a:ext cx="685800" cy="685800"/>
          </a:xfrm>
          <a:prstGeom prst="rect"/>
          <a:solidFill>
            <a:srgbClr val="FFB627"/>
          </a:solidFill>
          <a:ln w="12700">
            <a:solidFill>
              <a:srgbClr val="FFFFFF"/>
            </a:solidFill>
            <a:prstDash val="solid"/>
          </a:ln>
        </p:spPr>
      </p:sp>
      <p:pic>
        <p:nvPicPr>
          <p:cNvPr id="2097156" name="Image 1" descr="/home/claude/icons/gitpull.png"/>
          <p:cNvPicPr>
            <a:picLocks noChangeAspect="1"/>
          </p:cNvPicPr>
          <p:nvPr/>
        </p:nvPicPr>
        <p:blipFill>
          <a:blip xmlns:r="http://schemas.openxmlformats.org/officeDocument/2006/relationships" r:embed="rId2"/>
          <a:stretch>
            <a:fillRect/>
          </a:stretch>
        </p:blipFill>
        <p:spPr>
          <a:xfrm>
            <a:off x="6748272" y="2633472"/>
            <a:ext cx="356616" cy="356616"/>
          </a:xfrm>
          <a:prstGeom prst="rect"/>
        </p:spPr>
      </p:pic>
      <p:sp>
        <p:nvSpPr>
          <p:cNvPr id="1048762" name="Text 51"/>
          <p:cNvSpPr/>
          <p:nvPr/>
        </p:nvSpPr>
        <p:spPr>
          <a:xfrm>
            <a:off x="7498080" y="2487168"/>
            <a:ext cx="3794760" cy="320040"/>
          </a:xfrm>
          <a:prstGeom prst="rect"/>
          <a:noFill/>
        </p:spPr>
        <p:txBody>
          <a:bodyPr anchor="ctr" rtlCol="0" wrap="square"/>
          <a:p>
            <a:pPr indent="0" marL="0">
              <a:buNone/>
            </a:pPr>
            <a:r>
              <a:rPr b="1" dirty="0" sz="1300" kern="0" lang="en-US" spc="150">
                <a:solidFill>
                  <a:srgbClr val="8FD3FF"/>
                </a:solidFill>
                <a:latin typeface="Courier New" pitchFamily="34" charset="0"/>
                <a:ea typeface="Courier New" pitchFamily="34" charset="-122"/>
                <a:cs typeface="Courier New" pitchFamily="34" charset="-120"/>
              </a:rPr>
              <a:t>LOW COUPLING</a:t>
            </a:r>
            <a:endParaRPr dirty="0" sz="1300" lang="en-US"/>
          </a:p>
        </p:txBody>
      </p:sp>
      <p:sp>
        <p:nvSpPr>
          <p:cNvPr id="1048763" name="Text 52"/>
          <p:cNvSpPr/>
          <p:nvPr/>
        </p:nvSpPr>
        <p:spPr>
          <a:xfrm>
            <a:off x="7498080" y="2816352"/>
            <a:ext cx="3794760" cy="457200"/>
          </a:xfrm>
          <a:prstGeom prst="rect"/>
          <a:noFill/>
        </p:spPr>
        <p:txBody>
          <a:bodyPr anchor="ctr" rtlCol="0" wrap="square"/>
          <a:p>
            <a:pPr indent="0" marL="0">
              <a:buNone/>
            </a:pPr>
            <a:r>
              <a:rPr b="1" dirty="0" sz="1900" lang="en-US">
                <a:solidFill>
                  <a:srgbClr val="FFFFFF"/>
                </a:solidFill>
                <a:latin typeface="Arial" pitchFamily="34" charset="0"/>
                <a:ea typeface="Arial" pitchFamily="34" charset="-122"/>
                <a:cs typeface="Arial" pitchFamily="34" charset="-120"/>
              </a:rPr>
              <a:t>Dependency Inversion</a:t>
            </a:r>
            <a:endParaRPr dirty="0" sz="1900" lang="en-US"/>
          </a:p>
        </p:txBody>
      </p:sp>
      <p:sp>
        <p:nvSpPr>
          <p:cNvPr id="1048764" name="Shape 53"/>
          <p:cNvSpPr/>
          <p:nvPr/>
        </p:nvSpPr>
        <p:spPr>
          <a:xfrm>
            <a:off x="6583680" y="3520440"/>
            <a:ext cx="4709160" cy="0"/>
          </a:xfrm>
          <a:prstGeom prst="line"/>
          <a:noFill/>
          <a:ln w="9525">
            <a:solidFill>
              <a:srgbClr val="3E6690"/>
            </a:solidFill>
            <a:prstDash val="solid"/>
          </a:ln>
        </p:spPr>
      </p:sp>
      <p:sp>
        <p:nvSpPr>
          <p:cNvPr id="1048765" name="Text 54"/>
          <p:cNvSpPr/>
          <p:nvPr/>
        </p:nvSpPr>
        <p:spPr>
          <a:xfrm>
            <a:off x="6583680" y="3749040"/>
            <a:ext cx="4709160" cy="2103120"/>
          </a:xfrm>
          <a:prstGeom prst="rect"/>
          <a:noFill/>
        </p:spPr>
        <p:txBody>
          <a:bodyPr anchor="t" rtlCol="0" wrap="square"/>
          <a:p>
            <a:pPr indent="0" marL="0">
              <a:buNone/>
            </a:pPr>
            <a:r>
              <a:rPr dirty="0" sz="1500" lang="en-US">
                <a:solidFill>
                  <a:srgbClr val="9FB8D1"/>
                </a:solidFill>
                <a:latin typeface="Calibri" pitchFamily="34" charset="0"/>
                <a:ea typeface="Calibri" pitchFamily="34" charset="-122"/>
                <a:cs typeface="Calibri" pitchFamily="34" charset="-120"/>
              </a:rPr>
              <a:t>OrderProcessor depends on TaxCalculator and OrderRepository interfaces, never on their concrete implementations. Details can change without touching orchestration.</a:t>
            </a:r>
            <a:endParaRPr dirty="0" sz="150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F38"/>
        </a:solidFill>
      </p:bgPr>
    </p:bg>
    <p:spTree>
      <p:nvGrpSpPr>
        <p:cNvPr id="26" name=""/>
        <p:cNvGrpSpPr/>
        <p:nvPr/>
      </p:nvGrpSpPr>
      <p:grpSpPr>
        <a:xfrm>
          <a:off x="0" y="0"/>
          <a:ext cx="0" cy="0"/>
          <a:chOff x="0" y="0"/>
          <a:chExt cx="0" cy="0"/>
        </a:xfrm>
      </p:grpSpPr>
      <p:sp>
        <p:nvSpPr>
          <p:cNvPr id="1048769" name="Shape 0"/>
          <p:cNvSpPr/>
          <p:nvPr/>
        </p:nvSpPr>
        <p:spPr>
          <a:xfrm>
            <a:off x="548640" y="0"/>
            <a:ext cx="0" cy="6858000"/>
          </a:xfrm>
          <a:prstGeom prst="line"/>
          <a:noFill/>
          <a:ln w="6350">
            <a:solidFill>
              <a:srgbClr val="1B3A5C"/>
            </a:solidFill>
            <a:prstDash val="solid"/>
          </a:ln>
        </p:spPr>
      </p:sp>
      <p:sp>
        <p:nvSpPr>
          <p:cNvPr id="1048770" name="Shape 1"/>
          <p:cNvSpPr/>
          <p:nvPr/>
        </p:nvSpPr>
        <p:spPr>
          <a:xfrm>
            <a:off x="1325880" y="0"/>
            <a:ext cx="0" cy="6858000"/>
          </a:xfrm>
          <a:prstGeom prst="line"/>
          <a:noFill/>
          <a:ln w="6350">
            <a:solidFill>
              <a:srgbClr val="1B3A5C"/>
            </a:solidFill>
            <a:prstDash val="solid"/>
          </a:ln>
        </p:spPr>
      </p:sp>
      <p:sp>
        <p:nvSpPr>
          <p:cNvPr id="1048771" name="Shape 2"/>
          <p:cNvSpPr/>
          <p:nvPr/>
        </p:nvSpPr>
        <p:spPr>
          <a:xfrm>
            <a:off x="2103120" y="0"/>
            <a:ext cx="0" cy="6858000"/>
          </a:xfrm>
          <a:prstGeom prst="line"/>
          <a:noFill/>
          <a:ln w="6350">
            <a:solidFill>
              <a:srgbClr val="1B3A5C"/>
            </a:solidFill>
            <a:prstDash val="solid"/>
          </a:ln>
        </p:spPr>
      </p:sp>
      <p:sp>
        <p:nvSpPr>
          <p:cNvPr id="1048772" name="Shape 3"/>
          <p:cNvSpPr/>
          <p:nvPr/>
        </p:nvSpPr>
        <p:spPr>
          <a:xfrm>
            <a:off x="2880360" y="0"/>
            <a:ext cx="0" cy="6858000"/>
          </a:xfrm>
          <a:prstGeom prst="line"/>
          <a:noFill/>
          <a:ln w="6350">
            <a:solidFill>
              <a:srgbClr val="1B3A5C"/>
            </a:solidFill>
            <a:prstDash val="solid"/>
          </a:ln>
        </p:spPr>
      </p:sp>
      <p:sp>
        <p:nvSpPr>
          <p:cNvPr id="1048773" name="Shape 4"/>
          <p:cNvSpPr/>
          <p:nvPr/>
        </p:nvSpPr>
        <p:spPr>
          <a:xfrm>
            <a:off x="3657600" y="0"/>
            <a:ext cx="0" cy="6858000"/>
          </a:xfrm>
          <a:prstGeom prst="line"/>
          <a:noFill/>
          <a:ln w="6350">
            <a:solidFill>
              <a:srgbClr val="1B3A5C"/>
            </a:solidFill>
            <a:prstDash val="solid"/>
          </a:ln>
        </p:spPr>
      </p:sp>
      <p:sp>
        <p:nvSpPr>
          <p:cNvPr id="1048774" name="Shape 5"/>
          <p:cNvSpPr/>
          <p:nvPr/>
        </p:nvSpPr>
        <p:spPr>
          <a:xfrm>
            <a:off x="4434840" y="0"/>
            <a:ext cx="0" cy="6858000"/>
          </a:xfrm>
          <a:prstGeom prst="line"/>
          <a:noFill/>
          <a:ln w="6350">
            <a:solidFill>
              <a:srgbClr val="1B3A5C"/>
            </a:solidFill>
            <a:prstDash val="solid"/>
          </a:ln>
        </p:spPr>
      </p:sp>
      <p:sp>
        <p:nvSpPr>
          <p:cNvPr id="1048775" name="Shape 6"/>
          <p:cNvSpPr/>
          <p:nvPr/>
        </p:nvSpPr>
        <p:spPr>
          <a:xfrm>
            <a:off x="5212080" y="0"/>
            <a:ext cx="0" cy="6858000"/>
          </a:xfrm>
          <a:prstGeom prst="line"/>
          <a:noFill/>
          <a:ln w="6350">
            <a:solidFill>
              <a:srgbClr val="1B3A5C"/>
            </a:solidFill>
            <a:prstDash val="solid"/>
          </a:ln>
        </p:spPr>
      </p:sp>
      <p:sp>
        <p:nvSpPr>
          <p:cNvPr id="1048776" name="Shape 7"/>
          <p:cNvSpPr/>
          <p:nvPr/>
        </p:nvSpPr>
        <p:spPr>
          <a:xfrm>
            <a:off x="5989320" y="0"/>
            <a:ext cx="0" cy="6858000"/>
          </a:xfrm>
          <a:prstGeom prst="line"/>
          <a:noFill/>
          <a:ln w="6350">
            <a:solidFill>
              <a:srgbClr val="1B3A5C"/>
            </a:solidFill>
            <a:prstDash val="solid"/>
          </a:ln>
        </p:spPr>
      </p:sp>
      <p:sp>
        <p:nvSpPr>
          <p:cNvPr id="1048777" name="Shape 8"/>
          <p:cNvSpPr/>
          <p:nvPr/>
        </p:nvSpPr>
        <p:spPr>
          <a:xfrm>
            <a:off x="6766560" y="0"/>
            <a:ext cx="0" cy="6858000"/>
          </a:xfrm>
          <a:prstGeom prst="line"/>
          <a:noFill/>
          <a:ln w="6350">
            <a:solidFill>
              <a:srgbClr val="1B3A5C"/>
            </a:solidFill>
            <a:prstDash val="solid"/>
          </a:ln>
        </p:spPr>
      </p:sp>
      <p:sp>
        <p:nvSpPr>
          <p:cNvPr id="1048778" name="Shape 9"/>
          <p:cNvSpPr/>
          <p:nvPr/>
        </p:nvSpPr>
        <p:spPr>
          <a:xfrm>
            <a:off x="7543800" y="0"/>
            <a:ext cx="0" cy="6858000"/>
          </a:xfrm>
          <a:prstGeom prst="line"/>
          <a:noFill/>
          <a:ln w="6350">
            <a:solidFill>
              <a:srgbClr val="1B3A5C"/>
            </a:solidFill>
            <a:prstDash val="solid"/>
          </a:ln>
        </p:spPr>
      </p:sp>
      <p:sp>
        <p:nvSpPr>
          <p:cNvPr id="1048779" name="Shape 10"/>
          <p:cNvSpPr/>
          <p:nvPr/>
        </p:nvSpPr>
        <p:spPr>
          <a:xfrm>
            <a:off x="8321040" y="0"/>
            <a:ext cx="0" cy="6858000"/>
          </a:xfrm>
          <a:prstGeom prst="line"/>
          <a:noFill/>
          <a:ln w="6350">
            <a:solidFill>
              <a:srgbClr val="1B3A5C"/>
            </a:solidFill>
            <a:prstDash val="solid"/>
          </a:ln>
        </p:spPr>
      </p:sp>
      <p:sp>
        <p:nvSpPr>
          <p:cNvPr id="1048780" name="Shape 11"/>
          <p:cNvSpPr/>
          <p:nvPr/>
        </p:nvSpPr>
        <p:spPr>
          <a:xfrm>
            <a:off x="9098280" y="0"/>
            <a:ext cx="0" cy="6858000"/>
          </a:xfrm>
          <a:prstGeom prst="line"/>
          <a:noFill/>
          <a:ln w="6350">
            <a:solidFill>
              <a:srgbClr val="1B3A5C"/>
            </a:solidFill>
            <a:prstDash val="solid"/>
          </a:ln>
        </p:spPr>
      </p:sp>
      <p:sp>
        <p:nvSpPr>
          <p:cNvPr id="1048781" name="Shape 12"/>
          <p:cNvSpPr/>
          <p:nvPr/>
        </p:nvSpPr>
        <p:spPr>
          <a:xfrm>
            <a:off x="9875520" y="0"/>
            <a:ext cx="0" cy="6858000"/>
          </a:xfrm>
          <a:prstGeom prst="line"/>
          <a:noFill/>
          <a:ln w="6350">
            <a:solidFill>
              <a:srgbClr val="1B3A5C"/>
            </a:solidFill>
            <a:prstDash val="solid"/>
          </a:ln>
        </p:spPr>
      </p:sp>
      <p:sp>
        <p:nvSpPr>
          <p:cNvPr id="1048782" name="Shape 13"/>
          <p:cNvSpPr/>
          <p:nvPr/>
        </p:nvSpPr>
        <p:spPr>
          <a:xfrm>
            <a:off x="10652760" y="0"/>
            <a:ext cx="0" cy="6858000"/>
          </a:xfrm>
          <a:prstGeom prst="line"/>
          <a:noFill/>
          <a:ln w="6350">
            <a:solidFill>
              <a:srgbClr val="1B3A5C"/>
            </a:solidFill>
            <a:prstDash val="solid"/>
          </a:ln>
        </p:spPr>
      </p:sp>
      <p:sp>
        <p:nvSpPr>
          <p:cNvPr id="1048783" name="Shape 14"/>
          <p:cNvSpPr/>
          <p:nvPr/>
        </p:nvSpPr>
        <p:spPr>
          <a:xfrm>
            <a:off x="11430000" y="0"/>
            <a:ext cx="0" cy="6858000"/>
          </a:xfrm>
          <a:prstGeom prst="line"/>
          <a:noFill/>
          <a:ln w="6350">
            <a:solidFill>
              <a:srgbClr val="1B3A5C"/>
            </a:solidFill>
            <a:prstDash val="solid"/>
          </a:ln>
        </p:spPr>
      </p:sp>
      <p:sp>
        <p:nvSpPr>
          <p:cNvPr id="1048784" name="Shape 15"/>
          <p:cNvSpPr/>
          <p:nvPr/>
        </p:nvSpPr>
        <p:spPr>
          <a:xfrm>
            <a:off x="0" y="548640"/>
            <a:ext cx="12191695" cy="0"/>
          </a:xfrm>
          <a:prstGeom prst="line"/>
          <a:noFill/>
          <a:ln w="6350">
            <a:solidFill>
              <a:srgbClr val="1B3A5C"/>
            </a:solidFill>
            <a:prstDash val="solid"/>
          </a:ln>
        </p:spPr>
      </p:sp>
      <p:sp>
        <p:nvSpPr>
          <p:cNvPr id="1048785" name="Shape 16"/>
          <p:cNvSpPr/>
          <p:nvPr/>
        </p:nvSpPr>
        <p:spPr>
          <a:xfrm>
            <a:off x="0" y="1325880"/>
            <a:ext cx="12191695" cy="0"/>
          </a:xfrm>
          <a:prstGeom prst="line"/>
          <a:noFill/>
          <a:ln w="6350">
            <a:solidFill>
              <a:srgbClr val="1B3A5C"/>
            </a:solidFill>
            <a:prstDash val="solid"/>
          </a:ln>
        </p:spPr>
      </p:sp>
      <p:sp>
        <p:nvSpPr>
          <p:cNvPr id="1048786" name="Shape 17"/>
          <p:cNvSpPr/>
          <p:nvPr/>
        </p:nvSpPr>
        <p:spPr>
          <a:xfrm>
            <a:off x="0" y="2103120"/>
            <a:ext cx="12191695" cy="0"/>
          </a:xfrm>
          <a:prstGeom prst="line"/>
          <a:noFill/>
          <a:ln w="6350">
            <a:solidFill>
              <a:srgbClr val="1B3A5C"/>
            </a:solidFill>
            <a:prstDash val="solid"/>
          </a:ln>
        </p:spPr>
      </p:sp>
      <p:sp>
        <p:nvSpPr>
          <p:cNvPr id="1048787" name="Shape 18"/>
          <p:cNvSpPr/>
          <p:nvPr/>
        </p:nvSpPr>
        <p:spPr>
          <a:xfrm>
            <a:off x="0" y="2880360"/>
            <a:ext cx="12191695" cy="0"/>
          </a:xfrm>
          <a:prstGeom prst="line"/>
          <a:noFill/>
          <a:ln w="6350">
            <a:solidFill>
              <a:srgbClr val="1B3A5C"/>
            </a:solidFill>
            <a:prstDash val="solid"/>
          </a:ln>
        </p:spPr>
      </p:sp>
      <p:sp>
        <p:nvSpPr>
          <p:cNvPr id="1048788" name="Shape 19"/>
          <p:cNvSpPr/>
          <p:nvPr/>
        </p:nvSpPr>
        <p:spPr>
          <a:xfrm>
            <a:off x="0" y="3657600"/>
            <a:ext cx="12191695" cy="0"/>
          </a:xfrm>
          <a:prstGeom prst="line"/>
          <a:noFill/>
          <a:ln w="6350">
            <a:solidFill>
              <a:srgbClr val="1B3A5C"/>
            </a:solidFill>
            <a:prstDash val="solid"/>
          </a:ln>
        </p:spPr>
      </p:sp>
      <p:sp>
        <p:nvSpPr>
          <p:cNvPr id="1048789" name="Shape 20"/>
          <p:cNvSpPr/>
          <p:nvPr/>
        </p:nvSpPr>
        <p:spPr>
          <a:xfrm>
            <a:off x="0" y="4434840"/>
            <a:ext cx="12191695" cy="0"/>
          </a:xfrm>
          <a:prstGeom prst="line"/>
          <a:noFill/>
          <a:ln w="6350">
            <a:solidFill>
              <a:srgbClr val="1B3A5C"/>
            </a:solidFill>
            <a:prstDash val="solid"/>
          </a:ln>
        </p:spPr>
      </p:sp>
      <p:sp>
        <p:nvSpPr>
          <p:cNvPr id="1048790" name="Shape 21"/>
          <p:cNvSpPr/>
          <p:nvPr/>
        </p:nvSpPr>
        <p:spPr>
          <a:xfrm>
            <a:off x="0" y="5212080"/>
            <a:ext cx="12191695" cy="0"/>
          </a:xfrm>
          <a:prstGeom prst="line"/>
          <a:noFill/>
          <a:ln w="6350">
            <a:solidFill>
              <a:srgbClr val="1B3A5C"/>
            </a:solidFill>
            <a:prstDash val="solid"/>
          </a:ln>
        </p:spPr>
      </p:sp>
      <p:sp>
        <p:nvSpPr>
          <p:cNvPr id="1048791" name="Shape 22"/>
          <p:cNvSpPr/>
          <p:nvPr/>
        </p:nvSpPr>
        <p:spPr>
          <a:xfrm>
            <a:off x="0" y="5989320"/>
            <a:ext cx="12191695" cy="0"/>
          </a:xfrm>
          <a:prstGeom prst="line"/>
          <a:noFill/>
          <a:ln w="6350">
            <a:solidFill>
              <a:srgbClr val="1B3A5C"/>
            </a:solidFill>
            <a:prstDash val="solid"/>
          </a:ln>
        </p:spPr>
      </p:sp>
      <p:sp>
        <p:nvSpPr>
          <p:cNvPr id="1048792" name="Shape 23"/>
          <p:cNvSpPr/>
          <p:nvPr/>
        </p:nvSpPr>
        <p:spPr>
          <a:xfrm>
            <a:off x="0" y="6766560"/>
            <a:ext cx="12191695" cy="0"/>
          </a:xfrm>
          <a:prstGeom prst="line"/>
          <a:noFill/>
          <a:ln w="6350">
            <a:solidFill>
              <a:srgbClr val="1B3A5C"/>
            </a:solidFill>
            <a:prstDash val="solid"/>
          </a:ln>
        </p:spPr>
      </p:sp>
      <p:sp>
        <p:nvSpPr>
          <p:cNvPr id="1048793" name="Shape 24"/>
          <p:cNvSpPr/>
          <p:nvPr/>
        </p:nvSpPr>
        <p:spPr>
          <a:xfrm>
            <a:off x="201168" y="201168"/>
            <a:ext cx="11789359" cy="6455664"/>
          </a:xfrm>
          <a:prstGeom prst="rect"/>
          <a:ln w="15875">
            <a:solidFill>
              <a:srgbClr val="3E6690"/>
            </a:solidFill>
            <a:prstDash val="solid"/>
          </a:ln>
        </p:spPr>
      </p:sp>
      <p:sp>
        <p:nvSpPr>
          <p:cNvPr id="1048794" name="Shape 25"/>
          <p:cNvSpPr/>
          <p:nvPr/>
        </p:nvSpPr>
        <p:spPr>
          <a:xfrm>
            <a:off x="320040" y="320040"/>
            <a:ext cx="384048" cy="0"/>
          </a:xfrm>
          <a:prstGeom prst="line"/>
          <a:noFill/>
          <a:ln w="25400">
            <a:solidFill>
              <a:srgbClr val="6EC6FF"/>
            </a:solidFill>
            <a:prstDash val="solid"/>
          </a:ln>
        </p:spPr>
      </p:sp>
      <p:sp>
        <p:nvSpPr>
          <p:cNvPr id="1048795" name="Shape 26"/>
          <p:cNvSpPr/>
          <p:nvPr/>
        </p:nvSpPr>
        <p:spPr>
          <a:xfrm>
            <a:off x="320040" y="320040"/>
            <a:ext cx="0" cy="384048"/>
          </a:xfrm>
          <a:prstGeom prst="line"/>
          <a:noFill/>
          <a:ln w="25400">
            <a:solidFill>
              <a:srgbClr val="6EC6FF"/>
            </a:solidFill>
            <a:prstDash val="solid"/>
          </a:ln>
        </p:spPr>
      </p:sp>
      <p:sp>
        <p:nvSpPr>
          <p:cNvPr id="1048796" name="Shape 27"/>
          <p:cNvSpPr/>
          <p:nvPr/>
        </p:nvSpPr>
        <p:spPr>
          <a:xfrm>
            <a:off x="11487607" y="320040"/>
            <a:ext cx="384048" cy="0"/>
          </a:xfrm>
          <a:prstGeom prst="line"/>
          <a:noFill/>
          <a:ln w="25400">
            <a:solidFill>
              <a:srgbClr val="6EC6FF"/>
            </a:solidFill>
            <a:prstDash val="solid"/>
          </a:ln>
        </p:spPr>
      </p:sp>
      <p:sp>
        <p:nvSpPr>
          <p:cNvPr id="1048797" name="Shape 28"/>
          <p:cNvSpPr/>
          <p:nvPr/>
        </p:nvSpPr>
        <p:spPr>
          <a:xfrm>
            <a:off x="11871655" y="320040"/>
            <a:ext cx="0" cy="384048"/>
          </a:xfrm>
          <a:prstGeom prst="line"/>
          <a:noFill/>
          <a:ln w="25400">
            <a:solidFill>
              <a:srgbClr val="6EC6FF"/>
            </a:solidFill>
            <a:prstDash val="solid"/>
          </a:ln>
        </p:spPr>
      </p:sp>
      <p:sp>
        <p:nvSpPr>
          <p:cNvPr id="1048798" name="Shape 29"/>
          <p:cNvSpPr/>
          <p:nvPr/>
        </p:nvSpPr>
        <p:spPr>
          <a:xfrm>
            <a:off x="320040" y="6537960"/>
            <a:ext cx="384048" cy="0"/>
          </a:xfrm>
          <a:prstGeom prst="line"/>
          <a:noFill/>
          <a:ln w="25400">
            <a:solidFill>
              <a:srgbClr val="6EC6FF"/>
            </a:solidFill>
            <a:prstDash val="solid"/>
          </a:ln>
        </p:spPr>
      </p:sp>
      <p:sp>
        <p:nvSpPr>
          <p:cNvPr id="1048799" name="Shape 30"/>
          <p:cNvSpPr/>
          <p:nvPr/>
        </p:nvSpPr>
        <p:spPr>
          <a:xfrm>
            <a:off x="320040" y="6153912"/>
            <a:ext cx="0" cy="384048"/>
          </a:xfrm>
          <a:prstGeom prst="line"/>
          <a:noFill/>
          <a:ln w="25400">
            <a:solidFill>
              <a:srgbClr val="6EC6FF"/>
            </a:solidFill>
            <a:prstDash val="solid"/>
          </a:ln>
        </p:spPr>
      </p:sp>
      <p:sp>
        <p:nvSpPr>
          <p:cNvPr id="1048800" name="Shape 31"/>
          <p:cNvSpPr/>
          <p:nvPr/>
        </p:nvSpPr>
        <p:spPr>
          <a:xfrm>
            <a:off x="11487607" y="6537960"/>
            <a:ext cx="384048" cy="0"/>
          </a:xfrm>
          <a:prstGeom prst="line"/>
          <a:noFill/>
          <a:ln w="25400">
            <a:solidFill>
              <a:srgbClr val="6EC6FF"/>
            </a:solidFill>
            <a:prstDash val="solid"/>
          </a:ln>
        </p:spPr>
      </p:sp>
      <p:sp>
        <p:nvSpPr>
          <p:cNvPr id="1048801" name="Shape 32"/>
          <p:cNvSpPr/>
          <p:nvPr/>
        </p:nvSpPr>
        <p:spPr>
          <a:xfrm>
            <a:off x="11871655" y="6153912"/>
            <a:ext cx="0" cy="384048"/>
          </a:xfrm>
          <a:prstGeom prst="line"/>
          <a:noFill/>
          <a:ln w="25400">
            <a:solidFill>
              <a:srgbClr val="6EC6FF"/>
            </a:solidFill>
            <a:prstDash val="solid"/>
          </a:ln>
        </p:spPr>
      </p:sp>
      <p:sp>
        <p:nvSpPr>
          <p:cNvPr id="1048802" name="Text 33"/>
          <p:cNvSpPr/>
          <p:nvPr/>
        </p:nvSpPr>
        <p:spPr>
          <a:xfrm>
            <a:off x="9265615" y="6400800"/>
            <a:ext cx="2651760" cy="274320"/>
          </a:xfrm>
          <a:prstGeom prst="rect"/>
          <a:noFill/>
        </p:spPr>
        <p:txBody>
          <a:bodyPr anchor="ctr" rtlCol="0" wrap="square"/>
          <a:p>
            <a:pPr algn="r" indent="0" marL="0">
              <a:buNone/>
            </a:pPr>
            <a:r>
              <a:rPr dirty="0" sz="900" kern="0" lang="en-US" spc="100">
                <a:solidFill>
                  <a:srgbClr val="9FB8D1"/>
                </a:solidFill>
                <a:latin typeface="Courier New" pitchFamily="34" charset="0"/>
                <a:ea typeface="Courier New" pitchFamily="34" charset="-122"/>
                <a:cs typeface="Courier New" pitchFamily="34" charset="-120"/>
              </a:rPr>
              <a:t>CS / SHEET 4 OF 12</a:t>
            </a:r>
            <a:endParaRPr dirty="0" sz="900" lang="en-US"/>
          </a:p>
        </p:txBody>
      </p:sp>
      <p:sp>
        <p:nvSpPr>
          <p:cNvPr id="1048803" name="Text 34"/>
          <p:cNvSpPr/>
          <p:nvPr/>
        </p:nvSpPr>
        <p:spPr>
          <a:xfrm>
            <a:off x="411480" y="6400800"/>
            <a:ext cx="5486400" cy="274320"/>
          </a:xfrm>
          <a:prstGeom prst="rect"/>
          <a:noFill/>
        </p:spPr>
        <p:txBody>
          <a:bodyPr anchor="ctr" rtlCol="0" wrap="square"/>
          <a:p>
            <a:pPr indent="0" marL="0">
              <a:buNone/>
            </a:pPr>
            <a:r>
              <a:rPr dirty="0" sz="900" kern="0" lang="en-US" spc="100">
                <a:solidFill>
                  <a:srgbClr val="9FB8D1"/>
                </a:solidFill>
                <a:latin typeface="Courier New" pitchFamily="34" charset="0"/>
                <a:ea typeface="Courier New" pitchFamily="34" charset="-122"/>
                <a:cs typeface="Courier New" pitchFamily="34" charset="-120"/>
              </a:rPr>
              <a:t>COFFEE SHOP ORDER PROCESSOR — REFACTORING</a:t>
            </a:r>
            <a:endParaRPr dirty="0" sz="900" lang="en-US"/>
          </a:p>
        </p:txBody>
      </p:sp>
      <p:sp>
        <p:nvSpPr>
          <p:cNvPr id="1048804" name="Shape 35"/>
          <p:cNvSpPr/>
          <p:nvPr/>
        </p:nvSpPr>
        <p:spPr>
          <a:xfrm>
            <a:off x="548640" y="502920"/>
            <a:ext cx="2926080" cy="292608"/>
          </a:xfrm>
          <a:prstGeom prst="rect"/>
          <a:solidFill>
            <a:srgbClr val="06162A"/>
          </a:solidFill>
          <a:ln w="12700">
            <a:solidFill>
              <a:srgbClr val="8FD3FF"/>
            </a:solidFill>
            <a:prstDash val="solid"/>
          </a:ln>
        </p:spPr>
      </p:sp>
      <p:sp>
        <p:nvSpPr>
          <p:cNvPr id="1048805" name="Text 36"/>
          <p:cNvSpPr/>
          <p:nvPr/>
        </p:nvSpPr>
        <p:spPr>
          <a:xfrm>
            <a:off x="548640" y="502920"/>
            <a:ext cx="2926080" cy="292608"/>
          </a:xfrm>
          <a:prstGeom prst="rect"/>
          <a:noFill/>
        </p:spPr>
        <p:txBody>
          <a:bodyPr anchor="ctr" rtlCol="0" wrap="square"/>
          <a:p>
            <a:pPr algn="ctr" indent="0" marL="0">
              <a:buNone/>
            </a:pPr>
            <a:r>
              <a:rPr b="1" dirty="0" sz="1050" kern="0" lang="en-US" spc="100">
                <a:solidFill>
                  <a:srgbClr val="8FD3FF"/>
                </a:solidFill>
                <a:latin typeface="Courier New" pitchFamily="34" charset="0"/>
                <a:ea typeface="Courier New" pitchFamily="34" charset="-122"/>
                <a:cs typeface="Courier New" pitchFamily="34" charset="-120"/>
              </a:rPr>
              <a:t>SHEET 04 — SCHEMATIC</a:t>
            </a:r>
            <a:endParaRPr dirty="0" sz="1050" lang="en-US"/>
          </a:p>
        </p:txBody>
      </p:sp>
      <p:sp>
        <p:nvSpPr>
          <p:cNvPr id="1048806" name="Text 37"/>
          <p:cNvSpPr/>
          <p:nvPr/>
        </p:nvSpPr>
        <p:spPr>
          <a:xfrm>
            <a:off x="548640" y="914400"/>
            <a:ext cx="10058400" cy="548640"/>
          </a:xfrm>
          <a:prstGeom prst="rect"/>
          <a:noFill/>
        </p:spPr>
        <p:txBody>
          <a:bodyPr anchor="ctr" rtlCol="0" wrap="square"/>
          <a:p>
            <a:pPr indent="0" marL="0">
              <a:buNone/>
            </a:pPr>
            <a:r>
              <a:rPr b="1" dirty="0" sz="2800" lang="en-US">
                <a:solidFill>
                  <a:srgbClr val="FFFFFF"/>
                </a:solidFill>
                <a:latin typeface="Arial" pitchFamily="34" charset="0"/>
                <a:ea typeface="Arial" pitchFamily="34" charset="-122"/>
                <a:cs typeface="Arial" pitchFamily="34" charset="-120"/>
              </a:rPr>
              <a:t>The New Architecture</a:t>
            </a:r>
            <a:endParaRPr dirty="0" sz="2800" lang="en-US"/>
          </a:p>
        </p:txBody>
      </p:sp>
      <p:sp>
        <p:nvSpPr>
          <p:cNvPr id="1048807" name="Text 38"/>
          <p:cNvSpPr/>
          <p:nvPr/>
        </p:nvSpPr>
        <p:spPr>
          <a:xfrm>
            <a:off x="548640" y="1417320"/>
            <a:ext cx="10972800" cy="365760"/>
          </a:xfrm>
          <a:prstGeom prst="rect"/>
          <a:noFill/>
        </p:spPr>
        <p:txBody>
          <a:bodyPr anchor="ctr" rtlCol="0" wrap="square"/>
          <a:p>
            <a:pPr indent="0" marL="0">
              <a:buNone/>
            </a:pPr>
            <a:r>
              <a:rPr dirty="0" sz="1400" i="1" lang="en-US">
                <a:solidFill>
                  <a:srgbClr val="9FB8D1"/>
                </a:solidFill>
                <a:latin typeface="Calibri" pitchFamily="34" charset="0"/>
                <a:ea typeface="Calibri" pitchFamily="34" charset="-122"/>
                <a:cs typeface="Calibri" pitchFamily="34" charset="-120"/>
              </a:rPr>
              <a:t>OrderProcessor orchestrates through interfaces, never concrete classes</a:t>
            </a:r>
            <a:endParaRPr dirty="0" sz="1400" lang="en-US"/>
          </a:p>
        </p:txBody>
      </p:sp>
      <p:sp>
        <p:nvSpPr>
          <p:cNvPr id="1048808" name="Shape 39"/>
          <p:cNvSpPr/>
          <p:nvPr/>
        </p:nvSpPr>
        <p:spPr>
          <a:xfrm>
            <a:off x="4632808" y="1965960"/>
            <a:ext cx="2926080" cy="731520"/>
          </a:xfrm>
          <a:prstGeom prst="rect"/>
          <a:solidFill>
            <a:srgbClr val="06162A"/>
          </a:solidFill>
          <a:ln w="19050">
            <a:solidFill>
              <a:srgbClr val="FFB627"/>
            </a:solidFill>
            <a:prstDash val="solid"/>
          </a:ln>
        </p:spPr>
      </p:sp>
      <p:sp>
        <p:nvSpPr>
          <p:cNvPr id="1048809" name="Text 40"/>
          <p:cNvSpPr/>
          <p:nvPr/>
        </p:nvSpPr>
        <p:spPr>
          <a:xfrm>
            <a:off x="4632808" y="2011680"/>
            <a:ext cx="2926080" cy="640080"/>
          </a:xfrm>
          <a:prstGeom prst="rect"/>
          <a:noFill/>
        </p:spPr>
        <p:txBody>
          <a:bodyPr anchor="ctr" rtlCol="0" wrap="square"/>
          <a:p>
            <a:pPr algn="ctr" indent="0" marL="0">
              <a:buNone/>
            </a:pPr>
            <a:r>
              <a:rPr b="1" dirty="0" sz="1500" lang="en-US">
                <a:solidFill>
                  <a:srgbClr val="FFFFFF"/>
                </a:solidFill>
                <a:latin typeface="Courier New" pitchFamily="34" charset="0"/>
                <a:ea typeface="Courier New" pitchFamily="34" charset="-122"/>
                <a:cs typeface="Courier New" pitchFamily="34" charset="-120"/>
              </a:rPr>
              <a:t>OrderProcessor
</a:t>
            </a:r>
            <a:r>
              <a:rPr dirty="0" sz="1000" lang="en-US">
                <a:solidFill>
                  <a:srgbClr val="FFB627"/>
                </a:solidFill>
                <a:latin typeface="Courier New" pitchFamily="34" charset="0"/>
                <a:ea typeface="Courier New" pitchFamily="34" charset="-122"/>
                <a:cs typeface="Courier New" pitchFamily="34" charset="-120"/>
              </a:rPr>
              <a:t>orchestrator</a:t>
            </a:r>
            <a:endParaRPr dirty="0" sz="1500" lang="en-US"/>
          </a:p>
        </p:txBody>
      </p:sp>
      <p:sp>
        <p:nvSpPr>
          <p:cNvPr id="1048810" name="Shape 41"/>
          <p:cNvSpPr/>
          <p:nvPr/>
        </p:nvSpPr>
        <p:spPr>
          <a:xfrm>
            <a:off x="6095848" y="2697480"/>
            <a:ext cx="0" cy="274320"/>
          </a:xfrm>
          <a:prstGeom prst="line"/>
          <a:noFill/>
          <a:ln w="19050">
            <a:solidFill>
              <a:srgbClr val="6EC6FF"/>
            </a:solidFill>
            <a:prstDash val="solid"/>
          </a:ln>
        </p:spPr>
      </p:sp>
      <p:sp>
        <p:nvSpPr>
          <p:cNvPr id="1048811" name="Shape 42"/>
          <p:cNvSpPr/>
          <p:nvPr/>
        </p:nvSpPr>
        <p:spPr>
          <a:xfrm>
            <a:off x="2483968" y="2971800"/>
            <a:ext cx="3611880" cy="0"/>
          </a:xfrm>
          <a:prstGeom prst="line"/>
          <a:noFill/>
          <a:ln w="19050">
            <a:solidFill>
              <a:srgbClr val="6EC6FF"/>
            </a:solidFill>
            <a:prstDash val="solid"/>
          </a:ln>
        </p:spPr>
      </p:sp>
      <p:sp>
        <p:nvSpPr>
          <p:cNvPr id="1048812" name="Shape 43"/>
          <p:cNvSpPr/>
          <p:nvPr/>
        </p:nvSpPr>
        <p:spPr>
          <a:xfrm>
            <a:off x="2483968" y="2971800"/>
            <a:ext cx="0" cy="274320"/>
          </a:xfrm>
          <a:prstGeom prst="line"/>
          <a:noFill/>
          <a:ln w="19050">
            <a:solidFill>
              <a:srgbClr val="6EC6FF"/>
            </a:solidFill>
            <a:prstDash val="solid"/>
            <a:tailEnd type="triangle"/>
          </a:ln>
        </p:spPr>
      </p:sp>
      <p:sp>
        <p:nvSpPr>
          <p:cNvPr id="1048813" name="Shape 44"/>
          <p:cNvSpPr/>
          <p:nvPr/>
        </p:nvSpPr>
        <p:spPr>
          <a:xfrm>
            <a:off x="838048" y="3246120"/>
            <a:ext cx="3291840" cy="777240"/>
          </a:xfrm>
          <a:prstGeom prst="rect"/>
          <a:solidFill>
            <a:srgbClr val="0D253F"/>
          </a:solidFill>
          <a:ln w="12700">
            <a:solidFill>
              <a:srgbClr val="6EC6FF"/>
            </a:solidFill>
            <a:prstDash val="solid"/>
          </a:ln>
        </p:spPr>
      </p:sp>
      <p:sp>
        <p:nvSpPr>
          <p:cNvPr id="1048814" name="Text 45"/>
          <p:cNvSpPr/>
          <p:nvPr/>
        </p:nvSpPr>
        <p:spPr>
          <a:xfrm>
            <a:off x="838048" y="3319272"/>
            <a:ext cx="3291840" cy="365760"/>
          </a:xfrm>
          <a:prstGeom prst="rect"/>
          <a:noFill/>
        </p:spPr>
        <p:txBody>
          <a:bodyPr anchor="ctr" rtlCol="0" wrap="square"/>
          <a:p>
            <a:pPr algn="ctr" indent="0" marL="0">
              <a:buNone/>
            </a:pPr>
            <a:r>
              <a:rPr b="1" dirty="0" sz="1450" lang="en-US">
                <a:solidFill>
                  <a:srgbClr val="FFFFFF"/>
                </a:solidFill>
                <a:latin typeface="Courier New" pitchFamily="34" charset="0"/>
                <a:ea typeface="Courier New" pitchFamily="34" charset="-122"/>
                <a:cs typeface="Courier New" pitchFamily="34" charset="-120"/>
              </a:rPr>
              <a:t>TaxCalculator</a:t>
            </a:r>
            <a:endParaRPr dirty="0" sz="1450" lang="en-US"/>
          </a:p>
        </p:txBody>
      </p:sp>
      <p:sp>
        <p:nvSpPr>
          <p:cNvPr id="1048815" name="Text 46"/>
          <p:cNvSpPr/>
          <p:nvPr/>
        </p:nvSpPr>
        <p:spPr>
          <a:xfrm>
            <a:off x="838048" y="3685032"/>
            <a:ext cx="3291840" cy="274320"/>
          </a:xfrm>
          <a:prstGeom prst="rect"/>
          <a:noFill/>
        </p:spPr>
        <p:txBody>
          <a:bodyPr anchor="ctr" rtlCol="0" wrap="square"/>
          <a:p>
            <a:pPr algn="ctr" indent="0" marL="0">
              <a:buNone/>
            </a:pPr>
            <a:r>
              <a:rPr dirty="0" sz="1050" lang="en-US">
                <a:solidFill>
                  <a:srgbClr val="8FD3FF"/>
                </a:solidFill>
                <a:latin typeface="Courier New" pitchFamily="34" charset="0"/>
                <a:ea typeface="Courier New" pitchFamily="34" charset="-122"/>
                <a:cs typeface="Courier New" pitchFamily="34" charset="-120"/>
              </a:rPr>
              <a:t>«interface»</a:t>
            </a:r>
            <a:endParaRPr dirty="0" sz="1050" lang="en-US"/>
          </a:p>
        </p:txBody>
      </p:sp>
      <p:sp>
        <p:nvSpPr>
          <p:cNvPr id="1048816" name="Shape 47"/>
          <p:cNvSpPr/>
          <p:nvPr/>
        </p:nvSpPr>
        <p:spPr>
          <a:xfrm>
            <a:off x="2483968" y="4023360"/>
            <a:ext cx="0" cy="292608"/>
          </a:xfrm>
          <a:prstGeom prst="line"/>
          <a:noFill/>
          <a:ln w="19050">
            <a:solidFill>
              <a:srgbClr val="3E6690"/>
            </a:solidFill>
            <a:prstDash val="solid"/>
            <a:tailEnd type="triangle"/>
          </a:ln>
        </p:spPr>
      </p:sp>
      <p:sp>
        <p:nvSpPr>
          <p:cNvPr id="1048817" name="Shape 48"/>
          <p:cNvSpPr/>
          <p:nvPr/>
        </p:nvSpPr>
        <p:spPr>
          <a:xfrm>
            <a:off x="838048" y="4315968"/>
            <a:ext cx="3291840" cy="960120"/>
          </a:xfrm>
          <a:prstGeom prst="rect"/>
          <a:solidFill>
            <a:srgbClr val="06162A"/>
          </a:solidFill>
          <a:ln w="12700">
            <a:solidFill>
              <a:srgbClr val="3E6690"/>
            </a:solidFill>
            <a:prstDash val="solid"/>
          </a:ln>
        </p:spPr>
      </p:sp>
      <p:sp>
        <p:nvSpPr>
          <p:cNvPr id="1048818" name="Text 49"/>
          <p:cNvSpPr/>
          <p:nvPr/>
        </p:nvSpPr>
        <p:spPr>
          <a:xfrm>
            <a:off x="975208" y="4389120"/>
            <a:ext cx="3017520" cy="411480"/>
          </a:xfrm>
          <a:prstGeom prst="rect"/>
          <a:noFill/>
        </p:spPr>
        <p:txBody>
          <a:bodyPr anchor="ctr" rtlCol="0" wrap="square"/>
          <a:p>
            <a:pPr indent="0" marL="0">
              <a:buNone/>
            </a:pPr>
            <a:r>
              <a:rPr b="1" dirty="0" sz="1300" lang="en-US">
                <a:solidFill>
                  <a:srgbClr val="FFB627"/>
                </a:solidFill>
                <a:latin typeface="Courier New" pitchFamily="34" charset="0"/>
                <a:ea typeface="Courier New" pitchFamily="34" charset="-122"/>
                <a:cs typeface="Courier New" pitchFamily="34" charset="-120"/>
              </a:rPr>
              <a:t>StandardTaxCalculator</a:t>
            </a:r>
            <a:endParaRPr dirty="0" sz="1300" lang="en-US"/>
          </a:p>
        </p:txBody>
      </p:sp>
      <p:sp>
        <p:nvSpPr>
          <p:cNvPr id="1048819" name="Text 50"/>
          <p:cNvSpPr/>
          <p:nvPr/>
        </p:nvSpPr>
        <p:spPr>
          <a:xfrm>
            <a:off x="975208" y="4791456"/>
            <a:ext cx="3017520" cy="411480"/>
          </a:xfrm>
          <a:prstGeom prst="rect"/>
          <a:noFill/>
        </p:spPr>
        <p:txBody>
          <a:bodyPr anchor="ctr" rtlCol="0" wrap="square"/>
          <a:p>
            <a:pPr indent="0" marL="0">
              <a:buNone/>
            </a:pPr>
            <a:r>
              <a:rPr dirty="0" sz="1050" lang="en-US">
                <a:solidFill>
                  <a:srgbClr val="9FB8D1"/>
                </a:solidFill>
                <a:latin typeface="Calibri" pitchFamily="34" charset="0"/>
                <a:ea typeface="Calibri" pitchFamily="34" charset="-122"/>
                <a:cs typeface="Calibri" pitchFamily="34" charset="-120"/>
              </a:rPr>
              <a:t>Applies 12% VAT to a base price</a:t>
            </a:r>
            <a:endParaRPr dirty="0" sz="1050" lang="en-US"/>
          </a:p>
        </p:txBody>
      </p:sp>
      <p:sp>
        <p:nvSpPr>
          <p:cNvPr id="1048820" name="Shape 51"/>
          <p:cNvSpPr/>
          <p:nvPr/>
        </p:nvSpPr>
        <p:spPr>
          <a:xfrm>
            <a:off x="6095848" y="2697480"/>
            <a:ext cx="0" cy="274320"/>
          </a:xfrm>
          <a:prstGeom prst="line"/>
          <a:noFill/>
          <a:ln w="19050">
            <a:solidFill>
              <a:srgbClr val="6EC6FF"/>
            </a:solidFill>
            <a:prstDash val="solid"/>
          </a:ln>
        </p:spPr>
      </p:sp>
      <p:sp>
        <p:nvSpPr>
          <p:cNvPr id="1048821" name="Shape 52"/>
          <p:cNvSpPr/>
          <p:nvPr/>
        </p:nvSpPr>
        <p:spPr>
          <a:xfrm>
            <a:off x="6095848" y="2971800"/>
            <a:ext cx="0" cy="0"/>
          </a:xfrm>
          <a:prstGeom prst="line"/>
          <a:noFill/>
          <a:ln w="19050">
            <a:solidFill>
              <a:srgbClr val="6EC6FF"/>
            </a:solidFill>
            <a:prstDash val="solid"/>
          </a:ln>
        </p:spPr>
      </p:sp>
      <p:sp>
        <p:nvSpPr>
          <p:cNvPr id="1048822" name="Shape 53"/>
          <p:cNvSpPr/>
          <p:nvPr/>
        </p:nvSpPr>
        <p:spPr>
          <a:xfrm>
            <a:off x="6095848" y="2971800"/>
            <a:ext cx="0" cy="274320"/>
          </a:xfrm>
          <a:prstGeom prst="line"/>
          <a:noFill/>
          <a:ln w="19050">
            <a:solidFill>
              <a:srgbClr val="6EC6FF"/>
            </a:solidFill>
            <a:prstDash val="solid"/>
            <a:tailEnd type="triangle"/>
          </a:ln>
        </p:spPr>
      </p:sp>
      <p:sp>
        <p:nvSpPr>
          <p:cNvPr id="1048823" name="Shape 54"/>
          <p:cNvSpPr/>
          <p:nvPr/>
        </p:nvSpPr>
        <p:spPr>
          <a:xfrm>
            <a:off x="4449928" y="3246120"/>
            <a:ext cx="3291840" cy="777240"/>
          </a:xfrm>
          <a:prstGeom prst="rect"/>
          <a:solidFill>
            <a:srgbClr val="0D253F"/>
          </a:solidFill>
          <a:ln w="12700">
            <a:solidFill>
              <a:srgbClr val="6EC6FF"/>
            </a:solidFill>
            <a:prstDash val="solid"/>
          </a:ln>
        </p:spPr>
      </p:sp>
      <p:sp>
        <p:nvSpPr>
          <p:cNvPr id="1048824" name="Text 55"/>
          <p:cNvSpPr/>
          <p:nvPr/>
        </p:nvSpPr>
        <p:spPr>
          <a:xfrm>
            <a:off x="4449928" y="3319272"/>
            <a:ext cx="3291840" cy="365760"/>
          </a:xfrm>
          <a:prstGeom prst="rect"/>
          <a:noFill/>
        </p:spPr>
        <p:txBody>
          <a:bodyPr anchor="ctr" rtlCol="0" wrap="square"/>
          <a:p>
            <a:pPr algn="ctr" indent="0" marL="0">
              <a:buNone/>
            </a:pPr>
            <a:r>
              <a:rPr b="1" dirty="0" sz="1450" lang="en-US">
                <a:solidFill>
                  <a:srgbClr val="FFFFFF"/>
                </a:solidFill>
                <a:latin typeface="Courier New" pitchFamily="34" charset="0"/>
                <a:ea typeface="Courier New" pitchFamily="34" charset="-122"/>
                <a:cs typeface="Courier New" pitchFamily="34" charset="-120"/>
              </a:rPr>
              <a:t>ReceiptFormatter</a:t>
            </a:r>
            <a:endParaRPr dirty="0" sz="1450" lang="en-US"/>
          </a:p>
        </p:txBody>
      </p:sp>
      <p:sp>
        <p:nvSpPr>
          <p:cNvPr id="1048825" name="Text 56"/>
          <p:cNvSpPr/>
          <p:nvPr/>
        </p:nvSpPr>
        <p:spPr>
          <a:xfrm>
            <a:off x="4449928" y="3685032"/>
            <a:ext cx="3291840" cy="274320"/>
          </a:xfrm>
          <a:prstGeom prst="rect"/>
          <a:noFill/>
        </p:spPr>
        <p:txBody>
          <a:bodyPr anchor="ctr" rtlCol="0" wrap="square"/>
          <a:p>
            <a:pPr algn="ctr" indent="0" marL="0">
              <a:buNone/>
            </a:pPr>
            <a:r>
              <a:rPr dirty="0" sz="1050" lang="en-US">
                <a:solidFill>
                  <a:srgbClr val="8FD3FF"/>
                </a:solidFill>
                <a:latin typeface="Courier New" pitchFamily="34" charset="0"/>
                <a:ea typeface="Courier New" pitchFamily="34" charset="-122"/>
                <a:cs typeface="Courier New" pitchFamily="34" charset="-120"/>
              </a:rPr>
              <a:t>«concrete class»</a:t>
            </a:r>
            <a:endParaRPr dirty="0" sz="1050" lang="en-US"/>
          </a:p>
        </p:txBody>
      </p:sp>
      <p:sp>
        <p:nvSpPr>
          <p:cNvPr id="1048826" name="Shape 57"/>
          <p:cNvSpPr/>
          <p:nvPr/>
        </p:nvSpPr>
        <p:spPr>
          <a:xfrm>
            <a:off x="6095848" y="4023360"/>
            <a:ext cx="0" cy="292608"/>
          </a:xfrm>
          <a:prstGeom prst="line"/>
          <a:noFill/>
          <a:ln w="19050">
            <a:solidFill>
              <a:srgbClr val="3E6690"/>
            </a:solidFill>
            <a:prstDash val="solid"/>
            <a:tailEnd type="triangle"/>
          </a:ln>
        </p:spPr>
      </p:sp>
      <p:sp>
        <p:nvSpPr>
          <p:cNvPr id="1048827" name="Shape 58"/>
          <p:cNvSpPr/>
          <p:nvPr/>
        </p:nvSpPr>
        <p:spPr>
          <a:xfrm>
            <a:off x="4449928" y="4315968"/>
            <a:ext cx="3291840" cy="685800"/>
          </a:xfrm>
          <a:prstGeom prst="rect"/>
          <a:solidFill>
            <a:srgbClr val="06162A"/>
          </a:solidFill>
          <a:ln w="12700">
            <a:solidFill>
              <a:srgbClr val="3E6690"/>
            </a:solidFill>
            <a:prstDash val="solid"/>
          </a:ln>
        </p:spPr>
      </p:sp>
      <p:sp>
        <p:nvSpPr>
          <p:cNvPr id="1048828" name="Text 59"/>
          <p:cNvSpPr/>
          <p:nvPr/>
        </p:nvSpPr>
        <p:spPr>
          <a:xfrm>
            <a:off x="4587088" y="4389120"/>
            <a:ext cx="3017520" cy="411480"/>
          </a:xfrm>
          <a:prstGeom prst="rect"/>
          <a:noFill/>
        </p:spPr>
        <p:txBody>
          <a:bodyPr anchor="ctr" rtlCol="0" wrap="square"/>
          <a:p>
            <a:pPr indent="0" marL="0">
              <a:buNone/>
            </a:pPr>
            <a:r>
              <a:rPr b="1" dirty="0" sz="1300" lang="en-US">
                <a:solidFill>
                  <a:srgbClr val="FFB627"/>
                </a:solidFill>
                <a:latin typeface="Courier New" pitchFamily="34" charset="0"/>
                <a:ea typeface="Courier New" pitchFamily="34" charset="-122"/>
                <a:cs typeface="Courier New" pitchFamily="34" charset="-120"/>
              </a:rPr>
              <a:t>Builds the printed receipt string</a:t>
            </a:r>
            <a:endParaRPr dirty="0" sz="1300" lang="en-US"/>
          </a:p>
        </p:txBody>
      </p:sp>
      <p:sp>
        <p:nvSpPr>
          <p:cNvPr id="1048829" name="Shape 60"/>
          <p:cNvSpPr/>
          <p:nvPr/>
        </p:nvSpPr>
        <p:spPr>
          <a:xfrm>
            <a:off x="6095848" y="2697480"/>
            <a:ext cx="0" cy="274320"/>
          </a:xfrm>
          <a:prstGeom prst="line"/>
          <a:noFill/>
          <a:ln w="19050">
            <a:solidFill>
              <a:srgbClr val="6EC6FF"/>
            </a:solidFill>
            <a:prstDash val="solid"/>
          </a:ln>
        </p:spPr>
      </p:sp>
      <p:sp>
        <p:nvSpPr>
          <p:cNvPr id="1048830" name="Shape 61"/>
          <p:cNvSpPr/>
          <p:nvPr/>
        </p:nvSpPr>
        <p:spPr>
          <a:xfrm>
            <a:off x="6095848" y="2971800"/>
            <a:ext cx="3611880" cy="0"/>
          </a:xfrm>
          <a:prstGeom prst="line"/>
          <a:noFill/>
          <a:ln w="19050">
            <a:solidFill>
              <a:srgbClr val="6EC6FF"/>
            </a:solidFill>
            <a:prstDash val="solid"/>
          </a:ln>
        </p:spPr>
      </p:sp>
      <p:sp>
        <p:nvSpPr>
          <p:cNvPr id="1048831" name="Shape 62"/>
          <p:cNvSpPr/>
          <p:nvPr/>
        </p:nvSpPr>
        <p:spPr>
          <a:xfrm>
            <a:off x="9707728" y="2971800"/>
            <a:ext cx="0" cy="274320"/>
          </a:xfrm>
          <a:prstGeom prst="line"/>
          <a:noFill/>
          <a:ln w="19050">
            <a:solidFill>
              <a:srgbClr val="6EC6FF"/>
            </a:solidFill>
            <a:prstDash val="solid"/>
            <a:tailEnd type="triangle"/>
          </a:ln>
        </p:spPr>
      </p:sp>
      <p:sp>
        <p:nvSpPr>
          <p:cNvPr id="1048832" name="Shape 63"/>
          <p:cNvSpPr/>
          <p:nvPr/>
        </p:nvSpPr>
        <p:spPr>
          <a:xfrm>
            <a:off x="8061808" y="3246120"/>
            <a:ext cx="3291840" cy="777240"/>
          </a:xfrm>
          <a:prstGeom prst="rect"/>
          <a:solidFill>
            <a:srgbClr val="0D253F"/>
          </a:solidFill>
          <a:ln w="12700">
            <a:solidFill>
              <a:srgbClr val="6EC6FF"/>
            </a:solidFill>
            <a:prstDash val="solid"/>
          </a:ln>
        </p:spPr>
      </p:sp>
      <p:sp>
        <p:nvSpPr>
          <p:cNvPr id="1048833" name="Text 64"/>
          <p:cNvSpPr/>
          <p:nvPr/>
        </p:nvSpPr>
        <p:spPr>
          <a:xfrm>
            <a:off x="8061808" y="3319272"/>
            <a:ext cx="3291840" cy="365760"/>
          </a:xfrm>
          <a:prstGeom prst="rect"/>
          <a:noFill/>
        </p:spPr>
        <p:txBody>
          <a:bodyPr anchor="ctr" rtlCol="0" wrap="square"/>
          <a:p>
            <a:pPr algn="ctr" indent="0" marL="0">
              <a:buNone/>
            </a:pPr>
            <a:r>
              <a:rPr b="1" dirty="0" sz="1450" lang="en-US">
                <a:solidFill>
                  <a:srgbClr val="FFFFFF"/>
                </a:solidFill>
                <a:latin typeface="Courier New" pitchFamily="34" charset="0"/>
                <a:ea typeface="Courier New" pitchFamily="34" charset="-122"/>
                <a:cs typeface="Courier New" pitchFamily="34" charset="-120"/>
              </a:rPr>
              <a:t>OrderRepository</a:t>
            </a:r>
            <a:endParaRPr dirty="0" sz="1450" lang="en-US"/>
          </a:p>
        </p:txBody>
      </p:sp>
      <p:sp>
        <p:nvSpPr>
          <p:cNvPr id="1048834" name="Text 65"/>
          <p:cNvSpPr/>
          <p:nvPr/>
        </p:nvSpPr>
        <p:spPr>
          <a:xfrm>
            <a:off x="8061808" y="3685032"/>
            <a:ext cx="3291840" cy="274320"/>
          </a:xfrm>
          <a:prstGeom prst="rect"/>
          <a:noFill/>
        </p:spPr>
        <p:txBody>
          <a:bodyPr anchor="ctr" rtlCol="0" wrap="square"/>
          <a:p>
            <a:pPr algn="ctr" indent="0" marL="0">
              <a:buNone/>
            </a:pPr>
            <a:r>
              <a:rPr dirty="0" sz="1050" lang="en-US">
                <a:solidFill>
                  <a:srgbClr val="8FD3FF"/>
                </a:solidFill>
                <a:latin typeface="Courier New" pitchFamily="34" charset="0"/>
                <a:ea typeface="Courier New" pitchFamily="34" charset="-122"/>
                <a:cs typeface="Courier New" pitchFamily="34" charset="-120"/>
              </a:rPr>
              <a:t>«interface»</a:t>
            </a:r>
            <a:endParaRPr dirty="0" sz="1050" lang="en-US"/>
          </a:p>
        </p:txBody>
      </p:sp>
      <p:sp>
        <p:nvSpPr>
          <p:cNvPr id="1048835" name="Shape 66"/>
          <p:cNvSpPr/>
          <p:nvPr/>
        </p:nvSpPr>
        <p:spPr>
          <a:xfrm>
            <a:off x="9707728" y="4023360"/>
            <a:ext cx="0" cy="292608"/>
          </a:xfrm>
          <a:prstGeom prst="line"/>
          <a:noFill/>
          <a:ln w="19050">
            <a:solidFill>
              <a:srgbClr val="3E6690"/>
            </a:solidFill>
            <a:prstDash val="solid"/>
            <a:tailEnd type="triangle"/>
          </a:ln>
        </p:spPr>
      </p:sp>
      <p:sp>
        <p:nvSpPr>
          <p:cNvPr id="1048836" name="Shape 67"/>
          <p:cNvSpPr/>
          <p:nvPr/>
        </p:nvSpPr>
        <p:spPr>
          <a:xfrm>
            <a:off x="8061808" y="4315968"/>
            <a:ext cx="3291840" cy="960120"/>
          </a:xfrm>
          <a:prstGeom prst="rect"/>
          <a:solidFill>
            <a:srgbClr val="06162A"/>
          </a:solidFill>
          <a:ln w="12700">
            <a:solidFill>
              <a:srgbClr val="3E6690"/>
            </a:solidFill>
            <a:prstDash val="solid"/>
          </a:ln>
        </p:spPr>
      </p:sp>
      <p:sp>
        <p:nvSpPr>
          <p:cNvPr id="1048837" name="Text 68"/>
          <p:cNvSpPr/>
          <p:nvPr/>
        </p:nvSpPr>
        <p:spPr>
          <a:xfrm>
            <a:off x="8198968" y="4389120"/>
            <a:ext cx="3017520" cy="411480"/>
          </a:xfrm>
          <a:prstGeom prst="rect"/>
          <a:noFill/>
        </p:spPr>
        <p:txBody>
          <a:bodyPr anchor="ctr" rtlCol="0" wrap="square"/>
          <a:p>
            <a:pPr indent="0" marL="0">
              <a:buNone/>
            </a:pPr>
            <a:r>
              <a:rPr b="1" dirty="0" sz="1300" lang="en-US">
                <a:solidFill>
                  <a:srgbClr val="FFB627"/>
                </a:solidFill>
                <a:latin typeface="Courier New" pitchFamily="34" charset="0"/>
                <a:ea typeface="Courier New" pitchFamily="34" charset="-122"/>
                <a:cs typeface="Courier New" pitchFamily="34" charset="-120"/>
              </a:rPr>
              <a:t>FileOrderRepository</a:t>
            </a:r>
            <a:endParaRPr dirty="0" sz="1300" lang="en-US"/>
          </a:p>
        </p:txBody>
      </p:sp>
      <p:sp>
        <p:nvSpPr>
          <p:cNvPr id="1048838" name="Text 69"/>
          <p:cNvSpPr/>
          <p:nvPr/>
        </p:nvSpPr>
        <p:spPr>
          <a:xfrm>
            <a:off x="8198968" y="4791456"/>
            <a:ext cx="3017520" cy="411480"/>
          </a:xfrm>
          <a:prstGeom prst="rect"/>
          <a:noFill/>
        </p:spPr>
        <p:txBody>
          <a:bodyPr anchor="ctr" rtlCol="0" wrap="square"/>
          <a:p>
            <a:pPr indent="0" marL="0">
              <a:buNone/>
            </a:pPr>
            <a:r>
              <a:rPr dirty="0" sz="1050" lang="en-US">
                <a:solidFill>
                  <a:srgbClr val="9FB8D1"/>
                </a:solidFill>
                <a:latin typeface="Calibri" pitchFamily="34" charset="0"/>
                <a:ea typeface="Calibri" pitchFamily="34" charset="-122"/>
                <a:cs typeface="Calibri" pitchFamily="34" charset="-120"/>
              </a:rPr>
              <a:t>Writes the transaction to orders_log.txt</a:t>
            </a:r>
            <a:endParaRPr dirty="0" sz="1050" lang="en-US"/>
          </a:p>
        </p:txBody>
      </p:sp>
      <p:sp>
        <p:nvSpPr>
          <p:cNvPr id="1048839" name="Shape 70"/>
          <p:cNvSpPr/>
          <p:nvPr/>
        </p:nvSpPr>
        <p:spPr>
          <a:xfrm>
            <a:off x="838048" y="5623560"/>
            <a:ext cx="10515600" cy="640080"/>
          </a:xfrm>
          <a:prstGeom prst="rect"/>
          <a:solidFill>
            <a:srgbClr val="06162A"/>
          </a:solidFill>
          <a:ln w="15875">
            <a:solidFill>
              <a:srgbClr val="FFB627"/>
            </a:solidFill>
            <a:prstDash val="solid"/>
          </a:ln>
        </p:spPr>
      </p:sp>
      <p:sp>
        <p:nvSpPr>
          <p:cNvPr id="1048840" name="Text 71"/>
          <p:cNvSpPr/>
          <p:nvPr/>
        </p:nvSpPr>
        <p:spPr>
          <a:xfrm>
            <a:off x="1066648" y="5623560"/>
            <a:ext cx="10058400" cy="640080"/>
          </a:xfrm>
          <a:prstGeom prst="rect"/>
          <a:noFill/>
        </p:spPr>
        <p:txBody>
          <a:bodyPr anchor="ctr" rtlCol="0" wrap="square"/>
          <a:p>
            <a:pPr indent="0" marL="0">
              <a:buNone/>
            </a:pPr>
            <a:r>
              <a:rPr b="1" dirty="0" sz="1300" lang="en-US">
                <a:solidFill>
                  <a:srgbClr val="FFB627"/>
                </a:solidFill>
                <a:latin typeface="Courier New" pitchFamily="34" charset="0"/>
                <a:ea typeface="Courier New" pitchFamily="34" charset="-122"/>
                <a:cs typeface="Courier New" pitchFamily="34" charset="-120"/>
              </a:rPr>
              <a:t>Main  </a:t>
            </a:r>
            <a:r>
              <a:rPr b="1" dirty="0" sz="1050" lang="en-US">
                <a:solidFill>
                  <a:srgbClr val="8FD3FF"/>
                </a:solidFill>
                <a:latin typeface="Courier New" pitchFamily="34" charset="0"/>
                <a:ea typeface="Courier New" pitchFamily="34" charset="-122"/>
                <a:cs typeface="Courier New" pitchFamily="34" charset="-120"/>
              </a:rPr>
              <a:t>COMPOSITION ROOT — </a:t>
            </a:r>
            <a:r>
              <a:rPr dirty="0" sz="1100" lang="en-US">
                <a:solidFill>
                  <a:srgbClr val="9FB8D1"/>
                </a:solidFill>
                <a:latin typeface="Calibri" pitchFamily="34" charset="0"/>
                <a:ea typeface="Calibri" pitchFamily="34" charset="-122"/>
                <a:cs typeface="Calibri" pitchFamily="34" charset="-120"/>
              </a:rPr>
              <a:t>the only class that knows every concrete type; it builds implementations and hands them to OrderProcessor through its constructor.</a:t>
            </a:r>
            <a:endParaRPr dirty="0" sz="130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F38"/>
        </a:solidFill>
      </p:bgPr>
    </p:bg>
    <p:spTree>
      <p:nvGrpSpPr>
        <p:cNvPr id="29" name=""/>
        <p:cNvGrpSpPr/>
        <p:nvPr/>
      </p:nvGrpSpPr>
      <p:grpSpPr>
        <a:xfrm>
          <a:off x="0" y="0"/>
          <a:ext cx="0" cy="0"/>
          <a:chOff x="0" y="0"/>
          <a:chExt cx="0" cy="0"/>
        </a:xfrm>
      </p:grpSpPr>
      <p:sp>
        <p:nvSpPr>
          <p:cNvPr id="1048844" name="Shape 0"/>
          <p:cNvSpPr/>
          <p:nvPr/>
        </p:nvSpPr>
        <p:spPr>
          <a:xfrm>
            <a:off x="548640" y="0"/>
            <a:ext cx="0" cy="6858000"/>
          </a:xfrm>
          <a:prstGeom prst="line"/>
          <a:noFill/>
          <a:ln w="6350">
            <a:solidFill>
              <a:srgbClr val="1B3A5C"/>
            </a:solidFill>
            <a:prstDash val="solid"/>
          </a:ln>
        </p:spPr>
      </p:sp>
      <p:sp>
        <p:nvSpPr>
          <p:cNvPr id="1048845" name="Shape 1"/>
          <p:cNvSpPr/>
          <p:nvPr/>
        </p:nvSpPr>
        <p:spPr>
          <a:xfrm>
            <a:off x="1325880" y="0"/>
            <a:ext cx="0" cy="6858000"/>
          </a:xfrm>
          <a:prstGeom prst="line"/>
          <a:noFill/>
          <a:ln w="6350">
            <a:solidFill>
              <a:srgbClr val="1B3A5C"/>
            </a:solidFill>
            <a:prstDash val="solid"/>
          </a:ln>
        </p:spPr>
      </p:sp>
      <p:sp>
        <p:nvSpPr>
          <p:cNvPr id="1048846" name="Shape 2"/>
          <p:cNvSpPr/>
          <p:nvPr/>
        </p:nvSpPr>
        <p:spPr>
          <a:xfrm>
            <a:off x="2103120" y="0"/>
            <a:ext cx="0" cy="6858000"/>
          </a:xfrm>
          <a:prstGeom prst="line"/>
          <a:noFill/>
          <a:ln w="6350">
            <a:solidFill>
              <a:srgbClr val="1B3A5C"/>
            </a:solidFill>
            <a:prstDash val="solid"/>
          </a:ln>
        </p:spPr>
      </p:sp>
      <p:sp>
        <p:nvSpPr>
          <p:cNvPr id="1048847" name="Shape 3"/>
          <p:cNvSpPr/>
          <p:nvPr/>
        </p:nvSpPr>
        <p:spPr>
          <a:xfrm>
            <a:off x="2880360" y="0"/>
            <a:ext cx="0" cy="6858000"/>
          </a:xfrm>
          <a:prstGeom prst="line"/>
          <a:noFill/>
          <a:ln w="6350">
            <a:solidFill>
              <a:srgbClr val="1B3A5C"/>
            </a:solidFill>
            <a:prstDash val="solid"/>
          </a:ln>
        </p:spPr>
      </p:sp>
      <p:sp>
        <p:nvSpPr>
          <p:cNvPr id="1048848" name="Shape 4"/>
          <p:cNvSpPr/>
          <p:nvPr/>
        </p:nvSpPr>
        <p:spPr>
          <a:xfrm>
            <a:off x="3657600" y="0"/>
            <a:ext cx="0" cy="6858000"/>
          </a:xfrm>
          <a:prstGeom prst="line"/>
          <a:noFill/>
          <a:ln w="6350">
            <a:solidFill>
              <a:srgbClr val="1B3A5C"/>
            </a:solidFill>
            <a:prstDash val="solid"/>
          </a:ln>
        </p:spPr>
      </p:sp>
      <p:sp>
        <p:nvSpPr>
          <p:cNvPr id="1048849" name="Shape 5"/>
          <p:cNvSpPr/>
          <p:nvPr/>
        </p:nvSpPr>
        <p:spPr>
          <a:xfrm>
            <a:off x="4434840" y="0"/>
            <a:ext cx="0" cy="6858000"/>
          </a:xfrm>
          <a:prstGeom prst="line"/>
          <a:noFill/>
          <a:ln w="6350">
            <a:solidFill>
              <a:srgbClr val="1B3A5C"/>
            </a:solidFill>
            <a:prstDash val="solid"/>
          </a:ln>
        </p:spPr>
      </p:sp>
      <p:sp>
        <p:nvSpPr>
          <p:cNvPr id="1048850" name="Shape 6"/>
          <p:cNvSpPr/>
          <p:nvPr/>
        </p:nvSpPr>
        <p:spPr>
          <a:xfrm>
            <a:off x="5212080" y="0"/>
            <a:ext cx="0" cy="6858000"/>
          </a:xfrm>
          <a:prstGeom prst="line"/>
          <a:noFill/>
          <a:ln w="6350">
            <a:solidFill>
              <a:srgbClr val="1B3A5C"/>
            </a:solidFill>
            <a:prstDash val="solid"/>
          </a:ln>
        </p:spPr>
      </p:sp>
      <p:sp>
        <p:nvSpPr>
          <p:cNvPr id="1048851" name="Shape 7"/>
          <p:cNvSpPr/>
          <p:nvPr/>
        </p:nvSpPr>
        <p:spPr>
          <a:xfrm>
            <a:off x="5989320" y="0"/>
            <a:ext cx="0" cy="6858000"/>
          </a:xfrm>
          <a:prstGeom prst="line"/>
          <a:noFill/>
          <a:ln w="6350">
            <a:solidFill>
              <a:srgbClr val="1B3A5C"/>
            </a:solidFill>
            <a:prstDash val="solid"/>
          </a:ln>
        </p:spPr>
      </p:sp>
      <p:sp>
        <p:nvSpPr>
          <p:cNvPr id="1048852" name="Shape 8"/>
          <p:cNvSpPr/>
          <p:nvPr/>
        </p:nvSpPr>
        <p:spPr>
          <a:xfrm>
            <a:off x="6766560" y="0"/>
            <a:ext cx="0" cy="6858000"/>
          </a:xfrm>
          <a:prstGeom prst="line"/>
          <a:noFill/>
          <a:ln w="6350">
            <a:solidFill>
              <a:srgbClr val="1B3A5C"/>
            </a:solidFill>
            <a:prstDash val="solid"/>
          </a:ln>
        </p:spPr>
      </p:sp>
      <p:sp>
        <p:nvSpPr>
          <p:cNvPr id="1048853" name="Shape 9"/>
          <p:cNvSpPr/>
          <p:nvPr/>
        </p:nvSpPr>
        <p:spPr>
          <a:xfrm>
            <a:off x="7543800" y="0"/>
            <a:ext cx="0" cy="6858000"/>
          </a:xfrm>
          <a:prstGeom prst="line"/>
          <a:noFill/>
          <a:ln w="6350">
            <a:solidFill>
              <a:srgbClr val="1B3A5C"/>
            </a:solidFill>
            <a:prstDash val="solid"/>
          </a:ln>
        </p:spPr>
      </p:sp>
      <p:sp>
        <p:nvSpPr>
          <p:cNvPr id="1048854" name="Shape 10"/>
          <p:cNvSpPr/>
          <p:nvPr/>
        </p:nvSpPr>
        <p:spPr>
          <a:xfrm>
            <a:off x="8321040" y="0"/>
            <a:ext cx="0" cy="6858000"/>
          </a:xfrm>
          <a:prstGeom prst="line"/>
          <a:noFill/>
          <a:ln w="6350">
            <a:solidFill>
              <a:srgbClr val="1B3A5C"/>
            </a:solidFill>
            <a:prstDash val="solid"/>
          </a:ln>
        </p:spPr>
      </p:sp>
      <p:sp>
        <p:nvSpPr>
          <p:cNvPr id="1048855" name="Shape 11"/>
          <p:cNvSpPr/>
          <p:nvPr/>
        </p:nvSpPr>
        <p:spPr>
          <a:xfrm>
            <a:off x="9098280" y="0"/>
            <a:ext cx="0" cy="6858000"/>
          </a:xfrm>
          <a:prstGeom prst="line"/>
          <a:noFill/>
          <a:ln w="6350">
            <a:solidFill>
              <a:srgbClr val="1B3A5C"/>
            </a:solidFill>
            <a:prstDash val="solid"/>
          </a:ln>
        </p:spPr>
      </p:sp>
      <p:sp>
        <p:nvSpPr>
          <p:cNvPr id="1048856" name="Shape 12"/>
          <p:cNvSpPr/>
          <p:nvPr/>
        </p:nvSpPr>
        <p:spPr>
          <a:xfrm>
            <a:off x="9875520" y="0"/>
            <a:ext cx="0" cy="6858000"/>
          </a:xfrm>
          <a:prstGeom prst="line"/>
          <a:noFill/>
          <a:ln w="6350">
            <a:solidFill>
              <a:srgbClr val="1B3A5C"/>
            </a:solidFill>
            <a:prstDash val="solid"/>
          </a:ln>
        </p:spPr>
      </p:sp>
      <p:sp>
        <p:nvSpPr>
          <p:cNvPr id="1048857" name="Shape 13"/>
          <p:cNvSpPr/>
          <p:nvPr/>
        </p:nvSpPr>
        <p:spPr>
          <a:xfrm>
            <a:off x="10652760" y="0"/>
            <a:ext cx="0" cy="6858000"/>
          </a:xfrm>
          <a:prstGeom prst="line"/>
          <a:noFill/>
          <a:ln w="6350">
            <a:solidFill>
              <a:srgbClr val="1B3A5C"/>
            </a:solidFill>
            <a:prstDash val="solid"/>
          </a:ln>
        </p:spPr>
      </p:sp>
      <p:sp>
        <p:nvSpPr>
          <p:cNvPr id="1048858" name="Shape 14"/>
          <p:cNvSpPr/>
          <p:nvPr/>
        </p:nvSpPr>
        <p:spPr>
          <a:xfrm>
            <a:off x="11430000" y="0"/>
            <a:ext cx="0" cy="6858000"/>
          </a:xfrm>
          <a:prstGeom prst="line"/>
          <a:noFill/>
          <a:ln w="6350">
            <a:solidFill>
              <a:srgbClr val="1B3A5C"/>
            </a:solidFill>
            <a:prstDash val="solid"/>
          </a:ln>
        </p:spPr>
      </p:sp>
      <p:sp>
        <p:nvSpPr>
          <p:cNvPr id="1048859" name="Shape 15"/>
          <p:cNvSpPr/>
          <p:nvPr/>
        </p:nvSpPr>
        <p:spPr>
          <a:xfrm>
            <a:off x="0" y="548640"/>
            <a:ext cx="12191695" cy="0"/>
          </a:xfrm>
          <a:prstGeom prst="line"/>
          <a:noFill/>
          <a:ln w="6350">
            <a:solidFill>
              <a:srgbClr val="1B3A5C"/>
            </a:solidFill>
            <a:prstDash val="solid"/>
          </a:ln>
        </p:spPr>
      </p:sp>
      <p:sp>
        <p:nvSpPr>
          <p:cNvPr id="1048860" name="Shape 16"/>
          <p:cNvSpPr/>
          <p:nvPr/>
        </p:nvSpPr>
        <p:spPr>
          <a:xfrm>
            <a:off x="0" y="1325880"/>
            <a:ext cx="12191695" cy="0"/>
          </a:xfrm>
          <a:prstGeom prst="line"/>
          <a:noFill/>
          <a:ln w="6350">
            <a:solidFill>
              <a:srgbClr val="1B3A5C"/>
            </a:solidFill>
            <a:prstDash val="solid"/>
          </a:ln>
        </p:spPr>
      </p:sp>
      <p:sp>
        <p:nvSpPr>
          <p:cNvPr id="1048861" name="Shape 17"/>
          <p:cNvSpPr/>
          <p:nvPr/>
        </p:nvSpPr>
        <p:spPr>
          <a:xfrm>
            <a:off x="0" y="2103120"/>
            <a:ext cx="12191695" cy="0"/>
          </a:xfrm>
          <a:prstGeom prst="line"/>
          <a:noFill/>
          <a:ln w="6350">
            <a:solidFill>
              <a:srgbClr val="1B3A5C"/>
            </a:solidFill>
            <a:prstDash val="solid"/>
          </a:ln>
        </p:spPr>
      </p:sp>
      <p:sp>
        <p:nvSpPr>
          <p:cNvPr id="1048862" name="Shape 18"/>
          <p:cNvSpPr/>
          <p:nvPr/>
        </p:nvSpPr>
        <p:spPr>
          <a:xfrm>
            <a:off x="0" y="2880360"/>
            <a:ext cx="12191695" cy="0"/>
          </a:xfrm>
          <a:prstGeom prst="line"/>
          <a:noFill/>
          <a:ln w="6350">
            <a:solidFill>
              <a:srgbClr val="1B3A5C"/>
            </a:solidFill>
            <a:prstDash val="solid"/>
          </a:ln>
        </p:spPr>
      </p:sp>
      <p:sp>
        <p:nvSpPr>
          <p:cNvPr id="1048863" name="Shape 19"/>
          <p:cNvSpPr/>
          <p:nvPr/>
        </p:nvSpPr>
        <p:spPr>
          <a:xfrm>
            <a:off x="0" y="3657600"/>
            <a:ext cx="12191695" cy="0"/>
          </a:xfrm>
          <a:prstGeom prst="line"/>
          <a:noFill/>
          <a:ln w="6350">
            <a:solidFill>
              <a:srgbClr val="1B3A5C"/>
            </a:solidFill>
            <a:prstDash val="solid"/>
          </a:ln>
        </p:spPr>
      </p:sp>
      <p:sp>
        <p:nvSpPr>
          <p:cNvPr id="1048864" name="Shape 20"/>
          <p:cNvSpPr/>
          <p:nvPr/>
        </p:nvSpPr>
        <p:spPr>
          <a:xfrm>
            <a:off x="0" y="4434840"/>
            <a:ext cx="12191695" cy="0"/>
          </a:xfrm>
          <a:prstGeom prst="line"/>
          <a:noFill/>
          <a:ln w="6350">
            <a:solidFill>
              <a:srgbClr val="1B3A5C"/>
            </a:solidFill>
            <a:prstDash val="solid"/>
          </a:ln>
        </p:spPr>
      </p:sp>
      <p:sp>
        <p:nvSpPr>
          <p:cNvPr id="1048865" name="Shape 21"/>
          <p:cNvSpPr/>
          <p:nvPr/>
        </p:nvSpPr>
        <p:spPr>
          <a:xfrm>
            <a:off x="0" y="5212080"/>
            <a:ext cx="12191695" cy="0"/>
          </a:xfrm>
          <a:prstGeom prst="line"/>
          <a:noFill/>
          <a:ln w="6350">
            <a:solidFill>
              <a:srgbClr val="1B3A5C"/>
            </a:solidFill>
            <a:prstDash val="solid"/>
          </a:ln>
        </p:spPr>
      </p:sp>
      <p:sp>
        <p:nvSpPr>
          <p:cNvPr id="1048866" name="Shape 22"/>
          <p:cNvSpPr/>
          <p:nvPr/>
        </p:nvSpPr>
        <p:spPr>
          <a:xfrm>
            <a:off x="0" y="5989320"/>
            <a:ext cx="12191695" cy="0"/>
          </a:xfrm>
          <a:prstGeom prst="line"/>
          <a:noFill/>
          <a:ln w="6350">
            <a:solidFill>
              <a:srgbClr val="1B3A5C"/>
            </a:solidFill>
            <a:prstDash val="solid"/>
          </a:ln>
        </p:spPr>
      </p:sp>
      <p:sp>
        <p:nvSpPr>
          <p:cNvPr id="1048867" name="Shape 23"/>
          <p:cNvSpPr/>
          <p:nvPr/>
        </p:nvSpPr>
        <p:spPr>
          <a:xfrm>
            <a:off x="0" y="6766560"/>
            <a:ext cx="12191695" cy="0"/>
          </a:xfrm>
          <a:prstGeom prst="line"/>
          <a:noFill/>
          <a:ln w="6350">
            <a:solidFill>
              <a:srgbClr val="1B3A5C"/>
            </a:solidFill>
            <a:prstDash val="solid"/>
          </a:ln>
        </p:spPr>
      </p:sp>
      <p:sp>
        <p:nvSpPr>
          <p:cNvPr id="1048868" name="Shape 24"/>
          <p:cNvSpPr/>
          <p:nvPr/>
        </p:nvSpPr>
        <p:spPr>
          <a:xfrm>
            <a:off x="201168" y="201168"/>
            <a:ext cx="11789359" cy="6455664"/>
          </a:xfrm>
          <a:prstGeom prst="rect"/>
          <a:ln w="15875">
            <a:solidFill>
              <a:srgbClr val="3E6690"/>
            </a:solidFill>
            <a:prstDash val="solid"/>
          </a:ln>
        </p:spPr>
      </p:sp>
      <p:sp>
        <p:nvSpPr>
          <p:cNvPr id="1048869" name="Shape 25"/>
          <p:cNvSpPr/>
          <p:nvPr/>
        </p:nvSpPr>
        <p:spPr>
          <a:xfrm>
            <a:off x="320040" y="320040"/>
            <a:ext cx="384048" cy="0"/>
          </a:xfrm>
          <a:prstGeom prst="line"/>
          <a:noFill/>
          <a:ln w="25400">
            <a:solidFill>
              <a:srgbClr val="6EC6FF"/>
            </a:solidFill>
            <a:prstDash val="solid"/>
          </a:ln>
        </p:spPr>
      </p:sp>
      <p:sp>
        <p:nvSpPr>
          <p:cNvPr id="1048870" name="Shape 26"/>
          <p:cNvSpPr/>
          <p:nvPr/>
        </p:nvSpPr>
        <p:spPr>
          <a:xfrm>
            <a:off x="320040" y="320040"/>
            <a:ext cx="0" cy="384048"/>
          </a:xfrm>
          <a:prstGeom prst="line"/>
          <a:noFill/>
          <a:ln w="25400">
            <a:solidFill>
              <a:srgbClr val="6EC6FF"/>
            </a:solidFill>
            <a:prstDash val="solid"/>
          </a:ln>
        </p:spPr>
      </p:sp>
      <p:sp>
        <p:nvSpPr>
          <p:cNvPr id="1048871" name="Shape 27"/>
          <p:cNvSpPr/>
          <p:nvPr/>
        </p:nvSpPr>
        <p:spPr>
          <a:xfrm>
            <a:off x="11487607" y="320040"/>
            <a:ext cx="384048" cy="0"/>
          </a:xfrm>
          <a:prstGeom prst="line"/>
          <a:noFill/>
          <a:ln w="25400">
            <a:solidFill>
              <a:srgbClr val="6EC6FF"/>
            </a:solidFill>
            <a:prstDash val="solid"/>
          </a:ln>
        </p:spPr>
      </p:sp>
      <p:sp>
        <p:nvSpPr>
          <p:cNvPr id="1048872" name="Shape 28"/>
          <p:cNvSpPr/>
          <p:nvPr/>
        </p:nvSpPr>
        <p:spPr>
          <a:xfrm>
            <a:off x="11871655" y="320040"/>
            <a:ext cx="0" cy="384048"/>
          </a:xfrm>
          <a:prstGeom prst="line"/>
          <a:noFill/>
          <a:ln w="25400">
            <a:solidFill>
              <a:srgbClr val="6EC6FF"/>
            </a:solidFill>
            <a:prstDash val="solid"/>
          </a:ln>
        </p:spPr>
      </p:sp>
      <p:sp>
        <p:nvSpPr>
          <p:cNvPr id="1048873" name="Shape 29"/>
          <p:cNvSpPr/>
          <p:nvPr/>
        </p:nvSpPr>
        <p:spPr>
          <a:xfrm>
            <a:off x="320040" y="6537960"/>
            <a:ext cx="384048" cy="0"/>
          </a:xfrm>
          <a:prstGeom prst="line"/>
          <a:noFill/>
          <a:ln w="25400">
            <a:solidFill>
              <a:srgbClr val="6EC6FF"/>
            </a:solidFill>
            <a:prstDash val="solid"/>
          </a:ln>
        </p:spPr>
      </p:sp>
      <p:sp>
        <p:nvSpPr>
          <p:cNvPr id="1048874" name="Shape 30"/>
          <p:cNvSpPr/>
          <p:nvPr/>
        </p:nvSpPr>
        <p:spPr>
          <a:xfrm>
            <a:off x="320040" y="6153912"/>
            <a:ext cx="0" cy="384048"/>
          </a:xfrm>
          <a:prstGeom prst="line"/>
          <a:noFill/>
          <a:ln w="25400">
            <a:solidFill>
              <a:srgbClr val="6EC6FF"/>
            </a:solidFill>
            <a:prstDash val="solid"/>
          </a:ln>
        </p:spPr>
      </p:sp>
      <p:sp>
        <p:nvSpPr>
          <p:cNvPr id="1048875" name="Shape 31"/>
          <p:cNvSpPr/>
          <p:nvPr/>
        </p:nvSpPr>
        <p:spPr>
          <a:xfrm>
            <a:off x="11487607" y="6537960"/>
            <a:ext cx="384048" cy="0"/>
          </a:xfrm>
          <a:prstGeom prst="line"/>
          <a:noFill/>
          <a:ln w="25400">
            <a:solidFill>
              <a:srgbClr val="6EC6FF"/>
            </a:solidFill>
            <a:prstDash val="solid"/>
          </a:ln>
        </p:spPr>
      </p:sp>
      <p:sp>
        <p:nvSpPr>
          <p:cNvPr id="1048876" name="Shape 32"/>
          <p:cNvSpPr/>
          <p:nvPr/>
        </p:nvSpPr>
        <p:spPr>
          <a:xfrm>
            <a:off x="11871655" y="6153912"/>
            <a:ext cx="0" cy="384048"/>
          </a:xfrm>
          <a:prstGeom prst="line"/>
          <a:noFill/>
          <a:ln w="25400">
            <a:solidFill>
              <a:srgbClr val="6EC6FF"/>
            </a:solidFill>
            <a:prstDash val="solid"/>
          </a:ln>
        </p:spPr>
      </p:sp>
      <p:sp>
        <p:nvSpPr>
          <p:cNvPr id="1048877" name="Text 33"/>
          <p:cNvSpPr/>
          <p:nvPr/>
        </p:nvSpPr>
        <p:spPr>
          <a:xfrm>
            <a:off x="9265615" y="6400800"/>
            <a:ext cx="2651760" cy="274320"/>
          </a:xfrm>
          <a:prstGeom prst="rect"/>
          <a:noFill/>
        </p:spPr>
        <p:txBody>
          <a:bodyPr anchor="ctr" rtlCol="0" wrap="square"/>
          <a:p>
            <a:pPr algn="r" indent="0" marL="0">
              <a:buNone/>
            </a:pPr>
            <a:r>
              <a:rPr dirty="0" sz="900" kern="0" lang="en-US" spc="100">
                <a:solidFill>
                  <a:srgbClr val="9FB8D1"/>
                </a:solidFill>
                <a:latin typeface="Courier New" pitchFamily="34" charset="0"/>
                <a:ea typeface="Courier New" pitchFamily="34" charset="-122"/>
                <a:cs typeface="Courier New" pitchFamily="34" charset="-120"/>
              </a:rPr>
              <a:t>CS / SHEET 5 OF 12</a:t>
            </a:r>
            <a:endParaRPr dirty="0" sz="900" lang="en-US"/>
          </a:p>
        </p:txBody>
      </p:sp>
      <p:sp>
        <p:nvSpPr>
          <p:cNvPr id="1048878" name="Text 34"/>
          <p:cNvSpPr/>
          <p:nvPr/>
        </p:nvSpPr>
        <p:spPr>
          <a:xfrm>
            <a:off x="411480" y="6400800"/>
            <a:ext cx="5486400" cy="274320"/>
          </a:xfrm>
          <a:prstGeom prst="rect"/>
          <a:noFill/>
        </p:spPr>
        <p:txBody>
          <a:bodyPr anchor="ctr" rtlCol="0" wrap="square"/>
          <a:p>
            <a:pPr indent="0" marL="0">
              <a:buNone/>
            </a:pPr>
            <a:r>
              <a:rPr dirty="0" sz="900" kern="0" lang="en-US" spc="100">
                <a:solidFill>
                  <a:srgbClr val="9FB8D1"/>
                </a:solidFill>
                <a:latin typeface="Courier New" pitchFamily="34" charset="0"/>
                <a:ea typeface="Courier New" pitchFamily="34" charset="-122"/>
                <a:cs typeface="Courier New" pitchFamily="34" charset="-120"/>
              </a:rPr>
              <a:t>COFFEE SHOP ORDER PROCESSOR — REFACTORING</a:t>
            </a:r>
            <a:endParaRPr dirty="0" sz="900" lang="en-US"/>
          </a:p>
        </p:txBody>
      </p:sp>
      <p:sp>
        <p:nvSpPr>
          <p:cNvPr id="1048879" name="Shape 35"/>
          <p:cNvSpPr/>
          <p:nvPr/>
        </p:nvSpPr>
        <p:spPr>
          <a:xfrm>
            <a:off x="548640" y="502920"/>
            <a:ext cx="3291840" cy="292608"/>
          </a:xfrm>
          <a:prstGeom prst="rect"/>
          <a:solidFill>
            <a:srgbClr val="06162A"/>
          </a:solidFill>
          <a:ln w="12700">
            <a:solidFill>
              <a:srgbClr val="8FD3FF"/>
            </a:solidFill>
            <a:prstDash val="solid"/>
          </a:ln>
        </p:spPr>
      </p:sp>
      <p:sp>
        <p:nvSpPr>
          <p:cNvPr id="1048880" name="Text 36"/>
          <p:cNvSpPr/>
          <p:nvPr/>
        </p:nvSpPr>
        <p:spPr>
          <a:xfrm>
            <a:off x="548640" y="502920"/>
            <a:ext cx="3291840" cy="292608"/>
          </a:xfrm>
          <a:prstGeom prst="rect"/>
          <a:noFill/>
        </p:spPr>
        <p:txBody>
          <a:bodyPr anchor="ctr" rtlCol="0" wrap="square"/>
          <a:p>
            <a:pPr algn="ctr" indent="0" marL="0">
              <a:buNone/>
            </a:pPr>
            <a:r>
              <a:rPr b="1" dirty="0" sz="1050" kern="0" lang="en-US" spc="100">
                <a:solidFill>
                  <a:srgbClr val="8FD3FF"/>
                </a:solidFill>
                <a:latin typeface="Courier New" pitchFamily="34" charset="0"/>
                <a:ea typeface="Courier New" pitchFamily="34" charset="-122"/>
                <a:cs typeface="Courier New" pitchFamily="34" charset="-120"/>
              </a:rPr>
              <a:t>SHEET 05 — SPEC COMPARISON</a:t>
            </a:r>
            <a:endParaRPr dirty="0" sz="1050" lang="en-US"/>
          </a:p>
        </p:txBody>
      </p:sp>
      <p:sp>
        <p:nvSpPr>
          <p:cNvPr id="1048881" name="Text 37"/>
          <p:cNvSpPr/>
          <p:nvPr/>
        </p:nvSpPr>
        <p:spPr>
          <a:xfrm>
            <a:off x="548640" y="914400"/>
            <a:ext cx="10058400" cy="548640"/>
          </a:xfrm>
          <a:prstGeom prst="rect"/>
          <a:noFill/>
        </p:spPr>
        <p:txBody>
          <a:bodyPr anchor="ctr" rtlCol="0" wrap="square"/>
          <a:p>
            <a:pPr indent="0" marL="0">
              <a:buNone/>
            </a:pPr>
            <a:r>
              <a:rPr b="1" dirty="0" sz="2800" lang="en-US">
                <a:solidFill>
                  <a:srgbClr val="FFFFFF"/>
                </a:solidFill>
                <a:latin typeface="Arial" pitchFamily="34" charset="0"/>
                <a:ea typeface="Arial" pitchFamily="34" charset="-122"/>
                <a:cs typeface="Arial" pitchFamily="34" charset="-120"/>
              </a:rPr>
              <a:t>Before vs. After</a:t>
            </a:r>
            <a:endParaRPr dirty="0" sz="2800" lang="en-US"/>
          </a:p>
        </p:txBody>
      </p:sp>
      <p:sp>
        <p:nvSpPr>
          <p:cNvPr id="1048882" name="Text 38"/>
          <p:cNvSpPr/>
          <p:nvPr/>
        </p:nvSpPr>
        <p:spPr>
          <a:xfrm>
            <a:off x="548640" y="1417320"/>
            <a:ext cx="10972800" cy="365760"/>
          </a:xfrm>
          <a:prstGeom prst="rect"/>
          <a:noFill/>
        </p:spPr>
        <p:txBody>
          <a:bodyPr anchor="ctr" rtlCol="0" wrap="square"/>
          <a:p>
            <a:pPr indent="0" marL="0">
              <a:buNone/>
            </a:pPr>
            <a:r>
              <a:rPr dirty="0" sz="1400" i="1" lang="en-US">
                <a:solidFill>
                  <a:srgbClr val="9FB8D1"/>
                </a:solidFill>
                <a:latin typeface="Calibri" pitchFamily="34" charset="0"/>
                <a:ea typeface="Calibri" pitchFamily="34" charset="-122"/>
                <a:cs typeface="Calibri" pitchFamily="34" charset="-120"/>
              </a:rPr>
              <a:t>What structurally changed when the responsibilities were pulled apart</a:t>
            </a:r>
            <a:endParaRPr dirty="0" sz="1400" lang="en-US"/>
          </a:p>
        </p:txBody>
      </p:sp>
      <p:graphicFrame>
        <p:nvGraphicFramePr>
          <p:cNvPr id="4194304" name="Table 0"/>
          <p:cNvGraphicFramePr>
            <a:graphicFrameLocks noGrp="1"/>
          </p:cNvGraphicFramePr>
          <p:nvPr/>
        </p:nvGraphicFramePr>
        <p:xfrm>
          <a:off x="548640" y="1965960"/>
          <a:ext cx="11091672" cy="914400"/>
        </p:xfrm>
        <a:graphic>
          <a:graphicData uri="http://schemas.openxmlformats.org/drawingml/2006/table">
            <a:tbl>
              <a:tblPr/>
              <a:tblGrid>
                <a:gridCol w="3200400"/>
                <a:gridCol w="3931920"/>
                <a:gridCol w="3959352"/>
              </a:tblGrid>
              <a:tr h="658368">
                <a:tc>
                  <a:txBody>
                    <a:bodyPr/>
                    <a:p>
                      <a:pPr indent="0" marL="0">
                        <a:buNone/>
                      </a:pPr>
                      <a:r>
                        <a:rPr b="1" dirty="0" sz="1200" lang="en-US">
                          <a:solidFill>
                            <a:srgbClr val="8FD3FF"/>
                          </a:solidFill>
                          <a:latin typeface="Courier New" pitchFamily="34" charset="0"/>
                          <a:ea typeface="Courier New" pitchFamily="34" charset="-122"/>
                          <a:cs typeface="Courier New" pitchFamily="34" charset="-120"/>
                        </a:rPr>
                        <a:t>ASPECT</a:t>
                      </a:r>
                      <a:endParaRPr dirty="0" sz="1200" lang="en-US">
                        <a:latin typeface="Courier New" charset="0"/>
                        <a:ea typeface="Courier New" charset="0"/>
                        <a:cs typeface="Courier New"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06162A"/>
                    </a:solidFill>
                  </a:tcPr>
                </a:tc>
                <a:tc>
                  <a:txBody>
                    <a:bodyPr/>
                    <a:p>
                      <a:pPr indent="0" marL="0">
                        <a:buNone/>
                      </a:pPr>
                      <a:r>
                        <a:rPr b="1" dirty="0" sz="1200" lang="en-US">
                          <a:solidFill>
                            <a:srgbClr val="9FB8D1"/>
                          </a:solidFill>
                          <a:latin typeface="Courier New" pitchFamily="34" charset="0"/>
                          <a:ea typeface="Courier New" pitchFamily="34" charset="-122"/>
                          <a:cs typeface="Courier New" pitchFamily="34" charset="-120"/>
                        </a:rPr>
                        <a:t>BASE CODE</a:t>
                      </a:r>
                      <a:endParaRPr dirty="0" sz="1200" lang="en-US">
                        <a:latin typeface="Courier New" charset="0"/>
                        <a:ea typeface="Courier New" charset="0"/>
                        <a:cs typeface="Courier New"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06162A"/>
                    </a:solidFill>
                  </a:tcPr>
                </a:tc>
                <a:tc>
                  <a:txBody>
                    <a:bodyPr/>
                    <a:p>
                      <a:pPr indent="0" marL="0">
                        <a:buNone/>
                      </a:pPr>
                      <a:r>
                        <a:rPr b="1" dirty="0" sz="1200" lang="en-US">
                          <a:solidFill>
                            <a:srgbClr val="FFB627"/>
                          </a:solidFill>
                          <a:latin typeface="Courier New" pitchFamily="34" charset="0"/>
                          <a:ea typeface="Courier New" pitchFamily="34" charset="-122"/>
                          <a:cs typeface="Courier New" pitchFamily="34" charset="-120"/>
                        </a:rPr>
                        <a:t>REFACTORED CODE</a:t>
                      </a:r>
                      <a:endParaRPr dirty="0" sz="1200" lang="en-US">
                        <a:latin typeface="Courier New" charset="0"/>
                        <a:ea typeface="Courier New" charset="0"/>
                        <a:cs typeface="Courier New"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06162A"/>
                    </a:solidFill>
                  </a:tcPr>
                </a:tc>
              </a:tr>
              <a:tr h="658368">
                <a:tc>
                  <a:txBody>
                    <a:bodyPr/>
                    <a:p>
                      <a:pPr indent="0" marL="0">
                        <a:buNone/>
                      </a:pPr>
                      <a:r>
                        <a:rPr b="1" dirty="0" sz="1250" lang="en-US">
                          <a:solidFill>
                            <a:srgbClr val="FFFFFF"/>
                          </a:solidFill>
                          <a:latin typeface="Calibri" pitchFamily="34" charset="0"/>
                          <a:ea typeface="Calibri" pitchFamily="34" charset="-122"/>
                          <a:cs typeface="Calibri" pitchFamily="34" charset="-120"/>
                        </a:rPr>
                        <a:t>Classes</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0D253F"/>
                    </a:solidFill>
                  </a:tcPr>
                </a:tc>
                <a:tc>
                  <a:txBody>
                    <a:bodyPr/>
                    <a:p>
                      <a:pPr indent="0" marL="0">
                        <a:buNone/>
                      </a:pPr>
                      <a:r>
                        <a:rPr dirty="0" sz="1250" lang="en-US">
                          <a:solidFill>
                            <a:srgbClr val="9FB8D1"/>
                          </a:solidFill>
                          <a:latin typeface="Calibri" pitchFamily="34" charset="0"/>
                          <a:ea typeface="Calibri" pitchFamily="34" charset="-122"/>
                          <a:cs typeface="Calibri" pitchFamily="34" charset="-120"/>
                        </a:rPr>
                        <a:t>1</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0D253F"/>
                    </a:solidFill>
                  </a:tcPr>
                </a:tc>
                <a:tc>
                  <a:txBody>
                    <a:bodyPr/>
                    <a:p>
                      <a:pPr indent="0" marL="0">
                        <a:buNone/>
                      </a:pPr>
                      <a:r>
                        <a:rPr b="1" dirty="0" sz="1250" lang="en-US">
                          <a:solidFill>
                            <a:srgbClr val="FFB627"/>
                          </a:solidFill>
                          <a:latin typeface="Calibri" pitchFamily="34" charset="0"/>
                          <a:ea typeface="Calibri" pitchFamily="34" charset="-122"/>
                          <a:cs typeface="Calibri" pitchFamily="34" charset="-120"/>
                        </a:rPr>
                        <a:t>8 (7 classes + 1 interface pair)</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0D253F"/>
                    </a:solidFill>
                  </a:tcPr>
                </a:tc>
              </a:tr>
              <a:tr h="658368">
                <a:tc>
                  <a:txBody>
                    <a:bodyPr/>
                    <a:p>
                      <a:pPr indent="0" marL="0">
                        <a:buNone/>
                      </a:pPr>
                      <a:r>
                        <a:rPr b="1" dirty="0" sz="1250" lang="en-US">
                          <a:solidFill>
                            <a:srgbClr val="FFFFFF"/>
                          </a:solidFill>
                          <a:latin typeface="Calibri" pitchFamily="34" charset="0"/>
                          <a:ea typeface="Calibri" pitchFamily="34" charset="-122"/>
                          <a:cs typeface="Calibri" pitchFamily="34" charset="-120"/>
                        </a:rPr>
                        <a:t>Responsibilities per class</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102C4C"/>
                    </a:solidFill>
                  </a:tcPr>
                </a:tc>
                <a:tc>
                  <a:txBody>
                    <a:bodyPr/>
                    <a:p>
                      <a:pPr indent="0" marL="0">
                        <a:buNone/>
                      </a:pPr>
                      <a:r>
                        <a:rPr dirty="0" sz="1250" lang="en-US">
                          <a:solidFill>
                            <a:srgbClr val="9FB8D1"/>
                          </a:solidFill>
                          <a:latin typeface="Calibri" pitchFamily="34" charset="0"/>
                          <a:ea typeface="Calibri" pitchFamily="34" charset="-122"/>
                          <a:cs typeface="Calibri" pitchFamily="34" charset="-120"/>
                        </a:rPr>
                        <a:t>3 (tax, print, save)</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102C4C"/>
                    </a:solidFill>
                  </a:tcPr>
                </a:tc>
                <a:tc>
                  <a:txBody>
                    <a:bodyPr/>
                    <a:p>
                      <a:pPr indent="0" marL="0">
                        <a:buNone/>
                      </a:pPr>
                      <a:r>
                        <a:rPr b="1" dirty="0" sz="1250" lang="en-US">
                          <a:solidFill>
                            <a:srgbClr val="FFB627"/>
                          </a:solidFill>
                          <a:latin typeface="Calibri" pitchFamily="34" charset="0"/>
                          <a:ea typeface="Calibri" pitchFamily="34" charset="-122"/>
                          <a:cs typeface="Calibri" pitchFamily="34" charset="-120"/>
                        </a:rPr>
                        <a:t>1 each</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102C4C"/>
                    </a:solidFill>
                  </a:tcPr>
                </a:tc>
              </a:tr>
              <a:tr h="658368">
                <a:tc>
                  <a:txBody>
                    <a:bodyPr/>
                    <a:p>
                      <a:pPr indent="0" marL="0">
                        <a:buNone/>
                      </a:pPr>
                      <a:r>
                        <a:rPr b="1" dirty="0" sz="1250" lang="en-US">
                          <a:solidFill>
                            <a:srgbClr val="FFFFFF"/>
                          </a:solidFill>
                          <a:latin typeface="Calibri" pitchFamily="34" charset="0"/>
                          <a:ea typeface="Calibri" pitchFamily="34" charset="-122"/>
                          <a:cs typeface="Calibri" pitchFamily="34" charset="-120"/>
                        </a:rPr>
                        <a:t>Coupling to file storage</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0D253F"/>
                    </a:solidFill>
                  </a:tcPr>
                </a:tc>
                <a:tc>
                  <a:txBody>
                    <a:bodyPr/>
                    <a:p>
                      <a:pPr indent="0" marL="0">
                        <a:buNone/>
                      </a:pPr>
                      <a:r>
                        <a:rPr dirty="0" sz="1250" lang="en-US">
                          <a:solidFill>
                            <a:srgbClr val="9FB8D1"/>
                          </a:solidFill>
                          <a:latin typeface="Calibri" pitchFamily="34" charset="0"/>
                          <a:ea typeface="Calibri" pitchFamily="34" charset="-122"/>
                          <a:cs typeface="Calibri" pitchFamily="34" charset="-120"/>
                        </a:rPr>
                        <a:t>Direct — hardcoded FileWriter</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0D253F"/>
                    </a:solidFill>
                  </a:tcPr>
                </a:tc>
                <a:tc>
                  <a:txBody>
                    <a:bodyPr/>
                    <a:p>
                      <a:pPr indent="0" marL="0">
                        <a:buNone/>
                      </a:pPr>
                      <a:r>
                        <a:rPr b="1" dirty="0" sz="1250" lang="en-US">
                          <a:solidFill>
                            <a:srgbClr val="FFB627"/>
                          </a:solidFill>
                          <a:latin typeface="Calibri" pitchFamily="34" charset="0"/>
                          <a:ea typeface="Calibri" pitchFamily="34" charset="-122"/>
                          <a:cs typeface="Calibri" pitchFamily="34" charset="-120"/>
                        </a:rPr>
                        <a:t>Indirect — via OrderRepository interface</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0D253F"/>
                    </a:solidFill>
                  </a:tcPr>
                </a:tc>
              </a:tr>
              <a:tr h="658368">
                <a:tc>
                  <a:txBody>
                    <a:bodyPr/>
                    <a:p>
                      <a:pPr indent="0" marL="0">
                        <a:buNone/>
                      </a:pPr>
                      <a:r>
                        <a:rPr b="1" dirty="0" sz="1250" lang="en-US">
                          <a:solidFill>
                            <a:srgbClr val="FFFFFF"/>
                          </a:solidFill>
                          <a:latin typeface="Calibri" pitchFamily="34" charset="0"/>
                          <a:ea typeface="Calibri" pitchFamily="34" charset="-122"/>
                          <a:cs typeface="Calibri" pitchFamily="34" charset="-120"/>
                        </a:rPr>
                        <a:t>Coupling to tax rule</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102C4C"/>
                    </a:solidFill>
                  </a:tcPr>
                </a:tc>
                <a:tc>
                  <a:txBody>
                    <a:bodyPr/>
                    <a:p>
                      <a:pPr indent="0" marL="0">
                        <a:buNone/>
                      </a:pPr>
                      <a:r>
                        <a:rPr dirty="0" sz="1250" lang="en-US">
                          <a:solidFill>
                            <a:srgbClr val="9FB8D1"/>
                          </a:solidFill>
                          <a:latin typeface="Calibri" pitchFamily="34" charset="0"/>
                          <a:ea typeface="Calibri" pitchFamily="34" charset="-122"/>
                          <a:cs typeface="Calibri" pitchFamily="34" charset="-120"/>
                        </a:rPr>
                        <a:t>Inline constant in method body</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102C4C"/>
                    </a:solidFill>
                  </a:tcPr>
                </a:tc>
                <a:tc>
                  <a:txBody>
                    <a:bodyPr/>
                    <a:p>
                      <a:pPr indent="0" marL="0">
                        <a:buNone/>
                      </a:pPr>
                      <a:r>
                        <a:rPr b="1" dirty="0" sz="1250" lang="en-US">
                          <a:solidFill>
                            <a:srgbClr val="FFB627"/>
                          </a:solidFill>
                          <a:latin typeface="Calibri" pitchFamily="34" charset="0"/>
                          <a:ea typeface="Calibri" pitchFamily="34" charset="-122"/>
                          <a:cs typeface="Calibri" pitchFamily="34" charset="-120"/>
                        </a:rPr>
                        <a:t>Isolated in StandardTaxCalculator</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102C4C"/>
                    </a:solidFill>
                  </a:tcPr>
                </a:tc>
              </a:tr>
              <a:tr h="658368">
                <a:tc>
                  <a:txBody>
                    <a:bodyPr/>
                    <a:p>
                      <a:pPr indent="0" marL="0">
                        <a:buNone/>
                      </a:pPr>
                      <a:r>
                        <a:rPr b="1" dirty="0" sz="1250" lang="en-US">
                          <a:solidFill>
                            <a:srgbClr val="FFFFFF"/>
                          </a:solidFill>
                          <a:latin typeface="Calibri" pitchFamily="34" charset="0"/>
                          <a:ea typeface="Calibri" pitchFamily="34" charset="-122"/>
                          <a:cs typeface="Calibri" pitchFamily="34" charset="-120"/>
                        </a:rPr>
                        <a:t>Unit testable in isolation</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0D253F"/>
                    </a:solidFill>
                  </a:tcPr>
                </a:tc>
                <a:tc>
                  <a:txBody>
                    <a:bodyPr/>
                    <a:p>
                      <a:pPr indent="0" marL="0">
                        <a:buNone/>
                      </a:pPr>
                      <a:r>
                        <a:rPr dirty="0" sz="1250" lang="en-US">
                          <a:solidFill>
                            <a:srgbClr val="9FB8D1"/>
                          </a:solidFill>
                          <a:latin typeface="Calibri" pitchFamily="34" charset="0"/>
                          <a:ea typeface="Calibri" pitchFamily="34" charset="-122"/>
                          <a:cs typeface="Calibri" pitchFamily="34" charset="-120"/>
                        </a:rPr>
                        <a:t>No — file I/O runs every time</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0D253F"/>
                    </a:solidFill>
                  </a:tcPr>
                </a:tc>
                <a:tc>
                  <a:txBody>
                    <a:bodyPr/>
                    <a:p>
                      <a:pPr indent="0" marL="0">
                        <a:buNone/>
                      </a:pPr>
                      <a:r>
                        <a:rPr b="1" dirty="0" sz="1250" lang="en-US">
                          <a:solidFill>
                            <a:srgbClr val="FFB627"/>
                          </a:solidFill>
                          <a:latin typeface="Calibri" pitchFamily="34" charset="0"/>
                          <a:ea typeface="Calibri" pitchFamily="34" charset="-122"/>
                          <a:cs typeface="Calibri" pitchFamily="34" charset="-120"/>
                        </a:rPr>
                        <a:t>Yes — swap in fake collaborators</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0D253F"/>
                    </a:solidFill>
                  </a:tcPr>
                </a:tc>
              </a:tr>
              <a:tr h="658368">
                <a:tc>
                  <a:txBody>
                    <a:bodyPr/>
                    <a:p>
                      <a:pPr indent="0" marL="0">
                        <a:buNone/>
                      </a:pPr>
                      <a:r>
                        <a:rPr b="1" dirty="0" sz="1250" lang="en-US">
                          <a:solidFill>
                            <a:srgbClr val="FFFFFF"/>
                          </a:solidFill>
                          <a:latin typeface="Calibri" pitchFamily="34" charset="0"/>
                          <a:ea typeface="Calibri" pitchFamily="34" charset="-122"/>
                          <a:cs typeface="Calibri" pitchFamily="34" charset="-120"/>
                        </a:rPr>
                        <a:t>Adding a new storage type</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102C4C"/>
                    </a:solidFill>
                  </a:tcPr>
                </a:tc>
                <a:tc>
                  <a:txBody>
                    <a:bodyPr/>
                    <a:p>
                      <a:pPr indent="0" marL="0">
                        <a:buNone/>
                      </a:pPr>
                      <a:r>
                        <a:rPr dirty="0" sz="1250" lang="en-US">
                          <a:solidFill>
                            <a:srgbClr val="9FB8D1"/>
                          </a:solidFill>
                          <a:latin typeface="Calibri" pitchFamily="34" charset="0"/>
                          <a:ea typeface="Calibri" pitchFamily="34" charset="-122"/>
                          <a:cs typeface="Calibri" pitchFamily="34" charset="-120"/>
                        </a:rPr>
                        <a:t>Edit business logic</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102C4C"/>
                    </a:solidFill>
                  </a:tcPr>
                </a:tc>
                <a:tc>
                  <a:txBody>
                    <a:bodyPr/>
                    <a:p>
                      <a:pPr indent="0" marL="0">
                        <a:buNone/>
                      </a:pPr>
                      <a:r>
                        <a:rPr b="1" dirty="0" sz="1250" lang="en-US">
                          <a:solidFill>
                            <a:srgbClr val="FFB627"/>
                          </a:solidFill>
                          <a:latin typeface="Calibri" pitchFamily="34" charset="0"/>
                          <a:ea typeface="Calibri" pitchFamily="34" charset="-122"/>
                          <a:cs typeface="Calibri" pitchFamily="34" charset="-120"/>
                        </a:rPr>
                        <a:t>Add one new class, change one line in Main</a:t>
                      </a:r>
                      <a:endParaRPr dirty="0" sz="1250" lang="en-US">
                        <a:latin typeface="Calibri" charset="0"/>
                        <a:ea typeface="Calibri" charset="0"/>
                        <a:cs typeface="Calibri" charset="0"/>
                      </a:endParaRPr>
                    </a:p>
                  </a:txBody>
                  <a:tcPr marL="91440" marR="91440" marT="45720" marB="45720" anchor="ctr">
                    <a:lnL w="9525" cap="flat" cmpd="sng" algn="ctr">
                      <a:solidFill>
                        <a:srgbClr val="3E6690"/>
                      </a:solidFill>
                      <a:prstDash val="solid"/>
                      <a:round/>
                      <a:headEnd type="none" w="med" len="med"/>
                      <a:tailEnd type="none" w="med" len="med"/>
                    </a:lnL>
                    <a:lnR w="9525" cap="flat" cmpd="sng" algn="ctr">
                      <a:solidFill>
                        <a:srgbClr val="3E6690"/>
                      </a:solidFill>
                      <a:prstDash val="solid"/>
                      <a:round/>
                      <a:headEnd type="none" w="med" len="med"/>
                      <a:tailEnd type="none" w="med" len="med"/>
                    </a:lnR>
                    <a:lnT w="9525" cap="flat" cmpd="sng" algn="ctr">
                      <a:solidFill>
                        <a:srgbClr val="3E6690"/>
                      </a:solidFill>
                      <a:prstDash val="solid"/>
                      <a:round/>
                      <a:headEnd type="none" w="med" len="med"/>
                      <a:tailEnd type="none" w="med" len="med"/>
                    </a:lnT>
                    <a:lnB w="9525" cap="flat" cmpd="sng" algn="ctr">
                      <a:solidFill>
                        <a:srgbClr val="3E6690"/>
                      </a:solidFill>
                      <a:prstDash val="solid"/>
                      <a:round/>
                      <a:headEnd type="none" w="med" len="med"/>
                      <a:tailEnd type="none" w="med" len="med"/>
                    </a:lnB>
                    <a:solidFill>
                      <a:srgbClr val="102C4C"/>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F38"/>
        </a:solidFill>
      </p:bgPr>
    </p:bg>
    <p:spTree>
      <p:nvGrpSpPr>
        <p:cNvPr id="32" name=""/>
        <p:cNvGrpSpPr/>
        <p:nvPr/>
      </p:nvGrpSpPr>
      <p:grpSpPr>
        <a:xfrm>
          <a:off x="0" y="0"/>
          <a:ext cx="0" cy="0"/>
          <a:chOff x="0" y="0"/>
          <a:chExt cx="0" cy="0"/>
        </a:xfrm>
      </p:grpSpPr>
      <p:sp>
        <p:nvSpPr>
          <p:cNvPr id="1048886" name="Shape 0"/>
          <p:cNvSpPr/>
          <p:nvPr/>
        </p:nvSpPr>
        <p:spPr>
          <a:xfrm>
            <a:off x="548640" y="0"/>
            <a:ext cx="0" cy="6858000"/>
          </a:xfrm>
          <a:prstGeom prst="line"/>
          <a:noFill/>
          <a:ln w="6350">
            <a:solidFill>
              <a:srgbClr val="1B3A5C"/>
            </a:solidFill>
            <a:prstDash val="solid"/>
          </a:ln>
        </p:spPr>
      </p:sp>
      <p:sp>
        <p:nvSpPr>
          <p:cNvPr id="1048887" name="Shape 1"/>
          <p:cNvSpPr/>
          <p:nvPr/>
        </p:nvSpPr>
        <p:spPr>
          <a:xfrm>
            <a:off x="1325880" y="0"/>
            <a:ext cx="0" cy="6858000"/>
          </a:xfrm>
          <a:prstGeom prst="line"/>
          <a:noFill/>
          <a:ln w="6350">
            <a:solidFill>
              <a:srgbClr val="1B3A5C"/>
            </a:solidFill>
            <a:prstDash val="solid"/>
          </a:ln>
        </p:spPr>
      </p:sp>
      <p:sp>
        <p:nvSpPr>
          <p:cNvPr id="1048888" name="Shape 2"/>
          <p:cNvSpPr/>
          <p:nvPr/>
        </p:nvSpPr>
        <p:spPr>
          <a:xfrm>
            <a:off x="2103120" y="0"/>
            <a:ext cx="0" cy="6858000"/>
          </a:xfrm>
          <a:prstGeom prst="line"/>
          <a:noFill/>
          <a:ln w="6350">
            <a:solidFill>
              <a:srgbClr val="1B3A5C"/>
            </a:solidFill>
            <a:prstDash val="solid"/>
          </a:ln>
        </p:spPr>
      </p:sp>
      <p:sp>
        <p:nvSpPr>
          <p:cNvPr id="1048889" name="Shape 3"/>
          <p:cNvSpPr/>
          <p:nvPr/>
        </p:nvSpPr>
        <p:spPr>
          <a:xfrm>
            <a:off x="2880360" y="0"/>
            <a:ext cx="0" cy="6858000"/>
          </a:xfrm>
          <a:prstGeom prst="line"/>
          <a:noFill/>
          <a:ln w="6350">
            <a:solidFill>
              <a:srgbClr val="1B3A5C"/>
            </a:solidFill>
            <a:prstDash val="solid"/>
          </a:ln>
        </p:spPr>
      </p:sp>
      <p:sp>
        <p:nvSpPr>
          <p:cNvPr id="1048890" name="Shape 4"/>
          <p:cNvSpPr/>
          <p:nvPr/>
        </p:nvSpPr>
        <p:spPr>
          <a:xfrm>
            <a:off x="3657600" y="0"/>
            <a:ext cx="0" cy="6858000"/>
          </a:xfrm>
          <a:prstGeom prst="line"/>
          <a:noFill/>
          <a:ln w="6350">
            <a:solidFill>
              <a:srgbClr val="1B3A5C"/>
            </a:solidFill>
            <a:prstDash val="solid"/>
          </a:ln>
        </p:spPr>
      </p:sp>
      <p:sp>
        <p:nvSpPr>
          <p:cNvPr id="1048891" name="Shape 5"/>
          <p:cNvSpPr/>
          <p:nvPr/>
        </p:nvSpPr>
        <p:spPr>
          <a:xfrm>
            <a:off x="4434840" y="0"/>
            <a:ext cx="0" cy="6858000"/>
          </a:xfrm>
          <a:prstGeom prst="line"/>
          <a:noFill/>
          <a:ln w="6350">
            <a:solidFill>
              <a:srgbClr val="1B3A5C"/>
            </a:solidFill>
            <a:prstDash val="solid"/>
          </a:ln>
        </p:spPr>
      </p:sp>
      <p:sp>
        <p:nvSpPr>
          <p:cNvPr id="1048892" name="Shape 6"/>
          <p:cNvSpPr/>
          <p:nvPr/>
        </p:nvSpPr>
        <p:spPr>
          <a:xfrm>
            <a:off x="5212080" y="0"/>
            <a:ext cx="0" cy="6858000"/>
          </a:xfrm>
          <a:prstGeom prst="line"/>
          <a:noFill/>
          <a:ln w="6350">
            <a:solidFill>
              <a:srgbClr val="1B3A5C"/>
            </a:solidFill>
            <a:prstDash val="solid"/>
          </a:ln>
        </p:spPr>
      </p:sp>
      <p:sp>
        <p:nvSpPr>
          <p:cNvPr id="1048893" name="Shape 7"/>
          <p:cNvSpPr/>
          <p:nvPr/>
        </p:nvSpPr>
        <p:spPr>
          <a:xfrm>
            <a:off x="5989320" y="0"/>
            <a:ext cx="0" cy="6858000"/>
          </a:xfrm>
          <a:prstGeom prst="line"/>
          <a:noFill/>
          <a:ln w="6350">
            <a:solidFill>
              <a:srgbClr val="1B3A5C"/>
            </a:solidFill>
            <a:prstDash val="solid"/>
          </a:ln>
        </p:spPr>
      </p:sp>
      <p:sp>
        <p:nvSpPr>
          <p:cNvPr id="1048894" name="Shape 8"/>
          <p:cNvSpPr/>
          <p:nvPr/>
        </p:nvSpPr>
        <p:spPr>
          <a:xfrm>
            <a:off x="6766560" y="0"/>
            <a:ext cx="0" cy="6858000"/>
          </a:xfrm>
          <a:prstGeom prst="line"/>
          <a:noFill/>
          <a:ln w="6350">
            <a:solidFill>
              <a:srgbClr val="1B3A5C"/>
            </a:solidFill>
            <a:prstDash val="solid"/>
          </a:ln>
        </p:spPr>
      </p:sp>
      <p:sp>
        <p:nvSpPr>
          <p:cNvPr id="1048895" name="Shape 9"/>
          <p:cNvSpPr/>
          <p:nvPr/>
        </p:nvSpPr>
        <p:spPr>
          <a:xfrm>
            <a:off x="7543800" y="0"/>
            <a:ext cx="0" cy="6858000"/>
          </a:xfrm>
          <a:prstGeom prst="line"/>
          <a:noFill/>
          <a:ln w="6350">
            <a:solidFill>
              <a:srgbClr val="1B3A5C"/>
            </a:solidFill>
            <a:prstDash val="solid"/>
          </a:ln>
        </p:spPr>
      </p:sp>
      <p:sp>
        <p:nvSpPr>
          <p:cNvPr id="1048896" name="Shape 10"/>
          <p:cNvSpPr/>
          <p:nvPr/>
        </p:nvSpPr>
        <p:spPr>
          <a:xfrm>
            <a:off x="8321040" y="0"/>
            <a:ext cx="0" cy="6858000"/>
          </a:xfrm>
          <a:prstGeom prst="line"/>
          <a:noFill/>
          <a:ln w="6350">
            <a:solidFill>
              <a:srgbClr val="1B3A5C"/>
            </a:solidFill>
            <a:prstDash val="solid"/>
          </a:ln>
        </p:spPr>
      </p:sp>
      <p:sp>
        <p:nvSpPr>
          <p:cNvPr id="1048897" name="Shape 11"/>
          <p:cNvSpPr/>
          <p:nvPr/>
        </p:nvSpPr>
        <p:spPr>
          <a:xfrm>
            <a:off x="9098280" y="0"/>
            <a:ext cx="0" cy="6858000"/>
          </a:xfrm>
          <a:prstGeom prst="line"/>
          <a:noFill/>
          <a:ln w="6350">
            <a:solidFill>
              <a:srgbClr val="1B3A5C"/>
            </a:solidFill>
            <a:prstDash val="solid"/>
          </a:ln>
        </p:spPr>
      </p:sp>
      <p:sp>
        <p:nvSpPr>
          <p:cNvPr id="1048898" name="Shape 12"/>
          <p:cNvSpPr/>
          <p:nvPr/>
        </p:nvSpPr>
        <p:spPr>
          <a:xfrm>
            <a:off x="9875520" y="0"/>
            <a:ext cx="0" cy="6858000"/>
          </a:xfrm>
          <a:prstGeom prst="line"/>
          <a:noFill/>
          <a:ln w="6350">
            <a:solidFill>
              <a:srgbClr val="1B3A5C"/>
            </a:solidFill>
            <a:prstDash val="solid"/>
          </a:ln>
        </p:spPr>
      </p:sp>
      <p:sp>
        <p:nvSpPr>
          <p:cNvPr id="1048899" name="Shape 13"/>
          <p:cNvSpPr/>
          <p:nvPr/>
        </p:nvSpPr>
        <p:spPr>
          <a:xfrm>
            <a:off x="10652760" y="0"/>
            <a:ext cx="0" cy="6858000"/>
          </a:xfrm>
          <a:prstGeom prst="line"/>
          <a:noFill/>
          <a:ln w="6350">
            <a:solidFill>
              <a:srgbClr val="1B3A5C"/>
            </a:solidFill>
            <a:prstDash val="solid"/>
          </a:ln>
        </p:spPr>
      </p:sp>
      <p:sp>
        <p:nvSpPr>
          <p:cNvPr id="1048900" name="Shape 14"/>
          <p:cNvSpPr/>
          <p:nvPr/>
        </p:nvSpPr>
        <p:spPr>
          <a:xfrm>
            <a:off x="11430000" y="0"/>
            <a:ext cx="0" cy="6858000"/>
          </a:xfrm>
          <a:prstGeom prst="line"/>
          <a:noFill/>
          <a:ln w="6350">
            <a:solidFill>
              <a:srgbClr val="1B3A5C"/>
            </a:solidFill>
            <a:prstDash val="solid"/>
          </a:ln>
        </p:spPr>
      </p:sp>
      <p:sp>
        <p:nvSpPr>
          <p:cNvPr id="1048901" name="Shape 15"/>
          <p:cNvSpPr/>
          <p:nvPr/>
        </p:nvSpPr>
        <p:spPr>
          <a:xfrm>
            <a:off x="0" y="548640"/>
            <a:ext cx="12191695" cy="0"/>
          </a:xfrm>
          <a:prstGeom prst="line"/>
          <a:noFill/>
          <a:ln w="6350">
            <a:solidFill>
              <a:srgbClr val="1B3A5C"/>
            </a:solidFill>
            <a:prstDash val="solid"/>
          </a:ln>
        </p:spPr>
      </p:sp>
      <p:sp>
        <p:nvSpPr>
          <p:cNvPr id="1048902" name="Shape 16"/>
          <p:cNvSpPr/>
          <p:nvPr/>
        </p:nvSpPr>
        <p:spPr>
          <a:xfrm>
            <a:off x="0" y="1325880"/>
            <a:ext cx="12191695" cy="0"/>
          </a:xfrm>
          <a:prstGeom prst="line"/>
          <a:noFill/>
          <a:ln w="6350">
            <a:solidFill>
              <a:srgbClr val="1B3A5C"/>
            </a:solidFill>
            <a:prstDash val="solid"/>
          </a:ln>
        </p:spPr>
      </p:sp>
      <p:sp>
        <p:nvSpPr>
          <p:cNvPr id="1048903" name="Shape 17"/>
          <p:cNvSpPr/>
          <p:nvPr/>
        </p:nvSpPr>
        <p:spPr>
          <a:xfrm>
            <a:off x="0" y="2103120"/>
            <a:ext cx="12191695" cy="0"/>
          </a:xfrm>
          <a:prstGeom prst="line"/>
          <a:noFill/>
          <a:ln w="6350">
            <a:solidFill>
              <a:srgbClr val="1B3A5C"/>
            </a:solidFill>
            <a:prstDash val="solid"/>
          </a:ln>
        </p:spPr>
      </p:sp>
      <p:sp>
        <p:nvSpPr>
          <p:cNvPr id="1048904" name="Shape 18"/>
          <p:cNvSpPr/>
          <p:nvPr/>
        </p:nvSpPr>
        <p:spPr>
          <a:xfrm>
            <a:off x="0" y="2880360"/>
            <a:ext cx="12191695" cy="0"/>
          </a:xfrm>
          <a:prstGeom prst="line"/>
          <a:noFill/>
          <a:ln w="6350">
            <a:solidFill>
              <a:srgbClr val="1B3A5C"/>
            </a:solidFill>
            <a:prstDash val="solid"/>
          </a:ln>
        </p:spPr>
      </p:sp>
      <p:sp>
        <p:nvSpPr>
          <p:cNvPr id="1048905" name="Shape 19"/>
          <p:cNvSpPr/>
          <p:nvPr/>
        </p:nvSpPr>
        <p:spPr>
          <a:xfrm>
            <a:off x="0" y="3657600"/>
            <a:ext cx="12191695" cy="0"/>
          </a:xfrm>
          <a:prstGeom prst="line"/>
          <a:noFill/>
          <a:ln w="6350">
            <a:solidFill>
              <a:srgbClr val="1B3A5C"/>
            </a:solidFill>
            <a:prstDash val="solid"/>
          </a:ln>
        </p:spPr>
      </p:sp>
      <p:sp>
        <p:nvSpPr>
          <p:cNvPr id="1048906" name="Shape 20"/>
          <p:cNvSpPr/>
          <p:nvPr/>
        </p:nvSpPr>
        <p:spPr>
          <a:xfrm>
            <a:off x="0" y="4434840"/>
            <a:ext cx="12191695" cy="0"/>
          </a:xfrm>
          <a:prstGeom prst="line"/>
          <a:noFill/>
          <a:ln w="6350">
            <a:solidFill>
              <a:srgbClr val="1B3A5C"/>
            </a:solidFill>
            <a:prstDash val="solid"/>
          </a:ln>
        </p:spPr>
      </p:sp>
      <p:sp>
        <p:nvSpPr>
          <p:cNvPr id="1048907" name="Shape 21"/>
          <p:cNvSpPr/>
          <p:nvPr/>
        </p:nvSpPr>
        <p:spPr>
          <a:xfrm>
            <a:off x="0" y="5212080"/>
            <a:ext cx="12191695" cy="0"/>
          </a:xfrm>
          <a:prstGeom prst="line"/>
          <a:noFill/>
          <a:ln w="6350">
            <a:solidFill>
              <a:srgbClr val="1B3A5C"/>
            </a:solidFill>
            <a:prstDash val="solid"/>
          </a:ln>
        </p:spPr>
      </p:sp>
      <p:sp>
        <p:nvSpPr>
          <p:cNvPr id="1048908" name="Shape 22"/>
          <p:cNvSpPr/>
          <p:nvPr/>
        </p:nvSpPr>
        <p:spPr>
          <a:xfrm>
            <a:off x="0" y="5989320"/>
            <a:ext cx="12191695" cy="0"/>
          </a:xfrm>
          <a:prstGeom prst="line"/>
          <a:noFill/>
          <a:ln w="6350">
            <a:solidFill>
              <a:srgbClr val="1B3A5C"/>
            </a:solidFill>
            <a:prstDash val="solid"/>
          </a:ln>
        </p:spPr>
      </p:sp>
      <p:sp>
        <p:nvSpPr>
          <p:cNvPr id="1048909" name="Shape 23"/>
          <p:cNvSpPr/>
          <p:nvPr/>
        </p:nvSpPr>
        <p:spPr>
          <a:xfrm>
            <a:off x="0" y="6766560"/>
            <a:ext cx="12191695" cy="0"/>
          </a:xfrm>
          <a:prstGeom prst="line"/>
          <a:noFill/>
          <a:ln w="6350">
            <a:solidFill>
              <a:srgbClr val="1B3A5C"/>
            </a:solidFill>
            <a:prstDash val="solid"/>
          </a:ln>
        </p:spPr>
      </p:sp>
      <p:sp>
        <p:nvSpPr>
          <p:cNvPr id="1048910" name="Shape 24"/>
          <p:cNvSpPr/>
          <p:nvPr/>
        </p:nvSpPr>
        <p:spPr>
          <a:xfrm>
            <a:off x="201168" y="201168"/>
            <a:ext cx="11789359" cy="6455664"/>
          </a:xfrm>
          <a:prstGeom prst="rect"/>
          <a:ln w="15875">
            <a:solidFill>
              <a:srgbClr val="3E6690"/>
            </a:solidFill>
            <a:prstDash val="solid"/>
          </a:ln>
        </p:spPr>
      </p:sp>
      <p:sp>
        <p:nvSpPr>
          <p:cNvPr id="1048911" name="Shape 25"/>
          <p:cNvSpPr/>
          <p:nvPr/>
        </p:nvSpPr>
        <p:spPr>
          <a:xfrm>
            <a:off x="320040" y="320040"/>
            <a:ext cx="384048" cy="0"/>
          </a:xfrm>
          <a:prstGeom prst="line"/>
          <a:noFill/>
          <a:ln w="25400">
            <a:solidFill>
              <a:srgbClr val="6EC6FF"/>
            </a:solidFill>
            <a:prstDash val="solid"/>
          </a:ln>
        </p:spPr>
      </p:sp>
      <p:sp>
        <p:nvSpPr>
          <p:cNvPr id="1048912" name="Shape 26"/>
          <p:cNvSpPr/>
          <p:nvPr/>
        </p:nvSpPr>
        <p:spPr>
          <a:xfrm>
            <a:off x="320040" y="320040"/>
            <a:ext cx="0" cy="384048"/>
          </a:xfrm>
          <a:prstGeom prst="line"/>
          <a:noFill/>
          <a:ln w="25400">
            <a:solidFill>
              <a:srgbClr val="6EC6FF"/>
            </a:solidFill>
            <a:prstDash val="solid"/>
          </a:ln>
        </p:spPr>
      </p:sp>
      <p:sp>
        <p:nvSpPr>
          <p:cNvPr id="1048913" name="Shape 27"/>
          <p:cNvSpPr/>
          <p:nvPr/>
        </p:nvSpPr>
        <p:spPr>
          <a:xfrm>
            <a:off x="11487607" y="320040"/>
            <a:ext cx="384048" cy="0"/>
          </a:xfrm>
          <a:prstGeom prst="line"/>
          <a:noFill/>
          <a:ln w="25400">
            <a:solidFill>
              <a:srgbClr val="6EC6FF"/>
            </a:solidFill>
            <a:prstDash val="solid"/>
          </a:ln>
        </p:spPr>
      </p:sp>
      <p:sp>
        <p:nvSpPr>
          <p:cNvPr id="1048914" name="Shape 28"/>
          <p:cNvSpPr/>
          <p:nvPr/>
        </p:nvSpPr>
        <p:spPr>
          <a:xfrm>
            <a:off x="11871655" y="320040"/>
            <a:ext cx="0" cy="384048"/>
          </a:xfrm>
          <a:prstGeom prst="line"/>
          <a:noFill/>
          <a:ln w="25400">
            <a:solidFill>
              <a:srgbClr val="6EC6FF"/>
            </a:solidFill>
            <a:prstDash val="solid"/>
          </a:ln>
        </p:spPr>
      </p:sp>
      <p:sp>
        <p:nvSpPr>
          <p:cNvPr id="1048915" name="Shape 29"/>
          <p:cNvSpPr/>
          <p:nvPr/>
        </p:nvSpPr>
        <p:spPr>
          <a:xfrm>
            <a:off x="320040" y="6537960"/>
            <a:ext cx="384048" cy="0"/>
          </a:xfrm>
          <a:prstGeom prst="line"/>
          <a:noFill/>
          <a:ln w="25400">
            <a:solidFill>
              <a:srgbClr val="6EC6FF"/>
            </a:solidFill>
            <a:prstDash val="solid"/>
          </a:ln>
        </p:spPr>
      </p:sp>
      <p:sp>
        <p:nvSpPr>
          <p:cNvPr id="1048916" name="Shape 30"/>
          <p:cNvSpPr/>
          <p:nvPr/>
        </p:nvSpPr>
        <p:spPr>
          <a:xfrm>
            <a:off x="320040" y="6153912"/>
            <a:ext cx="0" cy="384048"/>
          </a:xfrm>
          <a:prstGeom prst="line"/>
          <a:noFill/>
          <a:ln w="25400">
            <a:solidFill>
              <a:srgbClr val="6EC6FF"/>
            </a:solidFill>
            <a:prstDash val="solid"/>
          </a:ln>
        </p:spPr>
      </p:sp>
      <p:sp>
        <p:nvSpPr>
          <p:cNvPr id="1048917" name="Shape 31"/>
          <p:cNvSpPr/>
          <p:nvPr/>
        </p:nvSpPr>
        <p:spPr>
          <a:xfrm>
            <a:off x="11487607" y="6537960"/>
            <a:ext cx="384048" cy="0"/>
          </a:xfrm>
          <a:prstGeom prst="line"/>
          <a:noFill/>
          <a:ln w="25400">
            <a:solidFill>
              <a:srgbClr val="6EC6FF"/>
            </a:solidFill>
            <a:prstDash val="solid"/>
          </a:ln>
        </p:spPr>
      </p:sp>
      <p:sp>
        <p:nvSpPr>
          <p:cNvPr id="1048918" name="Shape 32"/>
          <p:cNvSpPr/>
          <p:nvPr/>
        </p:nvSpPr>
        <p:spPr>
          <a:xfrm>
            <a:off x="11871655" y="6153912"/>
            <a:ext cx="0" cy="384048"/>
          </a:xfrm>
          <a:prstGeom prst="line"/>
          <a:noFill/>
          <a:ln w="25400">
            <a:solidFill>
              <a:srgbClr val="6EC6FF"/>
            </a:solidFill>
            <a:prstDash val="solid"/>
          </a:ln>
        </p:spPr>
      </p:sp>
      <p:sp>
        <p:nvSpPr>
          <p:cNvPr id="1048919" name="Text 33"/>
          <p:cNvSpPr/>
          <p:nvPr/>
        </p:nvSpPr>
        <p:spPr>
          <a:xfrm>
            <a:off x="9265615" y="6400800"/>
            <a:ext cx="2651760" cy="274320"/>
          </a:xfrm>
          <a:prstGeom prst="rect"/>
          <a:noFill/>
        </p:spPr>
        <p:txBody>
          <a:bodyPr anchor="ctr" rtlCol="0" wrap="square"/>
          <a:p>
            <a:pPr algn="r" indent="0" marL="0">
              <a:buNone/>
            </a:pPr>
            <a:r>
              <a:rPr dirty="0" sz="900" kern="0" lang="en-US" spc="100">
                <a:solidFill>
                  <a:srgbClr val="9FB8D1"/>
                </a:solidFill>
                <a:latin typeface="Courier New" pitchFamily="34" charset="0"/>
                <a:ea typeface="Courier New" pitchFamily="34" charset="-122"/>
                <a:cs typeface="Courier New" pitchFamily="34" charset="-120"/>
              </a:rPr>
              <a:t>CS / SHEET 6 OF 12</a:t>
            </a:r>
            <a:endParaRPr dirty="0" sz="900" lang="en-US"/>
          </a:p>
        </p:txBody>
      </p:sp>
      <p:sp>
        <p:nvSpPr>
          <p:cNvPr id="1048920" name="Text 34"/>
          <p:cNvSpPr/>
          <p:nvPr/>
        </p:nvSpPr>
        <p:spPr>
          <a:xfrm>
            <a:off x="411480" y="6400800"/>
            <a:ext cx="5486400" cy="274320"/>
          </a:xfrm>
          <a:prstGeom prst="rect"/>
          <a:noFill/>
        </p:spPr>
        <p:txBody>
          <a:bodyPr anchor="ctr" rtlCol="0" wrap="square"/>
          <a:p>
            <a:pPr indent="0" marL="0">
              <a:buNone/>
            </a:pPr>
            <a:r>
              <a:rPr dirty="0" sz="900" kern="0" lang="en-US" spc="100">
                <a:solidFill>
                  <a:srgbClr val="9FB8D1"/>
                </a:solidFill>
                <a:latin typeface="Courier New" pitchFamily="34" charset="0"/>
                <a:ea typeface="Courier New" pitchFamily="34" charset="-122"/>
                <a:cs typeface="Courier New" pitchFamily="34" charset="-120"/>
              </a:rPr>
              <a:t>COFFEE SHOP ORDER PROCESSOR — REFACTORING</a:t>
            </a:r>
            <a:endParaRPr dirty="0" sz="900" lang="en-US"/>
          </a:p>
        </p:txBody>
      </p:sp>
      <p:sp>
        <p:nvSpPr>
          <p:cNvPr id="1048921" name="Shape 35"/>
          <p:cNvSpPr/>
          <p:nvPr/>
        </p:nvSpPr>
        <p:spPr>
          <a:xfrm>
            <a:off x="548640" y="502920"/>
            <a:ext cx="3291840" cy="292608"/>
          </a:xfrm>
          <a:prstGeom prst="rect"/>
          <a:solidFill>
            <a:srgbClr val="06162A"/>
          </a:solidFill>
          <a:ln w="12700">
            <a:solidFill>
              <a:srgbClr val="8FD3FF"/>
            </a:solidFill>
            <a:prstDash val="solid"/>
          </a:ln>
        </p:spPr>
      </p:sp>
      <p:sp>
        <p:nvSpPr>
          <p:cNvPr id="1048922" name="Text 36"/>
          <p:cNvSpPr/>
          <p:nvPr/>
        </p:nvSpPr>
        <p:spPr>
          <a:xfrm>
            <a:off x="548640" y="502920"/>
            <a:ext cx="3291840" cy="292608"/>
          </a:xfrm>
          <a:prstGeom prst="rect"/>
          <a:noFill/>
        </p:spPr>
        <p:txBody>
          <a:bodyPr anchor="ctr" rtlCol="0" wrap="square"/>
          <a:p>
            <a:pPr algn="ctr" indent="0" marL="0">
              <a:buNone/>
            </a:pPr>
            <a:r>
              <a:rPr b="1" dirty="0" sz="1050" kern="0" lang="en-US" spc="100">
                <a:solidFill>
                  <a:srgbClr val="8FD3FF"/>
                </a:solidFill>
                <a:latin typeface="Courier New" pitchFamily="34" charset="0"/>
                <a:ea typeface="Courier New" pitchFamily="34" charset="-122"/>
                <a:cs typeface="Courier New" pitchFamily="34" charset="-120"/>
              </a:rPr>
              <a:t>SHEET 06 — BILL OF BENEFITS</a:t>
            </a:r>
            <a:endParaRPr dirty="0" sz="1050" lang="en-US"/>
          </a:p>
        </p:txBody>
      </p:sp>
      <p:sp>
        <p:nvSpPr>
          <p:cNvPr id="1048923" name="Text 37"/>
          <p:cNvSpPr/>
          <p:nvPr/>
        </p:nvSpPr>
        <p:spPr>
          <a:xfrm>
            <a:off x="548640" y="914400"/>
            <a:ext cx="10058400" cy="548640"/>
          </a:xfrm>
          <a:prstGeom prst="rect"/>
          <a:noFill/>
        </p:spPr>
        <p:txBody>
          <a:bodyPr anchor="ctr" rtlCol="0" wrap="square"/>
          <a:p>
            <a:pPr indent="0" marL="0">
              <a:buNone/>
            </a:pPr>
            <a:r>
              <a:rPr b="1" dirty="0" sz="2800" lang="en-US">
                <a:solidFill>
                  <a:srgbClr val="FFFFFF"/>
                </a:solidFill>
                <a:latin typeface="Arial" pitchFamily="34" charset="0"/>
                <a:ea typeface="Arial" pitchFamily="34" charset="-122"/>
                <a:cs typeface="Arial" pitchFamily="34" charset="-120"/>
              </a:rPr>
              <a:t>What We Gained</a:t>
            </a:r>
            <a:endParaRPr dirty="0" sz="2800" lang="en-US"/>
          </a:p>
        </p:txBody>
      </p:sp>
      <p:sp>
        <p:nvSpPr>
          <p:cNvPr id="1048924" name="Text 38"/>
          <p:cNvSpPr/>
          <p:nvPr/>
        </p:nvSpPr>
        <p:spPr>
          <a:xfrm>
            <a:off x="548640" y="1417320"/>
            <a:ext cx="10972800" cy="365760"/>
          </a:xfrm>
          <a:prstGeom prst="rect"/>
          <a:noFill/>
        </p:spPr>
        <p:txBody>
          <a:bodyPr anchor="ctr" rtlCol="0" wrap="square"/>
          <a:p>
            <a:pPr indent="0" marL="0">
              <a:buNone/>
            </a:pPr>
            <a:r>
              <a:rPr dirty="0" sz="1400" i="1" lang="en-US">
                <a:solidFill>
                  <a:srgbClr val="9FB8D1"/>
                </a:solidFill>
                <a:latin typeface="Calibri" pitchFamily="34" charset="0"/>
                <a:ea typeface="Calibri" pitchFamily="34" charset="-122"/>
                <a:cs typeface="Calibri" pitchFamily="34" charset="-120"/>
              </a:rPr>
              <a:t>The measurable payoff of low coupling and high cohesion</a:t>
            </a:r>
            <a:endParaRPr dirty="0" sz="1400" lang="en-US"/>
          </a:p>
        </p:txBody>
      </p:sp>
      <p:sp>
        <p:nvSpPr>
          <p:cNvPr id="1048925" name="Shape 39"/>
          <p:cNvSpPr/>
          <p:nvPr/>
        </p:nvSpPr>
        <p:spPr>
          <a:xfrm>
            <a:off x="548640" y="1965960"/>
            <a:ext cx="3538728" cy="1965960"/>
          </a:xfrm>
          <a:prstGeom prst="rect"/>
          <a:solidFill>
            <a:srgbClr val="102C4C"/>
          </a:solidFill>
          <a:ln w="12700">
            <a:solidFill>
              <a:srgbClr val="3E6690"/>
            </a:solidFill>
            <a:prstDash val="solid"/>
          </a:ln>
        </p:spPr>
      </p:sp>
      <p:sp>
        <p:nvSpPr>
          <p:cNvPr id="1048926" name="Shape 40"/>
          <p:cNvSpPr/>
          <p:nvPr/>
        </p:nvSpPr>
        <p:spPr>
          <a:xfrm>
            <a:off x="548640" y="1965960"/>
            <a:ext cx="640080" cy="320040"/>
          </a:xfrm>
          <a:prstGeom prst="rect"/>
          <a:solidFill>
            <a:srgbClr val="06162A"/>
          </a:solidFill>
          <a:ln w="12700">
            <a:solidFill>
              <a:srgbClr val="3E6690"/>
            </a:solidFill>
            <a:prstDash val="solid"/>
          </a:ln>
        </p:spPr>
      </p:sp>
      <p:sp>
        <p:nvSpPr>
          <p:cNvPr id="1048927" name="Text 41"/>
          <p:cNvSpPr/>
          <p:nvPr/>
        </p:nvSpPr>
        <p:spPr>
          <a:xfrm>
            <a:off x="548640" y="1965960"/>
            <a:ext cx="640080" cy="320040"/>
          </a:xfrm>
          <a:prstGeom prst="rect"/>
          <a:noFill/>
        </p:spPr>
        <p:txBody>
          <a:bodyPr anchor="ctr" rtlCol="0" wrap="square"/>
          <a:p>
            <a:pPr algn="ctr" indent="0" marL="0">
              <a:buNone/>
            </a:pPr>
            <a:r>
              <a:rPr b="1" dirty="0" sz="1100" lang="en-US">
                <a:solidFill>
                  <a:srgbClr val="FFB627"/>
                </a:solidFill>
                <a:latin typeface="Courier New" pitchFamily="34" charset="0"/>
                <a:ea typeface="Courier New" pitchFamily="34" charset="-122"/>
                <a:cs typeface="Courier New" pitchFamily="34" charset="-120"/>
              </a:rPr>
              <a:t>01</a:t>
            </a:r>
            <a:endParaRPr dirty="0" sz="1100" lang="en-US"/>
          </a:p>
        </p:txBody>
      </p:sp>
      <p:sp>
        <p:nvSpPr>
          <p:cNvPr id="1048928" name="Shape 42"/>
          <p:cNvSpPr/>
          <p:nvPr/>
        </p:nvSpPr>
        <p:spPr>
          <a:xfrm>
            <a:off x="3374136" y="2167128"/>
            <a:ext cx="457200" cy="457200"/>
          </a:xfrm>
          <a:prstGeom prst="rect"/>
          <a:solidFill>
            <a:srgbClr val="FFB627"/>
          </a:solidFill>
          <a:ln w="12700">
            <a:solidFill>
              <a:srgbClr val="FFFFFF"/>
            </a:solidFill>
            <a:prstDash val="solid"/>
          </a:ln>
        </p:spPr>
      </p:sp>
      <p:pic>
        <p:nvPicPr>
          <p:cNvPr id="2097157" name="Image 0" descr="/home/claude/icons/checkcircle.png"/>
          <p:cNvPicPr>
            <a:picLocks noChangeAspect="1"/>
          </p:cNvPicPr>
          <p:nvPr/>
        </p:nvPicPr>
        <p:blipFill>
          <a:blip xmlns:r="http://schemas.openxmlformats.org/officeDocument/2006/relationships" r:embed="rId1"/>
          <a:stretch>
            <a:fillRect/>
          </a:stretch>
        </p:blipFill>
        <p:spPr>
          <a:xfrm>
            <a:off x="3483864" y="2276856"/>
            <a:ext cx="237744" cy="237744"/>
          </a:xfrm>
          <a:prstGeom prst="rect"/>
        </p:spPr>
      </p:pic>
      <p:sp>
        <p:nvSpPr>
          <p:cNvPr id="1048929" name="Text 43"/>
          <p:cNvSpPr/>
          <p:nvPr/>
        </p:nvSpPr>
        <p:spPr>
          <a:xfrm>
            <a:off x="777240" y="2423160"/>
            <a:ext cx="2487168" cy="365760"/>
          </a:xfrm>
          <a:prstGeom prst="rect"/>
          <a:noFill/>
        </p:spPr>
        <p:txBody>
          <a:bodyPr anchor="ctr" rtlCol="0" wrap="square"/>
          <a:p>
            <a:pPr indent="0" marL="0">
              <a:buNone/>
            </a:pPr>
            <a:r>
              <a:rPr b="1" dirty="0" sz="1600" lang="en-US">
                <a:solidFill>
                  <a:srgbClr val="FFFFFF"/>
                </a:solidFill>
                <a:latin typeface="Arial" pitchFamily="34" charset="0"/>
                <a:ea typeface="Arial" pitchFamily="34" charset="-122"/>
                <a:cs typeface="Arial" pitchFamily="34" charset="-120"/>
              </a:rPr>
              <a:t>Testability</a:t>
            </a:r>
            <a:endParaRPr dirty="0" sz="1600" lang="en-US"/>
          </a:p>
        </p:txBody>
      </p:sp>
      <p:sp>
        <p:nvSpPr>
          <p:cNvPr id="1048930" name="Shape 44"/>
          <p:cNvSpPr/>
          <p:nvPr/>
        </p:nvSpPr>
        <p:spPr>
          <a:xfrm>
            <a:off x="777240" y="2834640"/>
            <a:ext cx="3081528" cy="0"/>
          </a:xfrm>
          <a:prstGeom prst="line"/>
          <a:noFill/>
          <a:ln w="9525">
            <a:solidFill>
              <a:srgbClr val="3E6690"/>
            </a:solidFill>
            <a:prstDash val="solid"/>
          </a:ln>
        </p:spPr>
      </p:sp>
      <p:sp>
        <p:nvSpPr>
          <p:cNvPr id="1048931" name="Text 45"/>
          <p:cNvSpPr/>
          <p:nvPr/>
        </p:nvSpPr>
        <p:spPr>
          <a:xfrm>
            <a:off x="777240" y="2953512"/>
            <a:ext cx="3081528" cy="914400"/>
          </a:xfrm>
          <a:prstGeom prst="rect"/>
          <a:noFill/>
        </p:spPr>
        <p:txBody>
          <a:bodyPr anchor="t" rtlCol="0" wrap="square"/>
          <a:p>
            <a:pPr indent="0" marL="0">
              <a:buNone/>
            </a:pPr>
            <a:r>
              <a:rPr dirty="0" sz="1150" lang="en-US">
                <a:solidFill>
                  <a:srgbClr val="9FB8D1"/>
                </a:solidFill>
                <a:latin typeface="Calibri" pitchFamily="34" charset="0"/>
                <a:ea typeface="Calibri" pitchFamily="34" charset="-122"/>
                <a:cs typeface="Calibri" pitchFamily="34" charset="-120"/>
              </a:rPr>
              <a:t>Each class can be unit tested with fakes/mocks for its collaborators — no real file I/O needed to test tax math.</a:t>
            </a:r>
            <a:endParaRPr dirty="0" sz="1150" lang="en-US"/>
          </a:p>
        </p:txBody>
      </p:sp>
      <p:sp>
        <p:nvSpPr>
          <p:cNvPr id="1048932" name="Shape 46"/>
          <p:cNvSpPr/>
          <p:nvPr/>
        </p:nvSpPr>
        <p:spPr>
          <a:xfrm>
            <a:off x="4343400" y="1965960"/>
            <a:ext cx="3538728" cy="1965960"/>
          </a:xfrm>
          <a:prstGeom prst="rect"/>
          <a:solidFill>
            <a:srgbClr val="102C4C"/>
          </a:solidFill>
          <a:ln w="12700">
            <a:solidFill>
              <a:srgbClr val="3E6690"/>
            </a:solidFill>
            <a:prstDash val="solid"/>
          </a:ln>
        </p:spPr>
      </p:sp>
      <p:sp>
        <p:nvSpPr>
          <p:cNvPr id="1048933" name="Shape 47"/>
          <p:cNvSpPr/>
          <p:nvPr/>
        </p:nvSpPr>
        <p:spPr>
          <a:xfrm>
            <a:off x="4343400" y="1965960"/>
            <a:ext cx="640080" cy="320040"/>
          </a:xfrm>
          <a:prstGeom prst="rect"/>
          <a:solidFill>
            <a:srgbClr val="06162A"/>
          </a:solidFill>
          <a:ln w="12700">
            <a:solidFill>
              <a:srgbClr val="3E6690"/>
            </a:solidFill>
            <a:prstDash val="solid"/>
          </a:ln>
        </p:spPr>
      </p:sp>
      <p:sp>
        <p:nvSpPr>
          <p:cNvPr id="1048934" name="Text 48"/>
          <p:cNvSpPr/>
          <p:nvPr/>
        </p:nvSpPr>
        <p:spPr>
          <a:xfrm>
            <a:off x="4343400" y="1965960"/>
            <a:ext cx="640080" cy="320040"/>
          </a:xfrm>
          <a:prstGeom prst="rect"/>
          <a:noFill/>
        </p:spPr>
        <p:txBody>
          <a:bodyPr anchor="ctr" rtlCol="0" wrap="square"/>
          <a:p>
            <a:pPr algn="ctr" indent="0" marL="0">
              <a:buNone/>
            </a:pPr>
            <a:r>
              <a:rPr b="1" dirty="0" sz="1100" lang="en-US">
                <a:solidFill>
                  <a:srgbClr val="FFB627"/>
                </a:solidFill>
                <a:latin typeface="Courier New" pitchFamily="34" charset="0"/>
                <a:ea typeface="Courier New" pitchFamily="34" charset="-122"/>
                <a:cs typeface="Courier New" pitchFamily="34" charset="-120"/>
              </a:rPr>
              <a:t>02</a:t>
            </a:r>
            <a:endParaRPr dirty="0" sz="1100" lang="en-US"/>
          </a:p>
        </p:txBody>
      </p:sp>
      <p:sp>
        <p:nvSpPr>
          <p:cNvPr id="1048935" name="Shape 49"/>
          <p:cNvSpPr/>
          <p:nvPr/>
        </p:nvSpPr>
        <p:spPr>
          <a:xfrm>
            <a:off x="7168896" y="2167128"/>
            <a:ext cx="457200" cy="457200"/>
          </a:xfrm>
          <a:prstGeom prst="rect"/>
          <a:solidFill>
            <a:srgbClr val="FFB627"/>
          </a:solidFill>
          <a:ln w="12700">
            <a:solidFill>
              <a:srgbClr val="FFFFFF"/>
            </a:solidFill>
            <a:prstDash val="solid"/>
          </a:ln>
        </p:spPr>
      </p:sp>
      <p:pic>
        <p:nvPicPr>
          <p:cNvPr id="2097158" name="Image 1" descr="/home/claude/icons/tool.png"/>
          <p:cNvPicPr>
            <a:picLocks noChangeAspect="1"/>
          </p:cNvPicPr>
          <p:nvPr/>
        </p:nvPicPr>
        <p:blipFill>
          <a:blip xmlns:r="http://schemas.openxmlformats.org/officeDocument/2006/relationships" r:embed="rId2"/>
          <a:stretch>
            <a:fillRect/>
          </a:stretch>
        </p:blipFill>
        <p:spPr>
          <a:xfrm>
            <a:off x="7278624" y="2276856"/>
            <a:ext cx="237744" cy="237744"/>
          </a:xfrm>
          <a:prstGeom prst="rect"/>
        </p:spPr>
      </p:pic>
      <p:sp>
        <p:nvSpPr>
          <p:cNvPr id="1048936" name="Text 50"/>
          <p:cNvSpPr/>
          <p:nvPr/>
        </p:nvSpPr>
        <p:spPr>
          <a:xfrm>
            <a:off x="4572000" y="2423160"/>
            <a:ext cx="2487168" cy="365760"/>
          </a:xfrm>
          <a:prstGeom prst="rect"/>
          <a:noFill/>
        </p:spPr>
        <p:txBody>
          <a:bodyPr anchor="ctr" rtlCol="0" wrap="square"/>
          <a:p>
            <a:pPr indent="0" marL="0">
              <a:buNone/>
            </a:pPr>
            <a:r>
              <a:rPr b="1" dirty="0" sz="1600" lang="en-US">
                <a:solidFill>
                  <a:srgbClr val="FFFFFF"/>
                </a:solidFill>
                <a:latin typeface="Arial" pitchFamily="34" charset="0"/>
                <a:ea typeface="Arial" pitchFamily="34" charset="-122"/>
                <a:cs typeface="Arial" pitchFamily="34" charset="-120"/>
              </a:rPr>
              <a:t>Maintainability</a:t>
            </a:r>
            <a:endParaRPr dirty="0" sz="1600" lang="en-US"/>
          </a:p>
        </p:txBody>
      </p:sp>
      <p:sp>
        <p:nvSpPr>
          <p:cNvPr id="1048937" name="Shape 51"/>
          <p:cNvSpPr/>
          <p:nvPr/>
        </p:nvSpPr>
        <p:spPr>
          <a:xfrm>
            <a:off x="4572000" y="2834640"/>
            <a:ext cx="3081528" cy="0"/>
          </a:xfrm>
          <a:prstGeom prst="line"/>
          <a:noFill/>
          <a:ln w="9525">
            <a:solidFill>
              <a:srgbClr val="3E6690"/>
            </a:solidFill>
            <a:prstDash val="solid"/>
          </a:ln>
        </p:spPr>
      </p:sp>
      <p:sp>
        <p:nvSpPr>
          <p:cNvPr id="1048938" name="Text 52"/>
          <p:cNvSpPr/>
          <p:nvPr/>
        </p:nvSpPr>
        <p:spPr>
          <a:xfrm>
            <a:off x="4572000" y="2953512"/>
            <a:ext cx="3081528" cy="914400"/>
          </a:xfrm>
          <a:prstGeom prst="rect"/>
          <a:noFill/>
        </p:spPr>
        <p:txBody>
          <a:bodyPr anchor="t" rtlCol="0" wrap="square"/>
          <a:p>
            <a:pPr indent="0" marL="0">
              <a:buNone/>
            </a:pPr>
            <a:r>
              <a:rPr dirty="0" sz="1150" lang="en-US">
                <a:solidFill>
                  <a:srgbClr val="9FB8D1"/>
                </a:solidFill>
                <a:latin typeface="Calibri" pitchFamily="34" charset="0"/>
                <a:ea typeface="Calibri" pitchFamily="34" charset="-122"/>
                <a:cs typeface="Calibri" pitchFamily="34" charset="-120"/>
              </a:rPr>
              <a:t>A change to one concern (e.g. VAT rate) cannot accidentally break formatting or persistence.</a:t>
            </a:r>
            <a:endParaRPr dirty="0" sz="1150" lang="en-US"/>
          </a:p>
        </p:txBody>
      </p:sp>
      <p:sp>
        <p:nvSpPr>
          <p:cNvPr id="1048939" name="Shape 53"/>
          <p:cNvSpPr/>
          <p:nvPr/>
        </p:nvSpPr>
        <p:spPr>
          <a:xfrm>
            <a:off x="8138160" y="1965960"/>
            <a:ext cx="3538728" cy="1965960"/>
          </a:xfrm>
          <a:prstGeom prst="rect"/>
          <a:solidFill>
            <a:srgbClr val="102C4C"/>
          </a:solidFill>
          <a:ln w="12700">
            <a:solidFill>
              <a:srgbClr val="3E6690"/>
            </a:solidFill>
            <a:prstDash val="solid"/>
          </a:ln>
        </p:spPr>
      </p:sp>
      <p:sp>
        <p:nvSpPr>
          <p:cNvPr id="1048940" name="Shape 54"/>
          <p:cNvSpPr/>
          <p:nvPr/>
        </p:nvSpPr>
        <p:spPr>
          <a:xfrm>
            <a:off x="8138160" y="1965960"/>
            <a:ext cx="640080" cy="320040"/>
          </a:xfrm>
          <a:prstGeom prst="rect"/>
          <a:solidFill>
            <a:srgbClr val="06162A"/>
          </a:solidFill>
          <a:ln w="12700">
            <a:solidFill>
              <a:srgbClr val="3E6690"/>
            </a:solidFill>
            <a:prstDash val="solid"/>
          </a:ln>
        </p:spPr>
      </p:sp>
      <p:sp>
        <p:nvSpPr>
          <p:cNvPr id="1048941" name="Text 55"/>
          <p:cNvSpPr/>
          <p:nvPr/>
        </p:nvSpPr>
        <p:spPr>
          <a:xfrm>
            <a:off x="8138160" y="1965960"/>
            <a:ext cx="640080" cy="320040"/>
          </a:xfrm>
          <a:prstGeom prst="rect"/>
          <a:noFill/>
        </p:spPr>
        <p:txBody>
          <a:bodyPr anchor="ctr" rtlCol="0" wrap="square"/>
          <a:p>
            <a:pPr algn="ctr" indent="0" marL="0">
              <a:buNone/>
            </a:pPr>
            <a:r>
              <a:rPr b="1" dirty="0" sz="1100" lang="en-US">
                <a:solidFill>
                  <a:srgbClr val="FFB627"/>
                </a:solidFill>
                <a:latin typeface="Courier New" pitchFamily="34" charset="0"/>
                <a:ea typeface="Courier New" pitchFamily="34" charset="-122"/>
                <a:cs typeface="Courier New" pitchFamily="34" charset="-120"/>
              </a:rPr>
              <a:t>03</a:t>
            </a:r>
            <a:endParaRPr dirty="0" sz="1100" lang="en-US"/>
          </a:p>
        </p:txBody>
      </p:sp>
      <p:sp>
        <p:nvSpPr>
          <p:cNvPr id="1048942" name="Shape 56"/>
          <p:cNvSpPr/>
          <p:nvPr/>
        </p:nvSpPr>
        <p:spPr>
          <a:xfrm>
            <a:off x="10963656" y="2167128"/>
            <a:ext cx="457200" cy="457200"/>
          </a:xfrm>
          <a:prstGeom prst="rect"/>
          <a:solidFill>
            <a:srgbClr val="FFB627"/>
          </a:solidFill>
          <a:ln w="12700">
            <a:solidFill>
              <a:srgbClr val="FFFFFF"/>
            </a:solidFill>
            <a:prstDash val="solid"/>
          </a:ln>
        </p:spPr>
      </p:sp>
      <p:pic>
        <p:nvPicPr>
          <p:cNvPr id="2097159" name="Image 2" descr="/home/claude/icons/gitbranch.png"/>
          <p:cNvPicPr>
            <a:picLocks noChangeAspect="1"/>
          </p:cNvPicPr>
          <p:nvPr/>
        </p:nvPicPr>
        <p:blipFill>
          <a:blip xmlns:r="http://schemas.openxmlformats.org/officeDocument/2006/relationships" r:embed="rId3"/>
          <a:stretch>
            <a:fillRect/>
          </a:stretch>
        </p:blipFill>
        <p:spPr>
          <a:xfrm>
            <a:off x="11073384" y="2276856"/>
            <a:ext cx="237744" cy="237744"/>
          </a:xfrm>
          <a:prstGeom prst="rect"/>
        </p:spPr>
      </p:pic>
      <p:sp>
        <p:nvSpPr>
          <p:cNvPr id="1048943" name="Text 57"/>
          <p:cNvSpPr/>
          <p:nvPr/>
        </p:nvSpPr>
        <p:spPr>
          <a:xfrm>
            <a:off x="8366760" y="2423160"/>
            <a:ext cx="2487168" cy="365760"/>
          </a:xfrm>
          <a:prstGeom prst="rect"/>
          <a:noFill/>
        </p:spPr>
        <p:txBody>
          <a:bodyPr anchor="ctr" rtlCol="0" wrap="square"/>
          <a:p>
            <a:pPr indent="0" marL="0">
              <a:buNone/>
            </a:pPr>
            <a:r>
              <a:rPr b="1" dirty="0" sz="1600" lang="en-US">
                <a:solidFill>
                  <a:srgbClr val="FFFFFF"/>
                </a:solidFill>
                <a:latin typeface="Arial" pitchFamily="34" charset="0"/>
                <a:ea typeface="Arial" pitchFamily="34" charset="-122"/>
                <a:cs typeface="Arial" pitchFamily="34" charset="-120"/>
              </a:rPr>
              <a:t>Extensibility</a:t>
            </a:r>
            <a:endParaRPr dirty="0" sz="1600" lang="en-US"/>
          </a:p>
        </p:txBody>
      </p:sp>
      <p:sp>
        <p:nvSpPr>
          <p:cNvPr id="1048944" name="Shape 58"/>
          <p:cNvSpPr/>
          <p:nvPr/>
        </p:nvSpPr>
        <p:spPr>
          <a:xfrm>
            <a:off x="8366760" y="2834640"/>
            <a:ext cx="3081528" cy="0"/>
          </a:xfrm>
          <a:prstGeom prst="line"/>
          <a:noFill/>
          <a:ln w="9525">
            <a:solidFill>
              <a:srgbClr val="3E6690"/>
            </a:solidFill>
            <a:prstDash val="solid"/>
          </a:ln>
        </p:spPr>
      </p:sp>
      <p:sp>
        <p:nvSpPr>
          <p:cNvPr id="1048945" name="Text 59"/>
          <p:cNvSpPr/>
          <p:nvPr/>
        </p:nvSpPr>
        <p:spPr>
          <a:xfrm>
            <a:off x="8366760" y="2953512"/>
            <a:ext cx="3081528" cy="914400"/>
          </a:xfrm>
          <a:prstGeom prst="rect"/>
          <a:noFill/>
        </p:spPr>
        <p:txBody>
          <a:bodyPr anchor="t" rtlCol="0" wrap="square"/>
          <a:p>
            <a:pPr indent="0" marL="0">
              <a:buNone/>
            </a:pPr>
            <a:r>
              <a:rPr dirty="0" sz="1150" lang="en-US">
                <a:solidFill>
                  <a:srgbClr val="9FB8D1"/>
                </a:solidFill>
                <a:latin typeface="Calibri" pitchFamily="34" charset="0"/>
                <a:ea typeface="Calibri" pitchFamily="34" charset="-122"/>
                <a:cs typeface="Calibri" pitchFamily="34" charset="-120"/>
              </a:rPr>
              <a:t>New tax rules or storage backends plug in by implementing an interface — OrderProcessor never changes.</a:t>
            </a:r>
            <a:endParaRPr dirty="0" sz="1150" lang="en-US"/>
          </a:p>
        </p:txBody>
      </p:sp>
      <p:sp>
        <p:nvSpPr>
          <p:cNvPr id="1048946" name="Shape 60"/>
          <p:cNvSpPr/>
          <p:nvPr/>
        </p:nvSpPr>
        <p:spPr>
          <a:xfrm>
            <a:off x="548640" y="4160520"/>
            <a:ext cx="3538728" cy="1965960"/>
          </a:xfrm>
          <a:prstGeom prst="rect"/>
          <a:solidFill>
            <a:srgbClr val="102C4C"/>
          </a:solidFill>
          <a:ln w="12700">
            <a:solidFill>
              <a:srgbClr val="3E6690"/>
            </a:solidFill>
            <a:prstDash val="solid"/>
          </a:ln>
        </p:spPr>
      </p:sp>
      <p:sp>
        <p:nvSpPr>
          <p:cNvPr id="1048947" name="Shape 61"/>
          <p:cNvSpPr/>
          <p:nvPr/>
        </p:nvSpPr>
        <p:spPr>
          <a:xfrm>
            <a:off x="548640" y="4160520"/>
            <a:ext cx="640080" cy="320040"/>
          </a:xfrm>
          <a:prstGeom prst="rect"/>
          <a:solidFill>
            <a:srgbClr val="06162A"/>
          </a:solidFill>
          <a:ln w="12700">
            <a:solidFill>
              <a:srgbClr val="3E6690"/>
            </a:solidFill>
            <a:prstDash val="solid"/>
          </a:ln>
        </p:spPr>
      </p:sp>
      <p:sp>
        <p:nvSpPr>
          <p:cNvPr id="1048948" name="Text 62"/>
          <p:cNvSpPr/>
          <p:nvPr/>
        </p:nvSpPr>
        <p:spPr>
          <a:xfrm>
            <a:off x="548640" y="4160520"/>
            <a:ext cx="640080" cy="320040"/>
          </a:xfrm>
          <a:prstGeom prst="rect"/>
          <a:noFill/>
        </p:spPr>
        <p:txBody>
          <a:bodyPr anchor="ctr" rtlCol="0" wrap="square"/>
          <a:p>
            <a:pPr algn="ctr" indent="0" marL="0">
              <a:buNone/>
            </a:pPr>
            <a:r>
              <a:rPr b="1" dirty="0" sz="1100" lang="en-US">
                <a:solidFill>
                  <a:srgbClr val="FFB627"/>
                </a:solidFill>
                <a:latin typeface="Courier New" pitchFamily="34" charset="0"/>
                <a:ea typeface="Courier New" pitchFamily="34" charset="-122"/>
                <a:cs typeface="Courier New" pitchFamily="34" charset="-120"/>
              </a:rPr>
              <a:t>04</a:t>
            </a:r>
            <a:endParaRPr dirty="0" sz="1100" lang="en-US"/>
          </a:p>
        </p:txBody>
      </p:sp>
      <p:sp>
        <p:nvSpPr>
          <p:cNvPr id="1048949" name="Shape 63"/>
          <p:cNvSpPr/>
          <p:nvPr/>
        </p:nvSpPr>
        <p:spPr>
          <a:xfrm>
            <a:off x="3374136" y="4361688"/>
            <a:ext cx="457200" cy="457200"/>
          </a:xfrm>
          <a:prstGeom prst="rect"/>
          <a:solidFill>
            <a:srgbClr val="FFB627"/>
          </a:solidFill>
          <a:ln w="12700">
            <a:solidFill>
              <a:srgbClr val="FFFFFF"/>
            </a:solidFill>
            <a:prstDash val="solid"/>
          </a:ln>
        </p:spPr>
      </p:sp>
      <p:pic>
        <p:nvPicPr>
          <p:cNvPr id="2097160" name="Image 3" descr="/home/claude/icons/eye.png"/>
          <p:cNvPicPr>
            <a:picLocks noChangeAspect="1"/>
          </p:cNvPicPr>
          <p:nvPr/>
        </p:nvPicPr>
        <p:blipFill>
          <a:blip xmlns:r="http://schemas.openxmlformats.org/officeDocument/2006/relationships" r:embed="rId4"/>
          <a:stretch>
            <a:fillRect/>
          </a:stretch>
        </p:blipFill>
        <p:spPr>
          <a:xfrm>
            <a:off x="3483864" y="4471416"/>
            <a:ext cx="237744" cy="237744"/>
          </a:xfrm>
          <a:prstGeom prst="rect"/>
        </p:spPr>
      </p:pic>
      <p:sp>
        <p:nvSpPr>
          <p:cNvPr id="1048950" name="Text 64"/>
          <p:cNvSpPr/>
          <p:nvPr/>
        </p:nvSpPr>
        <p:spPr>
          <a:xfrm>
            <a:off x="777240" y="4617720"/>
            <a:ext cx="2487168" cy="365760"/>
          </a:xfrm>
          <a:prstGeom prst="rect"/>
          <a:noFill/>
        </p:spPr>
        <p:txBody>
          <a:bodyPr anchor="ctr" rtlCol="0" wrap="square"/>
          <a:p>
            <a:pPr indent="0" marL="0">
              <a:buNone/>
            </a:pPr>
            <a:r>
              <a:rPr b="1" dirty="0" sz="1600" lang="en-US">
                <a:solidFill>
                  <a:srgbClr val="FFFFFF"/>
                </a:solidFill>
                <a:latin typeface="Arial" pitchFamily="34" charset="0"/>
                <a:ea typeface="Arial" pitchFamily="34" charset="-122"/>
                <a:cs typeface="Arial" pitchFamily="34" charset="-120"/>
              </a:rPr>
              <a:t>Readability</a:t>
            </a:r>
            <a:endParaRPr dirty="0" sz="1600" lang="en-US"/>
          </a:p>
        </p:txBody>
      </p:sp>
      <p:sp>
        <p:nvSpPr>
          <p:cNvPr id="1048951" name="Shape 65"/>
          <p:cNvSpPr/>
          <p:nvPr/>
        </p:nvSpPr>
        <p:spPr>
          <a:xfrm>
            <a:off x="777240" y="5029200"/>
            <a:ext cx="3081528" cy="0"/>
          </a:xfrm>
          <a:prstGeom prst="line"/>
          <a:noFill/>
          <a:ln w="9525">
            <a:solidFill>
              <a:srgbClr val="3E6690"/>
            </a:solidFill>
            <a:prstDash val="solid"/>
          </a:ln>
        </p:spPr>
      </p:sp>
      <p:sp>
        <p:nvSpPr>
          <p:cNvPr id="1048952" name="Text 66"/>
          <p:cNvSpPr/>
          <p:nvPr/>
        </p:nvSpPr>
        <p:spPr>
          <a:xfrm>
            <a:off x="777240" y="5148072"/>
            <a:ext cx="3081528" cy="914400"/>
          </a:xfrm>
          <a:prstGeom prst="rect"/>
          <a:noFill/>
        </p:spPr>
        <p:txBody>
          <a:bodyPr anchor="t" rtlCol="0" wrap="square"/>
          <a:p>
            <a:pPr indent="0" marL="0">
              <a:buNone/>
            </a:pPr>
            <a:r>
              <a:rPr dirty="0" sz="1150" lang="en-US">
                <a:solidFill>
                  <a:srgbClr val="9FB8D1"/>
                </a:solidFill>
                <a:latin typeface="Calibri" pitchFamily="34" charset="0"/>
                <a:ea typeface="Calibri" pitchFamily="34" charset="-122"/>
                <a:cs typeface="Calibri" pitchFamily="34" charset="-120"/>
              </a:rPr>
              <a:t>Each class name states its one job; the flow of processOrder() reads like a short checklist.</a:t>
            </a:r>
            <a:endParaRPr dirty="0" sz="1150" lang="en-US"/>
          </a:p>
        </p:txBody>
      </p:sp>
      <p:sp>
        <p:nvSpPr>
          <p:cNvPr id="1048953" name="Shape 67"/>
          <p:cNvSpPr/>
          <p:nvPr/>
        </p:nvSpPr>
        <p:spPr>
          <a:xfrm>
            <a:off x="4343400" y="4160520"/>
            <a:ext cx="3538728" cy="1965960"/>
          </a:xfrm>
          <a:prstGeom prst="rect"/>
          <a:solidFill>
            <a:srgbClr val="102C4C"/>
          </a:solidFill>
          <a:ln w="12700">
            <a:solidFill>
              <a:srgbClr val="3E6690"/>
            </a:solidFill>
            <a:prstDash val="solid"/>
          </a:ln>
        </p:spPr>
      </p:sp>
      <p:sp>
        <p:nvSpPr>
          <p:cNvPr id="1048954" name="Shape 68"/>
          <p:cNvSpPr/>
          <p:nvPr/>
        </p:nvSpPr>
        <p:spPr>
          <a:xfrm>
            <a:off x="4343400" y="4160520"/>
            <a:ext cx="640080" cy="320040"/>
          </a:xfrm>
          <a:prstGeom prst="rect"/>
          <a:solidFill>
            <a:srgbClr val="06162A"/>
          </a:solidFill>
          <a:ln w="12700">
            <a:solidFill>
              <a:srgbClr val="3E6690"/>
            </a:solidFill>
            <a:prstDash val="solid"/>
          </a:ln>
        </p:spPr>
      </p:sp>
      <p:sp>
        <p:nvSpPr>
          <p:cNvPr id="1048955" name="Text 69"/>
          <p:cNvSpPr/>
          <p:nvPr/>
        </p:nvSpPr>
        <p:spPr>
          <a:xfrm>
            <a:off x="4343400" y="4160520"/>
            <a:ext cx="640080" cy="320040"/>
          </a:xfrm>
          <a:prstGeom prst="rect"/>
          <a:noFill/>
        </p:spPr>
        <p:txBody>
          <a:bodyPr anchor="ctr" rtlCol="0" wrap="square"/>
          <a:p>
            <a:pPr algn="ctr" indent="0" marL="0">
              <a:buNone/>
            </a:pPr>
            <a:r>
              <a:rPr b="1" dirty="0" sz="1100" lang="en-US">
                <a:solidFill>
                  <a:srgbClr val="FFB627"/>
                </a:solidFill>
                <a:latin typeface="Courier New" pitchFamily="34" charset="0"/>
                <a:ea typeface="Courier New" pitchFamily="34" charset="-122"/>
                <a:cs typeface="Courier New" pitchFamily="34" charset="-120"/>
              </a:rPr>
              <a:t>05</a:t>
            </a:r>
            <a:endParaRPr dirty="0" sz="1100" lang="en-US"/>
          </a:p>
        </p:txBody>
      </p:sp>
      <p:sp>
        <p:nvSpPr>
          <p:cNvPr id="1048956" name="Shape 70"/>
          <p:cNvSpPr/>
          <p:nvPr/>
        </p:nvSpPr>
        <p:spPr>
          <a:xfrm>
            <a:off x="7168896" y="4361688"/>
            <a:ext cx="457200" cy="457200"/>
          </a:xfrm>
          <a:prstGeom prst="rect"/>
          <a:solidFill>
            <a:srgbClr val="FFB627"/>
          </a:solidFill>
          <a:ln w="12700">
            <a:solidFill>
              <a:srgbClr val="FFFFFF"/>
            </a:solidFill>
            <a:prstDash val="solid"/>
          </a:ln>
        </p:spPr>
      </p:sp>
      <p:pic>
        <p:nvPicPr>
          <p:cNvPr id="2097161" name="Image 4" descr="/home/claude/icons/repeat.png"/>
          <p:cNvPicPr>
            <a:picLocks noChangeAspect="1"/>
          </p:cNvPicPr>
          <p:nvPr/>
        </p:nvPicPr>
        <p:blipFill>
          <a:blip xmlns:r="http://schemas.openxmlformats.org/officeDocument/2006/relationships" r:embed="rId5"/>
          <a:stretch>
            <a:fillRect/>
          </a:stretch>
        </p:blipFill>
        <p:spPr>
          <a:xfrm>
            <a:off x="7278624" y="4471416"/>
            <a:ext cx="237744" cy="237744"/>
          </a:xfrm>
          <a:prstGeom prst="rect"/>
        </p:spPr>
      </p:pic>
      <p:sp>
        <p:nvSpPr>
          <p:cNvPr id="1048957" name="Text 71"/>
          <p:cNvSpPr/>
          <p:nvPr/>
        </p:nvSpPr>
        <p:spPr>
          <a:xfrm>
            <a:off x="4572000" y="4617720"/>
            <a:ext cx="2487168" cy="365760"/>
          </a:xfrm>
          <a:prstGeom prst="rect"/>
          <a:noFill/>
        </p:spPr>
        <p:txBody>
          <a:bodyPr anchor="ctr" rtlCol="0" wrap="square"/>
          <a:p>
            <a:pPr indent="0" marL="0">
              <a:buNone/>
            </a:pPr>
            <a:r>
              <a:rPr b="1" dirty="0" sz="1600" lang="en-US">
                <a:solidFill>
                  <a:srgbClr val="FFFFFF"/>
                </a:solidFill>
                <a:latin typeface="Arial" pitchFamily="34" charset="0"/>
                <a:ea typeface="Arial" pitchFamily="34" charset="-122"/>
                <a:cs typeface="Arial" pitchFamily="34" charset="-120"/>
              </a:rPr>
              <a:t>Reusability</a:t>
            </a:r>
            <a:endParaRPr dirty="0" sz="1600" lang="en-US"/>
          </a:p>
        </p:txBody>
      </p:sp>
      <p:sp>
        <p:nvSpPr>
          <p:cNvPr id="1048958" name="Shape 72"/>
          <p:cNvSpPr/>
          <p:nvPr/>
        </p:nvSpPr>
        <p:spPr>
          <a:xfrm>
            <a:off x="4572000" y="5029200"/>
            <a:ext cx="3081528" cy="0"/>
          </a:xfrm>
          <a:prstGeom prst="line"/>
          <a:noFill/>
          <a:ln w="9525">
            <a:solidFill>
              <a:srgbClr val="3E6690"/>
            </a:solidFill>
            <a:prstDash val="solid"/>
          </a:ln>
        </p:spPr>
      </p:sp>
      <p:sp>
        <p:nvSpPr>
          <p:cNvPr id="1048959" name="Text 73"/>
          <p:cNvSpPr/>
          <p:nvPr/>
        </p:nvSpPr>
        <p:spPr>
          <a:xfrm>
            <a:off x="4572000" y="5148072"/>
            <a:ext cx="3081528" cy="914400"/>
          </a:xfrm>
          <a:prstGeom prst="rect"/>
          <a:noFill/>
        </p:spPr>
        <p:txBody>
          <a:bodyPr anchor="t" rtlCol="0" wrap="square"/>
          <a:p>
            <a:pPr indent="0" marL="0">
              <a:buNone/>
            </a:pPr>
            <a:r>
              <a:rPr dirty="0" sz="1150" lang="en-US">
                <a:solidFill>
                  <a:srgbClr val="9FB8D1"/>
                </a:solidFill>
                <a:latin typeface="Calibri" pitchFamily="34" charset="0"/>
                <a:ea typeface="Calibri" pitchFamily="34" charset="-122"/>
                <a:cs typeface="Calibri" pitchFamily="34" charset="-120"/>
              </a:rPr>
              <a:t>ReceiptFormatter or StandardTaxCalculator could be reused in another feature without dragging file I/O along.</a:t>
            </a:r>
            <a:endParaRPr dirty="0" sz="1150" lang="en-US"/>
          </a:p>
        </p:txBody>
      </p:sp>
      <p:sp>
        <p:nvSpPr>
          <p:cNvPr id="1048960" name="Shape 74"/>
          <p:cNvSpPr/>
          <p:nvPr/>
        </p:nvSpPr>
        <p:spPr>
          <a:xfrm>
            <a:off x="8138160" y="4160520"/>
            <a:ext cx="3538728" cy="1965960"/>
          </a:xfrm>
          <a:prstGeom prst="rect"/>
          <a:solidFill>
            <a:srgbClr val="102C4C"/>
          </a:solidFill>
          <a:ln w="12700">
            <a:solidFill>
              <a:srgbClr val="3E6690"/>
            </a:solidFill>
            <a:prstDash val="solid"/>
          </a:ln>
        </p:spPr>
      </p:sp>
      <p:sp>
        <p:nvSpPr>
          <p:cNvPr id="1048961" name="Shape 75"/>
          <p:cNvSpPr/>
          <p:nvPr/>
        </p:nvSpPr>
        <p:spPr>
          <a:xfrm>
            <a:off x="8138160" y="4160520"/>
            <a:ext cx="640080" cy="320040"/>
          </a:xfrm>
          <a:prstGeom prst="rect"/>
          <a:solidFill>
            <a:srgbClr val="06162A"/>
          </a:solidFill>
          <a:ln w="12700">
            <a:solidFill>
              <a:srgbClr val="3E6690"/>
            </a:solidFill>
            <a:prstDash val="solid"/>
          </a:ln>
        </p:spPr>
      </p:sp>
      <p:sp>
        <p:nvSpPr>
          <p:cNvPr id="1048962" name="Text 76"/>
          <p:cNvSpPr/>
          <p:nvPr/>
        </p:nvSpPr>
        <p:spPr>
          <a:xfrm>
            <a:off x="8138160" y="4160520"/>
            <a:ext cx="640080" cy="320040"/>
          </a:xfrm>
          <a:prstGeom prst="rect"/>
          <a:noFill/>
        </p:spPr>
        <p:txBody>
          <a:bodyPr anchor="ctr" rtlCol="0" wrap="square"/>
          <a:p>
            <a:pPr algn="ctr" indent="0" marL="0">
              <a:buNone/>
            </a:pPr>
            <a:r>
              <a:rPr b="1" dirty="0" sz="1100" lang="en-US">
                <a:solidFill>
                  <a:srgbClr val="FFB627"/>
                </a:solidFill>
                <a:latin typeface="Courier New" pitchFamily="34" charset="0"/>
                <a:ea typeface="Courier New" pitchFamily="34" charset="-122"/>
                <a:cs typeface="Courier New" pitchFamily="34" charset="-120"/>
              </a:rPr>
              <a:t>06</a:t>
            </a:r>
            <a:endParaRPr dirty="0" sz="1100" lang="en-US"/>
          </a:p>
        </p:txBody>
      </p:sp>
      <p:sp>
        <p:nvSpPr>
          <p:cNvPr id="1048963" name="Shape 77"/>
          <p:cNvSpPr/>
          <p:nvPr/>
        </p:nvSpPr>
        <p:spPr>
          <a:xfrm>
            <a:off x="10963656" y="4361688"/>
            <a:ext cx="457200" cy="457200"/>
          </a:xfrm>
          <a:prstGeom prst="rect"/>
          <a:solidFill>
            <a:srgbClr val="FFB627"/>
          </a:solidFill>
          <a:ln w="12700">
            <a:solidFill>
              <a:srgbClr val="FFFFFF"/>
            </a:solidFill>
            <a:prstDash val="solid"/>
          </a:ln>
        </p:spPr>
      </p:sp>
      <p:pic>
        <p:nvPicPr>
          <p:cNvPr id="2097162" name="Image 5" descr="/home/claude/icons/users.png"/>
          <p:cNvPicPr>
            <a:picLocks noChangeAspect="1"/>
          </p:cNvPicPr>
          <p:nvPr/>
        </p:nvPicPr>
        <p:blipFill>
          <a:blip xmlns:r="http://schemas.openxmlformats.org/officeDocument/2006/relationships" r:embed="rId6"/>
          <a:stretch>
            <a:fillRect/>
          </a:stretch>
        </p:blipFill>
        <p:spPr>
          <a:xfrm>
            <a:off x="11073384" y="4471416"/>
            <a:ext cx="237744" cy="237744"/>
          </a:xfrm>
          <a:prstGeom prst="rect"/>
        </p:spPr>
      </p:pic>
      <p:sp>
        <p:nvSpPr>
          <p:cNvPr id="1048964" name="Text 78"/>
          <p:cNvSpPr/>
          <p:nvPr/>
        </p:nvSpPr>
        <p:spPr>
          <a:xfrm>
            <a:off x="8366760" y="4617720"/>
            <a:ext cx="2487168" cy="365760"/>
          </a:xfrm>
          <a:prstGeom prst="rect"/>
          <a:noFill/>
        </p:spPr>
        <p:txBody>
          <a:bodyPr anchor="ctr" rtlCol="0" wrap="square"/>
          <a:p>
            <a:pPr indent="0" marL="0">
              <a:buNone/>
            </a:pPr>
            <a:r>
              <a:rPr b="1" dirty="0" sz="1600" lang="en-US">
                <a:solidFill>
                  <a:srgbClr val="FFFFFF"/>
                </a:solidFill>
                <a:latin typeface="Arial" pitchFamily="34" charset="0"/>
                <a:ea typeface="Arial" pitchFamily="34" charset="-122"/>
                <a:cs typeface="Arial" pitchFamily="34" charset="-120"/>
              </a:rPr>
              <a:t>Safer Collaboration</a:t>
            </a:r>
            <a:endParaRPr dirty="0" sz="1600" lang="en-US"/>
          </a:p>
        </p:txBody>
      </p:sp>
      <p:sp>
        <p:nvSpPr>
          <p:cNvPr id="1048965" name="Shape 79"/>
          <p:cNvSpPr/>
          <p:nvPr/>
        </p:nvSpPr>
        <p:spPr>
          <a:xfrm>
            <a:off x="8366760" y="5029200"/>
            <a:ext cx="3081528" cy="0"/>
          </a:xfrm>
          <a:prstGeom prst="line"/>
          <a:noFill/>
          <a:ln w="9525">
            <a:solidFill>
              <a:srgbClr val="3E6690"/>
            </a:solidFill>
            <a:prstDash val="solid"/>
          </a:ln>
        </p:spPr>
      </p:sp>
      <p:sp>
        <p:nvSpPr>
          <p:cNvPr id="1048966" name="Text 80"/>
          <p:cNvSpPr/>
          <p:nvPr/>
        </p:nvSpPr>
        <p:spPr>
          <a:xfrm>
            <a:off x="8366760" y="5148072"/>
            <a:ext cx="3081528" cy="914400"/>
          </a:xfrm>
          <a:prstGeom prst="rect"/>
          <a:noFill/>
        </p:spPr>
        <p:txBody>
          <a:bodyPr anchor="t" rtlCol="0" wrap="square"/>
          <a:p>
            <a:pPr indent="0" marL="0">
              <a:buNone/>
            </a:pPr>
            <a:r>
              <a:rPr dirty="0" sz="1150" lang="en-US">
                <a:solidFill>
                  <a:srgbClr val="9FB8D1"/>
                </a:solidFill>
                <a:latin typeface="Calibri" pitchFamily="34" charset="0"/>
                <a:ea typeface="Calibri" pitchFamily="34" charset="-122"/>
                <a:cs typeface="Calibri" pitchFamily="34" charset="-120"/>
              </a:rPr>
              <a:t>Different team members can work on different classes with minimal merge conflicts.</a:t>
            </a:r>
            <a:endParaRPr dirty="0" sz="115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0A1F38"/>
        </a:solidFill>
      </p:bgPr>
    </p:bg>
    <p:spTree>
      <p:nvGrpSpPr>
        <p:cNvPr id="35" name=""/>
        <p:cNvGrpSpPr/>
        <p:nvPr/>
      </p:nvGrpSpPr>
      <p:grpSpPr>
        <a:xfrm>
          <a:off x="0" y="0"/>
          <a:ext cx="0" cy="0"/>
          <a:chOff x="0" y="0"/>
          <a:chExt cx="0" cy="0"/>
        </a:xfrm>
      </p:grpSpPr>
      <p:sp>
        <p:nvSpPr>
          <p:cNvPr id="1048970" name="Shape 0"/>
          <p:cNvSpPr/>
          <p:nvPr/>
        </p:nvSpPr>
        <p:spPr>
          <a:xfrm>
            <a:off x="548640" y="0"/>
            <a:ext cx="0" cy="6858000"/>
          </a:xfrm>
          <a:prstGeom prst="line"/>
          <a:noFill/>
          <a:ln w="6350">
            <a:solidFill>
              <a:srgbClr val="1B3A5C"/>
            </a:solidFill>
            <a:prstDash val="solid"/>
          </a:ln>
        </p:spPr>
      </p:sp>
      <p:sp>
        <p:nvSpPr>
          <p:cNvPr id="1048971" name="Shape 1"/>
          <p:cNvSpPr/>
          <p:nvPr/>
        </p:nvSpPr>
        <p:spPr>
          <a:xfrm>
            <a:off x="1325880" y="0"/>
            <a:ext cx="0" cy="6858000"/>
          </a:xfrm>
          <a:prstGeom prst="line"/>
          <a:noFill/>
          <a:ln w="6350">
            <a:solidFill>
              <a:srgbClr val="1B3A5C"/>
            </a:solidFill>
            <a:prstDash val="solid"/>
          </a:ln>
        </p:spPr>
      </p:sp>
      <p:sp>
        <p:nvSpPr>
          <p:cNvPr id="1048972" name="Shape 2"/>
          <p:cNvSpPr/>
          <p:nvPr/>
        </p:nvSpPr>
        <p:spPr>
          <a:xfrm>
            <a:off x="2103120" y="0"/>
            <a:ext cx="0" cy="6858000"/>
          </a:xfrm>
          <a:prstGeom prst="line"/>
          <a:noFill/>
          <a:ln w="6350">
            <a:solidFill>
              <a:srgbClr val="1B3A5C"/>
            </a:solidFill>
            <a:prstDash val="solid"/>
          </a:ln>
        </p:spPr>
      </p:sp>
      <p:sp>
        <p:nvSpPr>
          <p:cNvPr id="1048973" name="Shape 3"/>
          <p:cNvSpPr/>
          <p:nvPr/>
        </p:nvSpPr>
        <p:spPr>
          <a:xfrm>
            <a:off x="2880360" y="0"/>
            <a:ext cx="0" cy="6858000"/>
          </a:xfrm>
          <a:prstGeom prst="line"/>
          <a:noFill/>
          <a:ln w="6350">
            <a:solidFill>
              <a:srgbClr val="1B3A5C"/>
            </a:solidFill>
            <a:prstDash val="solid"/>
          </a:ln>
        </p:spPr>
      </p:sp>
      <p:sp>
        <p:nvSpPr>
          <p:cNvPr id="1048974" name="Shape 4"/>
          <p:cNvSpPr/>
          <p:nvPr/>
        </p:nvSpPr>
        <p:spPr>
          <a:xfrm>
            <a:off x="3657600" y="0"/>
            <a:ext cx="0" cy="6858000"/>
          </a:xfrm>
          <a:prstGeom prst="line"/>
          <a:noFill/>
          <a:ln w="6350">
            <a:solidFill>
              <a:srgbClr val="1B3A5C"/>
            </a:solidFill>
            <a:prstDash val="solid"/>
          </a:ln>
        </p:spPr>
      </p:sp>
      <p:sp>
        <p:nvSpPr>
          <p:cNvPr id="1048975" name="Shape 5"/>
          <p:cNvSpPr/>
          <p:nvPr/>
        </p:nvSpPr>
        <p:spPr>
          <a:xfrm>
            <a:off x="4434840" y="0"/>
            <a:ext cx="0" cy="6858000"/>
          </a:xfrm>
          <a:prstGeom prst="line"/>
          <a:noFill/>
          <a:ln w="6350">
            <a:solidFill>
              <a:srgbClr val="1B3A5C"/>
            </a:solidFill>
            <a:prstDash val="solid"/>
          </a:ln>
        </p:spPr>
      </p:sp>
      <p:sp>
        <p:nvSpPr>
          <p:cNvPr id="1048976" name="Shape 6"/>
          <p:cNvSpPr/>
          <p:nvPr/>
        </p:nvSpPr>
        <p:spPr>
          <a:xfrm>
            <a:off x="5212080" y="0"/>
            <a:ext cx="0" cy="6858000"/>
          </a:xfrm>
          <a:prstGeom prst="line"/>
          <a:noFill/>
          <a:ln w="6350">
            <a:solidFill>
              <a:srgbClr val="1B3A5C"/>
            </a:solidFill>
            <a:prstDash val="solid"/>
          </a:ln>
        </p:spPr>
      </p:sp>
      <p:sp>
        <p:nvSpPr>
          <p:cNvPr id="1048977" name="Shape 7"/>
          <p:cNvSpPr/>
          <p:nvPr/>
        </p:nvSpPr>
        <p:spPr>
          <a:xfrm>
            <a:off x="5989320" y="0"/>
            <a:ext cx="0" cy="6858000"/>
          </a:xfrm>
          <a:prstGeom prst="line"/>
          <a:noFill/>
          <a:ln w="6350">
            <a:solidFill>
              <a:srgbClr val="1B3A5C"/>
            </a:solidFill>
            <a:prstDash val="solid"/>
          </a:ln>
        </p:spPr>
      </p:sp>
      <p:sp>
        <p:nvSpPr>
          <p:cNvPr id="1048978" name="Shape 8"/>
          <p:cNvSpPr/>
          <p:nvPr/>
        </p:nvSpPr>
        <p:spPr>
          <a:xfrm>
            <a:off x="6766560" y="0"/>
            <a:ext cx="0" cy="6858000"/>
          </a:xfrm>
          <a:prstGeom prst="line"/>
          <a:noFill/>
          <a:ln w="6350">
            <a:solidFill>
              <a:srgbClr val="1B3A5C"/>
            </a:solidFill>
            <a:prstDash val="solid"/>
          </a:ln>
        </p:spPr>
      </p:sp>
      <p:sp>
        <p:nvSpPr>
          <p:cNvPr id="1048979" name="Shape 9"/>
          <p:cNvSpPr/>
          <p:nvPr/>
        </p:nvSpPr>
        <p:spPr>
          <a:xfrm>
            <a:off x="7543800" y="0"/>
            <a:ext cx="0" cy="6858000"/>
          </a:xfrm>
          <a:prstGeom prst="line"/>
          <a:noFill/>
          <a:ln w="6350">
            <a:solidFill>
              <a:srgbClr val="1B3A5C"/>
            </a:solidFill>
            <a:prstDash val="solid"/>
          </a:ln>
        </p:spPr>
      </p:sp>
      <p:sp>
        <p:nvSpPr>
          <p:cNvPr id="1048980" name="Shape 10"/>
          <p:cNvSpPr/>
          <p:nvPr/>
        </p:nvSpPr>
        <p:spPr>
          <a:xfrm>
            <a:off x="8321040" y="0"/>
            <a:ext cx="0" cy="6858000"/>
          </a:xfrm>
          <a:prstGeom prst="line"/>
          <a:noFill/>
          <a:ln w="6350">
            <a:solidFill>
              <a:srgbClr val="1B3A5C"/>
            </a:solidFill>
            <a:prstDash val="solid"/>
          </a:ln>
        </p:spPr>
      </p:sp>
      <p:sp>
        <p:nvSpPr>
          <p:cNvPr id="1048981" name="Shape 11"/>
          <p:cNvSpPr/>
          <p:nvPr/>
        </p:nvSpPr>
        <p:spPr>
          <a:xfrm>
            <a:off x="9098280" y="0"/>
            <a:ext cx="0" cy="6858000"/>
          </a:xfrm>
          <a:prstGeom prst="line"/>
          <a:noFill/>
          <a:ln w="6350">
            <a:solidFill>
              <a:srgbClr val="1B3A5C"/>
            </a:solidFill>
            <a:prstDash val="solid"/>
          </a:ln>
        </p:spPr>
      </p:sp>
      <p:sp>
        <p:nvSpPr>
          <p:cNvPr id="1048982" name="Shape 12"/>
          <p:cNvSpPr/>
          <p:nvPr/>
        </p:nvSpPr>
        <p:spPr>
          <a:xfrm>
            <a:off x="9875520" y="0"/>
            <a:ext cx="0" cy="6858000"/>
          </a:xfrm>
          <a:prstGeom prst="line"/>
          <a:noFill/>
          <a:ln w="6350">
            <a:solidFill>
              <a:srgbClr val="1B3A5C"/>
            </a:solidFill>
            <a:prstDash val="solid"/>
          </a:ln>
        </p:spPr>
      </p:sp>
      <p:sp>
        <p:nvSpPr>
          <p:cNvPr id="1048983" name="Shape 13"/>
          <p:cNvSpPr/>
          <p:nvPr/>
        </p:nvSpPr>
        <p:spPr>
          <a:xfrm>
            <a:off x="10652760" y="0"/>
            <a:ext cx="0" cy="6858000"/>
          </a:xfrm>
          <a:prstGeom prst="line"/>
          <a:noFill/>
          <a:ln w="6350">
            <a:solidFill>
              <a:srgbClr val="1B3A5C"/>
            </a:solidFill>
            <a:prstDash val="solid"/>
          </a:ln>
        </p:spPr>
      </p:sp>
      <p:sp>
        <p:nvSpPr>
          <p:cNvPr id="1048984" name="Shape 14"/>
          <p:cNvSpPr/>
          <p:nvPr/>
        </p:nvSpPr>
        <p:spPr>
          <a:xfrm>
            <a:off x="11430000" y="0"/>
            <a:ext cx="0" cy="6858000"/>
          </a:xfrm>
          <a:prstGeom prst="line"/>
          <a:noFill/>
          <a:ln w="6350">
            <a:solidFill>
              <a:srgbClr val="1B3A5C"/>
            </a:solidFill>
            <a:prstDash val="solid"/>
          </a:ln>
        </p:spPr>
      </p:sp>
      <p:sp>
        <p:nvSpPr>
          <p:cNvPr id="1048985" name="Shape 15"/>
          <p:cNvSpPr/>
          <p:nvPr/>
        </p:nvSpPr>
        <p:spPr>
          <a:xfrm>
            <a:off x="0" y="548640"/>
            <a:ext cx="12191695" cy="0"/>
          </a:xfrm>
          <a:prstGeom prst="line"/>
          <a:noFill/>
          <a:ln w="6350">
            <a:solidFill>
              <a:srgbClr val="1B3A5C"/>
            </a:solidFill>
            <a:prstDash val="solid"/>
          </a:ln>
        </p:spPr>
      </p:sp>
      <p:sp>
        <p:nvSpPr>
          <p:cNvPr id="1048986" name="Shape 16"/>
          <p:cNvSpPr/>
          <p:nvPr/>
        </p:nvSpPr>
        <p:spPr>
          <a:xfrm>
            <a:off x="0" y="1325880"/>
            <a:ext cx="12191695" cy="0"/>
          </a:xfrm>
          <a:prstGeom prst="line"/>
          <a:noFill/>
          <a:ln w="6350">
            <a:solidFill>
              <a:srgbClr val="1B3A5C"/>
            </a:solidFill>
            <a:prstDash val="solid"/>
          </a:ln>
        </p:spPr>
      </p:sp>
      <p:sp>
        <p:nvSpPr>
          <p:cNvPr id="1048987" name="Shape 17"/>
          <p:cNvSpPr/>
          <p:nvPr/>
        </p:nvSpPr>
        <p:spPr>
          <a:xfrm>
            <a:off x="0" y="2103120"/>
            <a:ext cx="12191695" cy="0"/>
          </a:xfrm>
          <a:prstGeom prst="line"/>
          <a:noFill/>
          <a:ln w="6350">
            <a:solidFill>
              <a:srgbClr val="1B3A5C"/>
            </a:solidFill>
            <a:prstDash val="solid"/>
          </a:ln>
        </p:spPr>
      </p:sp>
      <p:sp>
        <p:nvSpPr>
          <p:cNvPr id="1048988" name="Shape 18"/>
          <p:cNvSpPr/>
          <p:nvPr/>
        </p:nvSpPr>
        <p:spPr>
          <a:xfrm>
            <a:off x="0" y="2880360"/>
            <a:ext cx="12191695" cy="0"/>
          </a:xfrm>
          <a:prstGeom prst="line"/>
          <a:noFill/>
          <a:ln w="6350">
            <a:solidFill>
              <a:srgbClr val="1B3A5C"/>
            </a:solidFill>
            <a:prstDash val="solid"/>
          </a:ln>
        </p:spPr>
      </p:sp>
      <p:sp>
        <p:nvSpPr>
          <p:cNvPr id="1048989" name="Shape 19"/>
          <p:cNvSpPr/>
          <p:nvPr/>
        </p:nvSpPr>
        <p:spPr>
          <a:xfrm>
            <a:off x="0" y="3657600"/>
            <a:ext cx="12191695" cy="0"/>
          </a:xfrm>
          <a:prstGeom prst="line"/>
          <a:noFill/>
          <a:ln w="6350">
            <a:solidFill>
              <a:srgbClr val="1B3A5C"/>
            </a:solidFill>
            <a:prstDash val="solid"/>
          </a:ln>
        </p:spPr>
      </p:sp>
      <p:sp>
        <p:nvSpPr>
          <p:cNvPr id="1048990" name="Shape 20"/>
          <p:cNvSpPr/>
          <p:nvPr/>
        </p:nvSpPr>
        <p:spPr>
          <a:xfrm>
            <a:off x="0" y="4434840"/>
            <a:ext cx="12191695" cy="0"/>
          </a:xfrm>
          <a:prstGeom prst="line"/>
          <a:noFill/>
          <a:ln w="6350">
            <a:solidFill>
              <a:srgbClr val="1B3A5C"/>
            </a:solidFill>
            <a:prstDash val="solid"/>
          </a:ln>
        </p:spPr>
      </p:sp>
      <p:sp>
        <p:nvSpPr>
          <p:cNvPr id="1048991" name="Shape 21"/>
          <p:cNvSpPr/>
          <p:nvPr/>
        </p:nvSpPr>
        <p:spPr>
          <a:xfrm>
            <a:off x="0" y="5212080"/>
            <a:ext cx="12191695" cy="0"/>
          </a:xfrm>
          <a:prstGeom prst="line"/>
          <a:noFill/>
          <a:ln w="6350">
            <a:solidFill>
              <a:srgbClr val="1B3A5C"/>
            </a:solidFill>
            <a:prstDash val="solid"/>
          </a:ln>
        </p:spPr>
      </p:sp>
      <p:sp>
        <p:nvSpPr>
          <p:cNvPr id="1048992" name="Shape 22"/>
          <p:cNvSpPr/>
          <p:nvPr/>
        </p:nvSpPr>
        <p:spPr>
          <a:xfrm>
            <a:off x="0" y="5989320"/>
            <a:ext cx="12191695" cy="0"/>
          </a:xfrm>
          <a:prstGeom prst="line"/>
          <a:noFill/>
          <a:ln w="6350">
            <a:solidFill>
              <a:srgbClr val="1B3A5C"/>
            </a:solidFill>
            <a:prstDash val="solid"/>
          </a:ln>
        </p:spPr>
      </p:sp>
      <p:sp>
        <p:nvSpPr>
          <p:cNvPr id="1048993" name="Shape 23"/>
          <p:cNvSpPr/>
          <p:nvPr/>
        </p:nvSpPr>
        <p:spPr>
          <a:xfrm>
            <a:off x="0" y="6766560"/>
            <a:ext cx="12191695" cy="0"/>
          </a:xfrm>
          <a:prstGeom prst="line"/>
          <a:noFill/>
          <a:ln w="6350">
            <a:solidFill>
              <a:srgbClr val="1B3A5C"/>
            </a:solidFill>
            <a:prstDash val="solid"/>
          </a:ln>
        </p:spPr>
      </p:sp>
      <p:sp>
        <p:nvSpPr>
          <p:cNvPr id="1048994" name="Shape 24"/>
          <p:cNvSpPr/>
          <p:nvPr/>
        </p:nvSpPr>
        <p:spPr>
          <a:xfrm>
            <a:off x="201168" y="201168"/>
            <a:ext cx="11789359" cy="6455664"/>
          </a:xfrm>
          <a:prstGeom prst="rect"/>
          <a:ln w="15875">
            <a:solidFill>
              <a:srgbClr val="3E6690"/>
            </a:solidFill>
            <a:prstDash val="solid"/>
          </a:ln>
        </p:spPr>
      </p:sp>
      <p:sp>
        <p:nvSpPr>
          <p:cNvPr id="1048995" name="Shape 25"/>
          <p:cNvSpPr/>
          <p:nvPr/>
        </p:nvSpPr>
        <p:spPr>
          <a:xfrm>
            <a:off x="320040" y="320040"/>
            <a:ext cx="384048" cy="0"/>
          </a:xfrm>
          <a:prstGeom prst="line"/>
          <a:noFill/>
          <a:ln w="25400">
            <a:solidFill>
              <a:srgbClr val="6EC6FF"/>
            </a:solidFill>
            <a:prstDash val="solid"/>
          </a:ln>
        </p:spPr>
      </p:sp>
      <p:sp>
        <p:nvSpPr>
          <p:cNvPr id="1048996" name="Shape 26"/>
          <p:cNvSpPr/>
          <p:nvPr/>
        </p:nvSpPr>
        <p:spPr>
          <a:xfrm>
            <a:off x="320040" y="320040"/>
            <a:ext cx="0" cy="384048"/>
          </a:xfrm>
          <a:prstGeom prst="line"/>
          <a:noFill/>
          <a:ln w="25400">
            <a:solidFill>
              <a:srgbClr val="6EC6FF"/>
            </a:solidFill>
            <a:prstDash val="solid"/>
          </a:ln>
        </p:spPr>
      </p:sp>
      <p:sp>
        <p:nvSpPr>
          <p:cNvPr id="1048997" name="Shape 27"/>
          <p:cNvSpPr/>
          <p:nvPr/>
        </p:nvSpPr>
        <p:spPr>
          <a:xfrm>
            <a:off x="11487607" y="320040"/>
            <a:ext cx="384048" cy="0"/>
          </a:xfrm>
          <a:prstGeom prst="line"/>
          <a:noFill/>
          <a:ln w="25400">
            <a:solidFill>
              <a:srgbClr val="6EC6FF"/>
            </a:solidFill>
            <a:prstDash val="solid"/>
          </a:ln>
        </p:spPr>
      </p:sp>
      <p:sp>
        <p:nvSpPr>
          <p:cNvPr id="1048998" name="Shape 28"/>
          <p:cNvSpPr/>
          <p:nvPr/>
        </p:nvSpPr>
        <p:spPr>
          <a:xfrm>
            <a:off x="11871655" y="320040"/>
            <a:ext cx="0" cy="384048"/>
          </a:xfrm>
          <a:prstGeom prst="line"/>
          <a:noFill/>
          <a:ln w="25400">
            <a:solidFill>
              <a:srgbClr val="6EC6FF"/>
            </a:solidFill>
            <a:prstDash val="solid"/>
          </a:ln>
        </p:spPr>
      </p:sp>
      <p:sp>
        <p:nvSpPr>
          <p:cNvPr id="1048999" name="Shape 29"/>
          <p:cNvSpPr/>
          <p:nvPr/>
        </p:nvSpPr>
        <p:spPr>
          <a:xfrm>
            <a:off x="320040" y="6537960"/>
            <a:ext cx="384048" cy="0"/>
          </a:xfrm>
          <a:prstGeom prst="line"/>
          <a:noFill/>
          <a:ln w="25400">
            <a:solidFill>
              <a:srgbClr val="6EC6FF"/>
            </a:solidFill>
            <a:prstDash val="solid"/>
          </a:ln>
        </p:spPr>
      </p:sp>
      <p:sp>
        <p:nvSpPr>
          <p:cNvPr id="1049000" name="Shape 30"/>
          <p:cNvSpPr/>
          <p:nvPr/>
        </p:nvSpPr>
        <p:spPr>
          <a:xfrm>
            <a:off x="320040" y="6153912"/>
            <a:ext cx="0" cy="384048"/>
          </a:xfrm>
          <a:prstGeom prst="line"/>
          <a:noFill/>
          <a:ln w="25400">
            <a:solidFill>
              <a:srgbClr val="6EC6FF"/>
            </a:solidFill>
            <a:prstDash val="solid"/>
          </a:ln>
        </p:spPr>
      </p:sp>
      <p:sp>
        <p:nvSpPr>
          <p:cNvPr id="1049001" name="Shape 31"/>
          <p:cNvSpPr/>
          <p:nvPr/>
        </p:nvSpPr>
        <p:spPr>
          <a:xfrm>
            <a:off x="11487607" y="6537960"/>
            <a:ext cx="384048" cy="0"/>
          </a:xfrm>
          <a:prstGeom prst="line"/>
          <a:noFill/>
          <a:ln w="25400">
            <a:solidFill>
              <a:srgbClr val="6EC6FF"/>
            </a:solidFill>
            <a:prstDash val="solid"/>
          </a:ln>
        </p:spPr>
      </p:sp>
      <p:sp>
        <p:nvSpPr>
          <p:cNvPr id="1049002" name="Shape 32"/>
          <p:cNvSpPr/>
          <p:nvPr/>
        </p:nvSpPr>
        <p:spPr>
          <a:xfrm>
            <a:off x="11871655" y="6153912"/>
            <a:ext cx="0" cy="384048"/>
          </a:xfrm>
          <a:prstGeom prst="line"/>
          <a:noFill/>
          <a:ln w="25400">
            <a:solidFill>
              <a:srgbClr val="6EC6FF"/>
            </a:solidFill>
            <a:prstDash val="solid"/>
          </a:ln>
        </p:spPr>
      </p:sp>
      <p:sp>
        <p:nvSpPr>
          <p:cNvPr id="1049003" name="Text 33"/>
          <p:cNvSpPr/>
          <p:nvPr/>
        </p:nvSpPr>
        <p:spPr>
          <a:xfrm>
            <a:off x="9265615" y="6400800"/>
            <a:ext cx="2651760" cy="274320"/>
          </a:xfrm>
          <a:prstGeom prst="rect"/>
          <a:noFill/>
        </p:spPr>
        <p:txBody>
          <a:bodyPr anchor="ctr" rtlCol="0" wrap="square"/>
          <a:p>
            <a:pPr algn="r" indent="0" marL="0">
              <a:buNone/>
            </a:pPr>
            <a:r>
              <a:rPr dirty="0" sz="900" kern="0" lang="en-US" spc="100">
                <a:solidFill>
                  <a:srgbClr val="9FB8D1"/>
                </a:solidFill>
                <a:latin typeface="Courier New" pitchFamily="34" charset="0"/>
                <a:ea typeface="Courier New" pitchFamily="34" charset="-122"/>
                <a:cs typeface="Courier New" pitchFamily="34" charset="-120"/>
              </a:rPr>
              <a:t>CS / SHEET 7 OF 12</a:t>
            </a:r>
            <a:endParaRPr dirty="0" sz="900" lang="en-US"/>
          </a:p>
        </p:txBody>
      </p:sp>
      <p:sp>
        <p:nvSpPr>
          <p:cNvPr id="1049004" name="Text 34"/>
          <p:cNvSpPr/>
          <p:nvPr/>
        </p:nvSpPr>
        <p:spPr>
          <a:xfrm>
            <a:off x="411480" y="6400800"/>
            <a:ext cx="5486400" cy="274320"/>
          </a:xfrm>
          <a:prstGeom prst="rect"/>
          <a:noFill/>
        </p:spPr>
        <p:txBody>
          <a:bodyPr anchor="ctr" rtlCol="0" wrap="square"/>
          <a:p>
            <a:pPr indent="0" marL="0">
              <a:buNone/>
            </a:pPr>
            <a:r>
              <a:rPr dirty="0" sz="900" kern="0" lang="en-US" spc="100">
                <a:solidFill>
                  <a:srgbClr val="9FB8D1"/>
                </a:solidFill>
                <a:latin typeface="Courier New" pitchFamily="34" charset="0"/>
                <a:ea typeface="Courier New" pitchFamily="34" charset="-122"/>
                <a:cs typeface="Courier New" pitchFamily="34" charset="-120"/>
              </a:rPr>
              <a:t>COFFEE SHOP ORDER PROCESSOR — REFACTORING</a:t>
            </a:r>
            <a:endParaRPr dirty="0" sz="900" lang="en-US"/>
          </a:p>
        </p:txBody>
      </p:sp>
      <p:sp>
        <p:nvSpPr>
          <p:cNvPr id="1049005" name="Shape 35"/>
          <p:cNvSpPr/>
          <p:nvPr/>
        </p:nvSpPr>
        <p:spPr>
          <a:xfrm>
            <a:off x="548640" y="502920"/>
            <a:ext cx="3383280" cy="292608"/>
          </a:xfrm>
          <a:prstGeom prst="rect"/>
          <a:solidFill>
            <a:srgbClr val="06162A"/>
          </a:solidFill>
          <a:ln w="12700">
            <a:solidFill>
              <a:srgbClr val="8FD3FF"/>
            </a:solidFill>
            <a:prstDash val="solid"/>
          </a:ln>
        </p:spPr>
      </p:sp>
      <p:sp>
        <p:nvSpPr>
          <p:cNvPr id="1049006" name="Text 36"/>
          <p:cNvSpPr/>
          <p:nvPr/>
        </p:nvSpPr>
        <p:spPr>
          <a:xfrm>
            <a:off x="548640" y="502920"/>
            <a:ext cx="3383280" cy="292608"/>
          </a:xfrm>
          <a:prstGeom prst="rect"/>
          <a:noFill/>
        </p:spPr>
        <p:txBody>
          <a:bodyPr anchor="ctr" rtlCol="0" wrap="square"/>
          <a:p>
            <a:pPr algn="ctr" indent="0" marL="0">
              <a:buNone/>
            </a:pPr>
            <a:r>
              <a:rPr b="1" dirty="0" sz="1050" kern="0" lang="en-US" spc="100">
                <a:solidFill>
                  <a:srgbClr val="8FD3FF"/>
                </a:solidFill>
                <a:latin typeface="Courier New" pitchFamily="34" charset="0"/>
                <a:ea typeface="Courier New" pitchFamily="34" charset="-122"/>
                <a:cs typeface="Courier New" pitchFamily="34" charset="-120"/>
              </a:rPr>
              <a:t>SHEET 07 — CONCEPT SPOTLIGHT</a:t>
            </a:r>
            <a:endParaRPr dirty="0" sz="1050" lang="en-US"/>
          </a:p>
        </p:txBody>
      </p:sp>
      <p:sp>
        <p:nvSpPr>
          <p:cNvPr id="1049007" name="Text 37"/>
          <p:cNvSpPr/>
          <p:nvPr/>
        </p:nvSpPr>
        <p:spPr>
          <a:xfrm>
            <a:off x="548640" y="914400"/>
            <a:ext cx="10058400" cy="548640"/>
          </a:xfrm>
          <a:prstGeom prst="rect"/>
          <a:noFill/>
        </p:spPr>
        <p:txBody>
          <a:bodyPr anchor="ctr" rtlCol="0" wrap="square"/>
          <a:p>
            <a:pPr indent="0" marL="0">
              <a:buNone/>
            </a:pPr>
            <a:r>
              <a:rPr b="1" dirty="0" sz="2800" lang="en-US">
                <a:solidFill>
                  <a:srgbClr val="FFFFFF"/>
                </a:solidFill>
                <a:latin typeface="Arial" pitchFamily="34" charset="0"/>
                <a:ea typeface="Arial" pitchFamily="34" charset="-122"/>
                <a:cs typeface="Arial" pitchFamily="34" charset="-120"/>
              </a:rPr>
              <a:t>Low Coupling, Explained</a:t>
            </a:r>
            <a:endParaRPr dirty="0" sz="2800" lang="en-US"/>
          </a:p>
        </p:txBody>
      </p:sp>
      <p:sp>
        <p:nvSpPr>
          <p:cNvPr id="1049008" name="Text 38"/>
          <p:cNvSpPr/>
          <p:nvPr/>
        </p:nvSpPr>
        <p:spPr>
          <a:xfrm>
            <a:off x="548640" y="1417320"/>
            <a:ext cx="10058400" cy="365760"/>
          </a:xfrm>
          <a:prstGeom prst="rect"/>
          <a:noFill/>
        </p:spPr>
        <p:txBody>
          <a:bodyPr anchor="ctr" rtlCol="0" wrap="square"/>
          <a:p>
            <a:pPr indent="0" marL="0">
              <a:buNone/>
            </a:pPr>
            <a:r>
              <a:rPr dirty="0" sz="1400" i="1" lang="en-US">
                <a:solidFill>
                  <a:srgbClr val="9FB8D1"/>
                </a:solidFill>
                <a:latin typeface="Calibri" pitchFamily="34" charset="0"/>
                <a:ea typeface="Calibri" pitchFamily="34" charset="-122"/>
                <a:cs typeface="Calibri" pitchFamily="34" charset="-120"/>
              </a:rPr>
              <a:t>What it means in the code, and what it looks like in real life</a:t>
            </a:r>
            <a:endParaRPr dirty="0" sz="1400" lang="en-US"/>
          </a:p>
        </p:txBody>
      </p:sp>
      <p:sp>
        <p:nvSpPr>
          <p:cNvPr id="1049009" name="Shape 39"/>
          <p:cNvSpPr/>
          <p:nvPr/>
        </p:nvSpPr>
        <p:spPr>
          <a:xfrm>
            <a:off x="292608" y="1847088"/>
            <a:ext cx="512064" cy="512064"/>
          </a:xfrm>
          <a:prstGeom prst="ellipse"/>
          <a:solidFill>
            <a:srgbClr val="06162A"/>
          </a:solidFill>
          <a:ln w="19050">
            <a:solidFill>
              <a:srgbClr val="FFB627"/>
            </a:solidFill>
            <a:prstDash val="solid"/>
          </a:ln>
        </p:spPr>
      </p:sp>
      <p:sp>
        <p:nvSpPr>
          <p:cNvPr id="1049010" name="Text 40"/>
          <p:cNvSpPr/>
          <p:nvPr/>
        </p:nvSpPr>
        <p:spPr>
          <a:xfrm>
            <a:off x="292608" y="1847088"/>
            <a:ext cx="512064" cy="512064"/>
          </a:xfrm>
          <a:prstGeom prst="rect"/>
          <a:noFill/>
        </p:spPr>
        <p:txBody>
          <a:bodyPr anchor="ctr" rtlCol="0" wrap="square"/>
          <a:p>
            <a:pPr algn="ctr" indent="0" marL="0">
              <a:buNone/>
            </a:pPr>
            <a:r>
              <a:rPr b="1" dirty="0" sz="1800" lang="en-US">
                <a:solidFill>
                  <a:srgbClr val="FFB627"/>
                </a:solidFill>
                <a:latin typeface="Courier New" pitchFamily="34" charset="0"/>
                <a:ea typeface="Courier New" pitchFamily="34" charset="-122"/>
                <a:cs typeface="Courier New" pitchFamily="34" charset="-120"/>
              </a:rPr>
              <a:t>A</a:t>
            </a:r>
            <a:endParaRPr dirty="0" sz="1800" lang="en-US"/>
          </a:p>
        </p:txBody>
      </p:sp>
      <p:sp>
        <p:nvSpPr>
          <p:cNvPr id="1049011" name="Shape 41"/>
          <p:cNvSpPr/>
          <p:nvPr/>
        </p:nvSpPr>
        <p:spPr>
          <a:xfrm>
            <a:off x="548640" y="2103120"/>
            <a:ext cx="5349240" cy="3977640"/>
          </a:xfrm>
          <a:prstGeom prst="rect"/>
          <a:solidFill>
            <a:srgbClr val="102C4C"/>
          </a:solidFill>
          <a:ln w="12700">
            <a:solidFill>
              <a:srgbClr val="3E6690"/>
            </a:solidFill>
            <a:prstDash val="dash"/>
          </a:ln>
        </p:spPr>
      </p:sp>
      <p:sp>
        <p:nvSpPr>
          <p:cNvPr id="1049012" name="Shape 42"/>
          <p:cNvSpPr/>
          <p:nvPr/>
        </p:nvSpPr>
        <p:spPr>
          <a:xfrm>
            <a:off x="868680" y="2468880"/>
            <a:ext cx="685800" cy="685800"/>
          </a:xfrm>
          <a:prstGeom prst="rect"/>
          <a:solidFill>
            <a:srgbClr val="FFB627"/>
          </a:solidFill>
          <a:ln w="12700">
            <a:solidFill>
              <a:srgbClr val="FFFFFF"/>
            </a:solidFill>
            <a:prstDash val="solid"/>
          </a:ln>
        </p:spPr>
      </p:sp>
      <p:pic>
        <p:nvPicPr>
          <p:cNvPr id="2097163" name="Image 0" descr="/home/claude/icons/layers.png"/>
          <p:cNvPicPr>
            <a:picLocks noChangeAspect="1"/>
          </p:cNvPicPr>
          <p:nvPr/>
        </p:nvPicPr>
        <p:blipFill>
          <a:blip xmlns:r="http://schemas.openxmlformats.org/officeDocument/2006/relationships" r:embed="rId1"/>
          <a:stretch>
            <a:fillRect/>
          </a:stretch>
        </p:blipFill>
        <p:spPr>
          <a:xfrm>
            <a:off x="1033272" y="2633472"/>
            <a:ext cx="356616" cy="356616"/>
          </a:xfrm>
          <a:prstGeom prst="rect"/>
        </p:spPr>
      </p:pic>
      <p:sp>
        <p:nvSpPr>
          <p:cNvPr id="1049013" name="Text 43"/>
          <p:cNvSpPr/>
          <p:nvPr/>
        </p:nvSpPr>
        <p:spPr>
          <a:xfrm>
            <a:off x="1783080" y="2487168"/>
            <a:ext cx="3794760" cy="320040"/>
          </a:xfrm>
          <a:prstGeom prst="rect"/>
          <a:noFill/>
        </p:spPr>
        <p:txBody>
          <a:bodyPr anchor="ctr" rtlCol="0" wrap="square"/>
          <a:p>
            <a:pPr indent="0" marL="0">
              <a:buNone/>
            </a:pPr>
            <a:r>
              <a:rPr b="1" dirty="0" sz="1300" kern="0" lang="en-US" spc="150">
                <a:solidFill>
                  <a:srgbClr val="8FD3FF"/>
                </a:solidFill>
                <a:latin typeface="Courier New" pitchFamily="34" charset="0"/>
                <a:ea typeface="Courier New" pitchFamily="34" charset="-122"/>
                <a:cs typeface="Courier New" pitchFamily="34" charset="-120"/>
              </a:rPr>
              <a:t>THE CONCEPT</a:t>
            </a:r>
            <a:endParaRPr dirty="0" sz="1300" lang="en-US"/>
          </a:p>
        </p:txBody>
      </p:sp>
      <p:sp>
        <p:nvSpPr>
          <p:cNvPr id="1049014" name="Text 44"/>
          <p:cNvSpPr/>
          <p:nvPr/>
        </p:nvSpPr>
        <p:spPr>
          <a:xfrm>
            <a:off x="1783080" y="2816352"/>
            <a:ext cx="3794760" cy="457200"/>
          </a:xfrm>
          <a:prstGeom prst="rect"/>
          <a:noFill/>
        </p:spPr>
        <p:txBody>
          <a:bodyPr anchor="ctr" rtlCol="0" wrap="square"/>
          <a:p>
            <a:pPr indent="0" marL="0">
              <a:buNone/>
            </a:pPr>
            <a:r>
              <a:rPr b="1" dirty="0" sz="1900" lang="en-US">
                <a:solidFill>
                  <a:srgbClr val="FFFFFF"/>
                </a:solidFill>
                <a:latin typeface="Arial" pitchFamily="34" charset="0"/>
                <a:ea typeface="Arial" pitchFamily="34" charset="-122"/>
                <a:cs typeface="Arial" pitchFamily="34" charset="-120"/>
              </a:rPr>
              <a:t>Depends on contracts, not concretions</a:t>
            </a:r>
            <a:endParaRPr dirty="0" sz="1900" lang="en-US"/>
          </a:p>
        </p:txBody>
      </p:sp>
      <p:sp>
        <p:nvSpPr>
          <p:cNvPr id="1049015" name="Shape 45"/>
          <p:cNvSpPr/>
          <p:nvPr/>
        </p:nvSpPr>
        <p:spPr>
          <a:xfrm>
            <a:off x="868680" y="3520440"/>
            <a:ext cx="4709160" cy="0"/>
          </a:xfrm>
          <a:prstGeom prst="line"/>
          <a:noFill/>
          <a:ln w="9525">
            <a:solidFill>
              <a:srgbClr val="3E6690"/>
            </a:solidFill>
            <a:prstDash val="solid"/>
          </a:ln>
        </p:spPr>
      </p:sp>
      <p:sp>
        <p:nvSpPr>
          <p:cNvPr id="1049016" name="Text 46"/>
          <p:cNvSpPr/>
          <p:nvPr/>
        </p:nvSpPr>
        <p:spPr>
          <a:xfrm>
            <a:off x="868680" y="3749040"/>
            <a:ext cx="4709160" cy="2103120"/>
          </a:xfrm>
          <a:prstGeom prst="rect"/>
          <a:noFill/>
        </p:spPr>
        <p:txBody>
          <a:bodyPr anchor="t" rtlCol="0" wrap="square"/>
          <a:p>
            <a:pPr indent="0" marL="0">
              <a:buNone/>
            </a:pPr>
            <a:r>
              <a:rPr dirty="0" sz="1500" lang="en-US">
                <a:solidFill>
                  <a:srgbClr val="9FB8D1"/>
                </a:solidFill>
                <a:latin typeface="Calibri" pitchFamily="34" charset="0"/>
                <a:ea typeface="Calibri" pitchFamily="34" charset="-122"/>
                <a:cs typeface="Calibri" pitchFamily="34" charset="-120"/>
              </a:rPr>
              <a:t>OrderProcessor only knows the TaxCalculator and OrderRepository interfaces. It never creates or references StandardTaxCalculator or FileOrderRepository directly — Main injects them through the constructor, so one can be swapped without ever touching OrderProcessor.</a:t>
            </a:r>
            <a:endParaRPr dirty="0" sz="1500" lang="en-US"/>
          </a:p>
        </p:txBody>
      </p:sp>
      <p:sp>
        <p:nvSpPr>
          <p:cNvPr id="1049017" name="Shape 47"/>
          <p:cNvSpPr/>
          <p:nvPr/>
        </p:nvSpPr>
        <p:spPr>
          <a:xfrm>
            <a:off x="6007608" y="1847088"/>
            <a:ext cx="512064" cy="512064"/>
          </a:xfrm>
          <a:prstGeom prst="ellipse"/>
          <a:solidFill>
            <a:srgbClr val="06162A"/>
          </a:solidFill>
          <a:ln w="19050">
            <a:solidFill>
              <a:srgbClr val="FFB627"/>
            </a:solidFill>
            <a:prstDash val="solid"/>
          </a:ln>
        </p:spPr>
      </p:sp>
      <p:sp>
        <p:nvSpPr>
          <p:cNvPr id="1049018" name="Text 48"/>
          <p:cNvSpPr/>
          <p:nvPr/>
        </p:nvSpPr>
        <p:spPr>
          <a:xfrm>
            <a:off x="6007608" y="1847088"/>
            <a:ext cx="512064" cy="512064"/>
          </a:xfrm>
          <a:prstGeom prst="rect"/>
          <a:noFill/>
        </p:spPr>
        <p:txBody>
          <a:bodyPr anchor="ctr" rtlCol="0" wrap="square"/>
          <a:p>
            <a:pPr algn="ctr" indent="0" marL="0">
              <a:buNone/>
            </a:pPr>
            <a:r>
              <a:rPr b="1" dirty="0" sz="1800" lang="en-US">
                <a:solidFill>
                  <a:srgbClr val="FFB627"/>
                </a:solidFill>
                <a:latin typeface="Courier New" pitchFamily="34" charset="0"/>
                <a:ea typeface="Courier New" pitchFamily="34" charset="-122"/>
                <a:cs typeface="Courier New" pitchFamily="34" charset="-120"/>
              </a:rPr>
              <a:t>B</a:t>
            </a:r>
            <a:endParaRPr dirty="0" sz="1800" lang="en-US"/>
          </a:p>
        </p:txBody>
      </p:sp>
      <p:sp>
        <p:nvSpPr>
          <p:cNvPr id="1049019" name="Shape 49"/>
          <p:cNvSpPr/>
          <p:nvPr/>
        </p:nvSpPr>
        <p:spPr>
          <a:xfrm>
            <a:off x="6263640" y="2103120"/>
            <a:ext cx="5349240" cy="3977640"/>
          </a:xfrm>
          <a:prstGeom prst="rect"/>
          <a:solidFill>
            <a:srgbClr val="102C4C"/>
          </a:solidFill>
          <a:ln w="12700">
            <a:solidFill>
              <a:srgbClr val="3E6690"/>
            </a:solidFill>
            <a:prstDash val="dash"/>
          </a:ln>
        </p:spPr>
      </p:sp>
      <p:sp>
        <p:nvSpPr>
          <p:cNvPr id="1049020" name="Shape 50"/>
          <p:cNvSpPr/>
          <p:nvPr/>
        </p:nvSpPr>
        <p:spPr>
          <a:xfrm>
            <a:off x="6583680" y="2468880"/>
            <a:ext cx="685800" cy="685800"/>
          </a:xfrm>
          <a:prstGeom prst="rect"/>
          <a:solidFill>
            <a:srgbClr val="FFB627"/>
          </a:solidFill>
          <a:ln w="12700">
            <a:solidFill>
              <a:srgbClr val="FFFFFF"/>
            </a:solidFill>
            <a:prstDash val="solid"/>
          </a:ln>
        </p:spPr>
      </p:sp>
      <p:pic>
        <p:nvPicPr>
          <p:cNvPr id="2097164" name="Image 1" descr="/home/claude/icons/gitpull.png"/>
          <p:cNvPicPr>
            <a:picLocks noChangeAspect="1"/>
          </p:cNvPicPr>
          <p:nvPr/>
        </p:nvPicPr>
        <p:blipFill>
          <a:blip xmlns:r="http://schemas.openxmlformats.org/officeDocument/2006/relationships" r:embed="rId2"/>
          <a:stretch>
            <a:fillRect/>
          </a:stretch>
        </p:blipFill>
        <p:spPr>
          <a:xfrm>
            <a:off x="6748272" y="2633472"/>
            <a:ext cx="356616" cy="356616"/>
          </a:xfrm>
          <a:prstGeom prst="rect"/>
        </p:spPr>
      </p:pic>
      <p:sp>
        <p:nvSpPr>
          <p:cNvPr id="1049021" name="Text 51"/>
          <p:cNvSpPr/>
          <p:nvPr/>
        </p:nvSpPr>
        <p:spPr>
          <a:xfrm>
            <a:off x="7498080" y="2487168"/>
            <a:ext cx="3794760" cy="320040"/>
          </a:xfrm>
          <a:prstGeom prst="rect"/>
          <a:noFill/>
        </p:spPr>
        <p:txBody>
          <a:bodyPr anchor="ctr" rtlCol="0" wrap="square"/>
          <a:p>
            <a:pPr indent="0" marL="0">
              <a:buNone/>
            </a:pPr>
            <a:r>
              <a:rPr b="1" dirty="0" sz="1300" kern="0" lang="en-US" spc="150">
                <a:solidFill>
                  <a:srgbClr val="8FD3FF"/>
                </a:solidFill>
                <a:latin typeface="Courier New" pitchFamily="34" charset="0"/>
                <a:ea typeface="Courier New" pitchFamily="34" charset="-122"/>
                <a:cs typeface="Courier New" pitchFamily="34" charset="-120"/>
              </a:rPr>
              <a:t>REAL-WORLD EXAMPLE</a:t>
            </a:r>
            <a:endParaRPr dirty="0" sz="1300" lang="en-US"/>
          </a:p>
        </p:txBody>
      </p:sp>
      <p:sp>
        <p:nvSpPr>
          <p:cNvPr id="1049022" name="Text 52"/>
          <p:cNvSpPr/>
          <p:nvPr/>
        </p:nvSpPr>
        <p:spPr>
          <a:xfrm>
            <a:off x="7498080" y="2816352"/>
            <a:ext cx="3794760" cy="457200"/>
          </a:xfrm>
          <a:prstGeom prst="rect"/>
          <a:noFill/>
        </p:spPr>
        <p:txBody>
          <a:bodyPr anchor="ctr" rtlCol="0" wrap="square"/>
          <a:p>
            <a:pPr indent="0" marL="0">
              <a:buNone/>
            </a:pPr>
            <a:r>
              <a:rPr b="1" dirty="0" sz="1900" lang="en-US">
                <a:solidFill>
                  <a:srgbClr val="FFFFFF"/>
                </a:solidFill>
                <a:latin typeface="Arial" pitchFamily="34" charset="0"/>
                <a:ea typeface="Arial" pitchFamily="34" charset="-122"/>
                <a:cs typeface="Arial" pitchFamily="34" charset="-120"/>
              </a:rPr>
              <a:t>A wall power outlet</a:t>
            </a:r>
            <a:endParaRPr dirty="0" sz="1900" lang="en-US"/>
          </a:p>
        </p:txBody>
      </p:sp>
      <p:sp>
        <p:nvSpPr>
          <p:cNvPr id="1049023" name="Shape 53"/>
          <p:cNvSpPr/>
          <p:nvPr/>
        </p:nvSpPr>
        <p:spPr>
          <a:xfrm>
            <a:off x="6583680" y="3520440"/>
            <a:ext cx="4709160" cy="0"/>
          </a:xfrm>
          <a:prstGeom prst="line"/>
          <a:noFill/>
          <a:ln w="9525">
            <a:solidFill>
              <a:srgbClr val="3E6690"/>
            </a:solidFill>
            <a:prstDash val="solid"/>
          </a:ln>
        </p:spPr>
      </p:sp>
      <p:sp>
        <p:nvSpPr>
          <p:cNvPr id="1049024" name="Text 54"/>
          <p:cNvSpPr/>
          <p:nvPr/>
        </p:nvSpPr>
        <p:spPr>
          <a:xfrm>
            <a:off x="6583680" y="3749040"/>
            <a:ext cx="4709160" cy="2103120"/>
          </a:xfrm>
          <a:prstGeom prst="rect"/>
          <a:noFill/>
        </p:spPr>
        <p:txBody>
          <a:bodyPr anchor="t" rtlCol="0" wrap="square"/>
          <a:p>
            <a:pPr indent="0" marL="0">
              <a:buNone/>
            </a:pPr>
            <a:r>
              <a:rPr dirty="0" sz="1500" lang="en-US">
                <a:solidFill>
                  <a:srgbClr val="9FB8D1"/>
                </a:solidFill>
                <a:latin typeface="Calibri" pitchFamily="34" charset="0"/>
                <a:ea typeface="Calibri" pitchFamily="34" charset="-122"/>
                <a:cs typeface="Calibri" pitchFamily="34" charset="-120"/>
              </a:rPr>
              <a:t>A lamp doesn’t care whether power comes from solar panels, a generator, or the grid — it just plugs into a standard outlet. Swap the power source behind the wall and the lamp keeps working, untouched. The outlet is the interface; the power source is the concrete implementation.</a:t>
            </a:r>
            <a:endParaRPr dirty="0" sz="15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0A1F38"/>
        </a:solidFill>
      </p:bgPr>
    </p:bg>
    <p:spTree>
      <p:nvGrpSpPr>
        <p:cNvPr id="36" name=""/>
        <p:cNvGrpSpPr/>
        <p:nvPr/>
      </p:nvGrpSpPr>
      <p:grpSpPr>
        <a:xfrm>
          <a:off x="0" y="0"/>
          <a:ext cx="0" cy="0"/>
          <a:chOff x="0" y="0"/>
          <a:chExt cx="0" cy="0"/>
        </a:xfrm>
      </p:grpSpPr>
      <p:sp>
        <p:nvSpPr>
          <p:cNvPr id="1049025" name="Shape 0"/>
          <p:cNvSpPr/>
          <p:nvPr/>
        </p:nvSpPr>
        <p:spPr>
          <a:xfrm>
            <a:off x="548640" y="0"/>
            <a:ext cx="0" cy="6858000"/>
          </a:xfrm>
          <a:prstGeom prst="line"/>
          <a:noFill/>
          <a:ln w="6350">
            <a:solidFill>
              <a:srgbClr val="1B3A5C"/>
            </a:solidFill>
            <a:prstDash val="solid"/>
          </a:ln>
        </p:spPr>
      </p:sp>
      <p:sp>
        <p:nvSpPr>
          <p:cNvPr id="1049026" name="Shape 1"/>
          <p:cNvSpPr/>
          <p:nvPr/>
        </p:nvSpPr>
        <p:spPr>
          <a:xfrm>
            <a:off x="1325880" y="0"/>
            <a:ext cx="0" cy="6858000"/>
          </a:xfrm>
          <a:prstGeom prst="line"/>
          <a:noFill/>
          <a:ln w="6350">
            <a:solidFill>
              <a:srgbClr val="1B3A5C"/>
            </a:solidFill>
            <a:prstDash val="solid"/>
          </a:ln>
        </p:spPr>
      </p:sp>
      <p:sp>
        <p:nvSpPr>
          <p:cNvPr id="1049027" name="Shape 2"/>
          <p:cNvSpPr/>
          <p:nvPr/>
        </p:nvSpPr>
        <p:spPr>
          <a:xfrm>
            <a:off x="2103120" y="0"/>
            <a:ext cx="0" cy="6858000"/>
          </a:xfrm>
          <a:prstGeom prst="line"/>
          <a:noFill/>
          <a:ln w="6350">
            <a:solidFill>
              <a:srgbClr val="1B3A5C"/>
            </a:solidFill>
            <a:prstDash val="solid"/>
          </a:ln>
        </p:spPr>
      </p:sp>
      <p:sp>
        <p:nvSpPr>
          <p:cNvPr id="1049028" name="Shape 3"/>
          <p:cNvSpPr/>
          <p:nvPr/>
        </p:nvSpPr>
        <p:spPr>
          <a:xfrm>
            <a:off x="2880360" y="0"/>
            <a:ext cx="0" cy="6858000"/>
          </a:xfrm>
          <a:prstGeom prst="line"/>
          <a:noFill/>
          <a:ln w="6350">
            <a:solidFill>
              <a:srgbClr val="1B3A5C"/>
            </a:solidFill>
            <a:prstDash val="solid"/>
          </a:ln>
        </p:spPr>
      </p:sp>
      <p:sp>
        <p:nvSpPr>
          <p:cNvPr id="1049029" name="Shape 4"/>
          <p:cNvSpPr/>
          <p:nvPr/>
        </p:nvSpPr>
        <p:spPr>
          <a:xfrm>
            <a:off x="3657600" y="0"/>
            <a:ext cx="0" cy="6858000"/>
          </a:xfrm>
          <a:prstGeom prst="line"/>
          <a:noFill/>
          <a:ln w="6350">
            <a:solidFill>
              <a:srgbClr val="1B3A5C"/>
            </a:solidFill>
            <a:prstDash val="solid"/>
          </a:ln>
        </p:spPr>
      </p:sp>
      <p:sp>
        <p:nvSpPr>
          <p:cNvPr id="1049030" name="Shape 5"/>
          <p:cNvSpPr/>
          <p:nvPr/>
        </p:nvSpPr>
        <p:spPr>
          <a:xfrm>
            <a:off x="4434840" y="0"/>
            <a:ext cx="0" cy="6858000"/>
          </a:xfrm>
          <a:prstGeom prst="line"/>
          <a:noFill/>
          <a:ln w="6350">
            <a:solidFill>
              <a:srgbClr val="1B3A5C"/>
            </a:solidFill>
            <a:prstDash val="solid"/>
          </a:ln>
        </p:spPr>
      </p:sp>
      <p:sp>
        <p:nvSpPr>
          <p:cNvPr id="1049031" name="Shape 6"/>
          <p:cNvSpPr/>
          <p:nvPr/>
        </p:nvSpPr>
        <p:spPr>
          <a:xfrm>
            <a:off x="5212080" y="0"/>
            <a:ext cx="0" cy="6858000"/>
          </a:xfrm>
          <a:prstGeom prst="line"/>
          <a:noFill/>
          <a:ln w="6350">
            <a:solidFill>
              <a:srgbClr val="1B3A5C"/>
            </a:solidFill>
            <a:prstDash val="solid"/>
          </a:ln>
        </p:spPr>
      </p:sp>
      <p:sp>
        <p:nvSpPr>
          <p:cNvPr id="1049032" name="Shape 7"/>
          <p:cNvSpPr/>
          <p:nvPr/>
        </p:nvSpPr>
        <p:spPr>
          <a:xfrm>
            <a:off x="5989320" y="0"/>
            <a:ext cx="0" cy="6858000"/>
          </a:xfrm>
          <a:prstGeom prst="line"/>
          <a:noFill/>
          <a:ln w="6350">
            <a:solidFill>
              <a:srgbClr val="1B3A5C"/>
            </a:solidFill>
            <a:prstDash val="solid"/>
          </a:ln>
        </p:spPr>
      </p:sp>
      <p:sp>
        <p:nvSpPr>
          <p:cNvPr id="1049033" name="Shape 8"/>
          <p:cNvSpPr/>
          <p:nvPr/>
        </p:nvSpPr>
        <p:spPr>
          <a:xfrm>
            <a:off x="6766560" y="0"/>
            <a:ext cx="0" cy="6858000"/>
          </a:xfrm>
          <a:prstGeom prst="line"/>
          <a:noFill/>
          <a:ln w="6350">
            <a:solidFill>
              <a:srgbClr val="1B3A5C"/>
            </a:solidFill>
            <a:prstDash val="solid"/>
          </a:ln>
        </p:spPr>
      </p:sp>
      <p:sp>
        <p:nvSpPr>
          <p:cNvPr id="1049034" name="Shape 9"/>
          <p:cNvSpPr/>
          <p:nvPr/>
        </p:nvSpPr>
        <p:spPr>
          <a:xfrm>
            <a:off x="7543800" y="0"/>
            <a:ext cx="0" cy="6858000"/>
          </a:xfrm>
          <a:prstGeom prst="line"/>
          <a:noFill/>
          <a:ln w="6350">
            <a:solidFill>
              <a:srgbClr val="1B3A5C"/>
            </a:solidFill>
            <a:prstDash val="solid"/>
          </a:ln>
        </p:spPr>
      </p:sp>
      <p:sp>
        <p:nvSpPr>
          <p:cNvPr id="1049035" name="Shape 10"/>
          <p:cNvSpPr/>
          <p:nvPr/>
        </p:nvSpPr>
        <p:spPr>
          <a:xfrm>
            <a:off x="8321040" y="0"/>
            <a:ext cx="0" cy="6858000"/>
          </a:xfrm>
          <a:prstGeom prst="line"/>
          <a:noFill/>
          <a:ln w="6350">
            <a:solidFill>
              <a:srgbClr val="1B3A5C"/>
            </a:solidFill>
            <a:prstDash val="solid"/>
          </a:ln>
        </p:spPr>
      </p:sp>
      <p:sp>
        <p:nvSpPr>
          <p:cNvPr id="1049036" name="Shape 11"/>
          <p:cNvSpPr/>
          <p:nvPr/>
        </p:nvSpPr>
        <p:spPr>
          <a:xfrm>
            <a:off x="9098280" y="0"/>
            <a:ext cx="0" cy="6858000"/>
          </a:xfrm>
          <a:prstGeom prst="line"/>
          <a:noFill/>
          <a:ln w="6350">
            <a:solidFill>
              <a:srgbClr val="1B3A5C"/>
            </a:solidFill>
            <a:prstDash val="solid"/>
          </a:ln>
        </p:spPr>
      </p:sp>
      <p:sp>
        <p:nvSpPr>
          <p:cNvPr id="1049037" name="Shape 12"/>
          <p:cNvSpPr/>
          <p:nvPr/>
        </p:nvSpPr>
        <p:spPr>
          <a:xfrm>
            <a:off x="9875520" y="0"/>
            <a:ext cx="0" cy="6858000"/>
          </a:xfrm>
          <a:prstGeom prst="line"/>
          <a:noFill/>
          <a:ln w="6350">
            <a:solidFill>
              <a:srgbClr val="1B3A5C"/>
            </a:solidFill>
            <a:prstDash val="solid"/>
          </a:ln>
        </p:spPr>
      </p:sp>
      <p:sp>
        <p:nvSpPr>
          <p:cNvPr id="1049038" name="Shape 13"/>
          <p:cNvSpPr/>
          <p:nvPr/>
        </p:nvSpPr>
        <p:spPr>
          <a:xfrm>
            <a:off x="10652760" y="0"/>
            <a:ext cx="0" cy="6858000"/>
          </a:xfrm>
          <a:prstGeom prst="line"/>
          <a:noFill/>
          <a:ln w="6350">
            <a:solidFill>
              <a:srgbClr val="1B3A5C"/>
            </a:solidFill>
            <a:prstDash val="solid"/>
          </a:ln>
        </p:spPr>
      </p:sp>
      <p:sp>
        <p:nvSpPr>
          <p:cNvPr id="1049039" name="Shape 14"/>
          <p:cNvSpPr/>
          <p:nvPr/>
        </p:nvSpPr>
        <p:spPr>
          <a:xfrm>
            <a:off x="11430000" y="0"/>
            <a:ext cx="0" cy="6858000"/>
          </a:xfrm>
          <a:prstGeom prst="line"/>
          <a:noFill/>
          <a:ln w="6350">
            <a:solidFill>
              <a:srgbClr val="1B3A5C"/>
            </a:solidFill>
            <a:prstDash val="solid"/>
          </a:ln>
        </p:spPr>
      </p:sp>
      <p:sp>
        <p:nvSpPr>
          <p:cNvPr id="1049040" name="Shape 15"/>
          <p:cNvSpPr/>
          <p:nvPr/>
        </p:nvSpPr>
        <p:spPr>
          <a:xfrm>
            <a:off x="0" y="548640"/>
            <a:ext cx="12191695" cy="0"/>
          </a:xfrm>
          <a:prstGeom prst="line"/>
          <a:noFill/>
          <a:ln w="6350">
            <a:solidFill>
              <a:srgbClr val="1B3A5C"/>
            </a:solidFill>
            <a:prstDash val="solid"/>
          </a:ln>
        </p:spPr>
      </p:sp>
      <p:sp>
        <p:nvSpPr>
          <p:cNvPr id="1049041" name="Shape 16"/>
          <p:cNvSpPr/>
          <p:nvPr/>
        </p:nvSpPr>
        <p:spPr>
          <a:xfrm>
            <a:off x="0" y="1325880"/>
            <a:ext cx="12191695" cy="0"/>
          </a:xfrm>
          <a:prstGeom prst="line"/>
          <a:noFill/>
          <a:ln w="6350">
            <a:solidFill>
              <a:srgbClr val="1B3A5C"/>
            </a:solidFill>
            <a:prstDash val="solid"/>
          </a:ln>
        </p:spPr>
      </p:sp>
      <p:sp>
        <p:nvSpPr>
          <p:cNvPr id="1049042" name="Shape 17"/>
          <p:cNvSpPr/>
          <p:nvPr/>
        </p:nvSpPr>
        <p:spPr>
          <a:xfrm>
            <a:off x="0" y="2103120"/>
            <a:ext cx="12191695" cy="0"/>
          </a:xfrm>
          <a:prstGeom prst="line"/>
          <a:noFill/>
          <a:ln w="6350">
            <a:solidFill>
              <a:srgbClr val="1B3A5C"/>
            </a:solidFill>
            <a:prstDash val="solid"/>
          </a:ln>
        </p:spPr>
      </p:sp>
      <p:sp>
        <p:nvSpPr>
          <p:cNvPr id="1049043" name="Shape 18"/>
          <p:cNvSpPr/>
          <p:nvPr/>
        </p:nvSpPr>
        <p:spPr>
          <a:xfrm>
            <a:off x="0" y="2880360"/>
            <a:ext cx="12191695" cy="0"/>
          </a:xfrm>
          <a:prstGeom prst="line"/>
          <a:noFill/>
          <a:ln w="6350">
            <a:solidFill>
              <a:srgbClr val="1B3A5C"/>
            </a:solidFill>
            <a:prstDash val="solid"/>
          </a:ln>
        </p:spPr>
      </p:sp>
      <p:sp>
        <p:nvSpPr>
          <p:cNvPr id="1049044" name="Shape 19"/>
          <p:cNvSpPr/>
          <p:nvPr/>
        </p:nvSpPr>
        <p:spPr>
          <a:xfrm>
            <a:off x="0" y="3657600"/>
            <a:ext cx="12191695" cy="0"/>
          </a:xfrm>
          <a:prstGeom prst="line"/>
          <a:noFill/>
          <a:ln w="6350">
            <a:solidFill>
              <a:srgbClr val="1B3A5C"/>
            </a:solidFill>
            <a:prstDash val="solid"/>
          </a:ln>
        </p:spPr>
      </p:sp>
      <p:sp>
        <p:nvSpPr>
          <p:cNvPr id="1049045" name="Shape 20"/>
          <p:cNvSpPr/>
          <p:nvPr/>
        </p:nvSpPr>
        <p:spPr>
          <a:xfrm>
            <a:off x="0" y="4434840"/>
            <a:ext cx="12191695" cy="0"/>
          </a:xfrm>
          <a:prstGeom prst="line"/>
          <a:noFill/>
          <a:ln w="6350">
            <a:solidFill>
              <a:srgbClr val="1B3A5C"/>
            </a:solidFill>
            <a:prstDash val="solid"/>
          </a:ln>
        </p:spPr>
      </p:sp>
      <p:sp>
        <p:nvSpPr>
          <p:cNvPr id="1049046" name="Shape 21"/>
          <p:cNvSpPr/>
          <p:nvPr/>
        </p:nvSpPr>
        <p:spPr>
          <a:xfrm>
            <a:off x="0" y="5212080"/>
            <a:ext cx="12191695" cy="0"/>
          </a:xfrm>
          <a:prstGeom prst="line"/>
          <a:noFill/>
          <a:ln w="6350">
            <a:solidFill>
              <a:srgbClr val="1B3A5C"/>
            </a:solidFill>
            <a:prstDash val="solid"/>
          </a:ln>
        </p:spPr>
      </p:sp>
      <p:sp>
        <p:nvSpPr>
          <p:cNvPr id="1049047" name="Shape 22"/>
          <p:cNvSpPr/>
          <p:nvPr/>
        </p:nvSpPr>
        <p:spPr>
          <a:xfrm>
            <a:off x="0" y="5989320"/>
            <a:ext cx="12191695" cy="0"/>
          </a:xfrm>
          <a:prstGeom prst="line"/>
          <a:noFill/>
          <a:ln w="6350">
            <a:solidFill>
              <a:srgbClr val="1B3A5C"/>
            </a:solidFill>
            <a:prstDash val="solid"/>
          </a:ln>
        </p:spPr>
      </p:sp>
      <p:sp>
        <p:nvSpPr>
          <p:cNvPr id="1049048" name="Shape 23"/>
          <p:cNvSpPr/>
          <p:nvPr/>
        </p:nvSpPr>
        <p:spPr>
          <a:xfrm>
            <a:off x="0" y="6766560"/>
            <a:ext cx="12191695" cy="0"/>
          </a:xfrm>
          <a:prstGeom prst="line"/>
          <a:noFill/>
          <a:ln w="6350">
            <a:solidFill>
              <a:srgbClr val="1B3A5C"/>
            </a:solidFill>
            <a:prstDash val="solid"/>
          </a:ln>
        </p:spPr>
      </p:sp>
      <p:sp>
        <p:nvSpPr>
          <p:cNvPr id="1049049" name="Shape 24"/>
          <p:cNvSpPr/>
          <p:nvPr/>
        </p:nvSpPr>
        <p:spPr>
          <a:xfrm>
            <a:off x="201168" y="201168"/>
            <a:ext cx="11789359" cy="6455664"/>
          </a:xfrm>
          <a:prstGeom prst="rect"/>
          <a:ln w="15875">
            <a:solidFill>
              <a:srgbClr val="3E6690"/>
            </a:solidFill>
            <a:prstDash val="solid"/>
          </a:ln>
        </p:spPr>
      </p:sp>
      <p:sp>
        <p:nvSpPr>
          <p:cNvPr id="1049050" name="Shape 25"/>
          <p:cNvSpPr/>
          <p:nvPr/>
        </p:nvSpPr>
        <p:spPr>
          <a:xfrm>
            <a:off x="320040" y="320040"/>
            <a:ext cx="384048" cy="0"/>
          </a:xfrm>
          <a:prstGeom prst="line"/>
          <a:noFill/>
          <a:ln w="25400">
            <a:solidFill>
              <a:srgbClr val="6EC6FF"/>
            </a:solidFill>
            <a:prstDash val="solid"/>
          </a:ln>
        </p:spPr>
      </p:sp>
      <p:sp>
        <p:nvSpPr>
          <p:cNvPr id="1049051" name="Shape 26"/>
          <p:cNvSpPr/>
          <p:nvPr/>
        </p:nvSpPr>
        <p:spPr>
          <a:xfrm>
            <a:off x="320040" y="320040"/>
            <a:ext cx="0" cy="384048"/>
          </a:xfrm>
          <a:prstGeom prst="line"/>
          <a:noFill/>
          <a:ln w="25400">
            <a:solidFill>
              <a:srgbClr val="6EC6FF"/>
            </a:solidFill>
            <a:prstDash val="solid"/>
          </a:ln>
        </p:spPr>
      </p:sp>
      <p:sp>
        <p:nvSpPr>
          <p:cNvPr id="1049052" name="Shape 27"/>
          <p:cNvSpPr/>
          <p:nvPr/>
        </p:nvSpPr>
        <p:spPr>
          <a:xfrm>
            <a:off x="11487607" y="320040"/>
            <a:ext cx="384048" cy="0"/>
          </a:xfrm>
          <a:prstGeom prst="line"/>
          <a:noFill/>
          <a:ln w="25400">
            <a:solidFill>
              <a:srgbClr val="6EC6FF"/>
            </a:solidFill>
            <a:prstDash val="solid"/>
          </a:ln>
        </p:spPr>
      </p:sp>
      <p:sp>
        <p:nvSpPr>
          <p:cNvPr id="1049053" name="Shape 28"/>
          <p:cNvSpPr/>
          <p:nvPr/>
        </p:nvSpPr>
        <p:spPr>
          <a:xfrm>
            <a:off x="11871655" y="320040"/>
            <a:ext cx="0" cy="384048"/>
          </a:xfrm>
          <a:prstGeom prst="line"/>
          <a:noFill/>
          <a:ln w="25400">
            <a:solidFill>
              <a:srgbClr val="6EC6FF"/>
            </a:solidFill>
            <a:prstDash val="solid"/>
          </a:ln>
        </p:spPr>
      </p:sp>
      <p:sp>
        <p:nvSpPr>
          <p:cNvPr id="1049054" name="Shape 29"/>
          <p:cNvSpPr/>
          <p:nvPr/>
        </p:nvSpPr>
        <p:spPr>
          <a:xfrm>
            <a:off x="320040" y="6537960"/>
            <a:ext cx="384048" cy="0"/>
          </a:xfrm>
          <a:prstGeom prst="line"/>
          <a:noFill/>
          <a:ln w="25400">
            <a:solidFill>
              <a:srgbClr val="6EC6FF"/>
            </a:solidFill>
            <a:prstDash val="solid"/>
          </a:ln>
        </p:spPr>
      </p:sp>
      <p:sp>
        <p:nvSpPr>
          <p:cNvPr id="1049055" name="Shape 30"/>
          <p:cNvSpPr/>
          <p:nvPr/>
        </p:nvSpPr>
        <p:spPr>
          <a:xfrm>
            <a:off x="320040" y="6153912"/>
            <a:ext cx="0" cy="384048"/>
          </a:xfrm>
          <a:prstGeom prst="line"/>
          <a:noFill/>
          <a:ln w="25400">
            <a:solidFill>
              <a:srgbClr val="6EC6FF"/>
            </a:solidFill>
            <a:prstDash val="solid"/>
          </a:ln>
        </p:spPr>
      </p:sp>
      <p:sp>
        <p:nvSpPr>
          <p:cNvPr id="1049056" name="Shape 31"/>
          <p:cNvSpPr/>
          <p:nvPr/>
        </p:nvSpPr>
        <p:spPr>
          <a:xfrm>
            <a:off x="11487607" y="6537960"/>
            <a:ext cx="384048" cy="0"/>
          </a:xfrm>
          <a:prstGeom prst="line"/>
          <a:noFill/>
          <a:ln w="25400">
            <a:solidFill>
              <a:srgbClr val="6EC6FF"/>
            </a:solidFill>
            <a:prstDash val="solid"/>
          </a:ln>
        </p:spPr>
      </p:sp>
      <p:sp>
        <p:nvSpPr>
          <p:cNvPr id="1049057" name="Shape 32"/>
          <p:cNvSpPr/>
          <p:nvPr/>
        </p:nvSpPr>
        <p:spPr>
          <a:xfrm>
            <a:off x="11871655" y="6153912"/>
            <a:ext cx="0" cy="384048"/>
          </a:xfrm>
          <a:prstGeom prst="line"/>
          <a:noFill/>
          <a:ln w="25400">
            <a:solidFill>
              <a:srgbClr val="6EC6FF"/>
            </a:solidFill>
            <a:prstDash val="solid"/>
          </a:ln>
        </p:spPr>
      </p:sp>
      <p:sp>
        <p:nvSpPr>
          <p:cNvPr id="1049058" name="Text 33"/>
          <p:cNvSpPr/>
          <p:nvPr/>
        </p:nvSpPr>
        <p:spPr>
          <a:xfrm>
            <a:off x="9265615" y="6400800"/>
            <a:ext cx="2651760" cy="274320"/>
          </a:xfrm>
          <a:prstGeom prst="rect"/>
          <a:noFill/>
        </p:spPr>
        <p:txBody>
          <a:bodyPr anchor="ctr" rtlCol="0" wrap="square"/>
          <a:p>
            <a:pPr algn="r" indent="0" marL="0">
              <a:buNone/>
            </a:pPr>
            <a:r>
              <a:rPr dirty="0" sz="900" kern="0" lang="en-US" spc="100">
                <a:solidFill>
                  <a:srgbClr val="9FB8D1"/>
                </a:solidFill>
                <a:latin typeface="Courier New" pitchFamily="34" charset="0"/>
                <a:ea typeface="Courier New" pitchFamily="34" charset="-122"/>
                <a:cs typeface="Courier New" pitchFamily="34" charset="-120"/>
              </a:rPr>
              <a:t>CS / SHEET 8 OF 12</a:t>
            </a:r>
            <a:endParaRPr dirty="0" sz="900" lang="en-US"/>
          </a:p>
        </p:txBody>
      </p:sp>
      <p:sp>
        <p:nvSpPr>
          <p:cNvPr id="1049059" name="Text 34"/>
          <p:cNvSpPr/>
          <p:nvPr/>
        </p:nvSpPr>
        <p:spPr>
          <a:xfrm>
            <a:off x="411480" y="6400800"/>
            <a:ext cx="5486400" cy="274320"/>
          </a:xfrm>
          <a:prstGeom prst="rect"/>
          <a:noFill/>
        </p:spPr>
        <p:txBody>
          <a:bodyPr anchor="ctr" rtlCol="0" wrap="square"/>
          <a:p>
            <a:pPr indent="0" marL="0">
              <a:buNone/>
            </a:pPr>
            <a:r>
              <a:rPr dirty="0" sz="900" kern="0" lang="en-US" spc="100">
                <a:solidFill>
                  <a:srgbClr val="9FB8D1"/>
                </a:solidFill>
                <a:latin typeface="Courier New" pitchFamily="34" charset="0"/>
                <a:ea typeface="Courier New" pitchFamily="34" charset="-122"/>
                <a:cs typeface="Courier New" pitchFamily="34" charset="-120"/>
              </a:rPr>
              <a:t>COFFEE SHOP ORDER PROCESSOR — REFACTORING</a:t>
            </a:r>
            <a:endParaRPr dirty="0" sz="900" lang="en-US"/>
          </a:p>
        </p:txBody>
      </p:sp>
      <p:sp>
        <p:nvSpPr>
          <p:cNvPr id="1049060" name="Shape 35"/>
          <p:cNvSpPr/>
          <p:nvPr/>
        </p:nvSpPr>
        <p:spPr>
          <a:xfrm>
            <a:off x="548640" y="502920"/>
            <a:ext cx="3383280" cy="292608"/>
          </a:xfrm>
          <a:prstGeom prst="rect"/>
          <a:solidFill>
            <a:srgbClr val="06162A"/>
          </a:solidFill>
          <a:ln w="12700">
            <a:solidFill>
              <a:srgbClr val="8FD3FF"/>
            </a:solidFill>
            <a:prstDash val="solid"/>
          </a:ln>
        </p:spPr>
      </p:sp>
      <p:sp>
        <p:nvSpPr>
          <p:cNvPr id="1049061" name="Text 36"/>
          <p:cNvSpPr/>
          <p:nvPr/>
        </p:nvSpPr>
        <p:spPr>
          <a:xfrm>
            <a:off x="548640" y="502920"/>
            <a:ext cx="3383280" cy="292608"/>
          </a:xfrm>
          <a:prstGeom prst="rect"/>
          <a:noFill/>
        </p:spPr>
        <p:txBody>
          <a:bodyPr anchor="ctr" rtlCol="0" wrap="square"/>
          <a:p>
            <a:pPr algn="ctr" indent="0" marL="0">
              <a:buNone/>
            </a:pPr>
            <a:r>
              <a:rPr b="1" dirty="0" sz="1050" kern="0" lang="en-US" spc="100">
                <a:solidFill>
                  <a:srgbClr val="8FD3FF"/>
                </a:solidFill>
                <a:latin typeface="Courier New" pitchFamily="34" charset="0"/>
                <a:ea typeface="Courier New" pitchFamily="34" charset="-122"/>
                <a:cs typeface="Courier New" pitchFamily="34" charset="-120"/>
              </a:rPr>
              <a:t>SHEET 08 — CONCEPT SPOTLIGHT</a:t>
            </a:r>
            <a:endParaRPr dirty="0" sz="1050" lang="en-US"/>
          </a:p>
        </p:txBody>
      </p:sp>
      <p:sp>
        <p:nvSpPr>
          <p:cNvPr id="1049062" name="Text 37"/>
          <p:cNvSpPr/>
          <p:nvPr/>
        </p:nvSpPr>
        <p:spPr>
          <a:xfrm>
            <a:off x="548640" y="914400"/>
            <a:ext cx="10058400" cy="548640"/>
          </a:xfrm>
          <a:prstGeom prst="rect"/>
          <a:noFill/>
        </p:spPr>
        <p:txBody>
          <a:bodyPr anchor="ctr" rtlCol="0" wrap="square"/>
          <a:p>
            <a:pPr indent="0" marL="0">
              <a:buNone/>
            </a:pPr>
            <a:r>
              <a:rPr b="1" dirty="0" sz="2800" lang="en-US">
                <a:solidFill>
                  <a:srgbClr val="FFFFFF"/>
                </a:solidFill>
                <a:latin typeface="Arial" pitchFamily="34" charset="0"/>
                <a:ea typeface="Arial" pitchFamily="34" charset="-122"/>
                <a:cs typeface="Arial" pitchFamily="34" charset="-120"/>
              </a:rPr>
              <a:t>Low Coupling — The Dependency Diagram</a:t>
            </a:r>
            <a:endParaRPr dirty="0" sz="2800" lang="en-US"/>
          </a:p>
        </p:txBody>
      </p:sp>
      <p:sp>
        <p:nvSpPr>
          <p:cNvPr id="1049063" name="Text 38"/>
          <p:cNvSpPr/>
          <p:nvPr/>
        </p:nvSpPr>
        <p:spPr>
          <a:xfrm>
            <a:off x="548640" y="1417320"/>
            <a:ext cx="10058400" cy="365760"/>
          </a:xfrm>
          <a:prstGeom prst="rect"/>
          <a:noFill/>
        </p:spPr>
        <p:txBody>
          <a:bodyPr anchor="ctr" rtlCol="0" wrap="square"/>
          <a:p>
            <a:pPr indent="0" marL="0">
              <a:buNone/>
            </a:pPr>
            <a:r>
              <a:rPr dirty="0" sz="1400" i="1" lang="en-US">
                <a:solidFill>
                  <a:srgbClr val="9FB8D1"/>
                </a:solidFill>
                <a:latin typeface="Calibri" pitchFamily="34" charset="0"/>
                <a:ea typeface="Calibri" pitchFamily="34" charset="-122"/>
                <a:cs typeface="Calibri" pitchFamily="34" charset="-120"/>
              </a:rPr>
              <a:t>How OrderProcessor’s dependencies actually resolve at runtime</a:t>
            </a:r>
            <a:endParaRPr dirty="0" sz="1400" lang="en-US"/>
          </a:p>
        </p:txBody>
      </p:sp>
      <p:pic>
        <p:nvPicPr>
          <p:cNvPr id="2097165" name="Low Coupling Diagram"/>
          <p:cNvPicPr>
            <a:picLocks noChangeAspect="1"/>
          </p:cNvPicPr>
          <p:nvPr/>
        </p:nvPicPr>
        <p:blipFill>
          <a:blip xmlns:r="http://schemas.openxmlformats.org/officeDocument/2006/relationships" r:embed="rId1"/>
          <a:stretch>
            <a:fillRect/>
          </a:stretch>
        </p:blipFill>
        <p:spPr>
          <a:xfrm>
            <a:off x="3202400" y="1950000"/>
            <a:ext cx="5787200" cy="4000000"/>
          </a:xfrm>
          <a:prstGeom prst="rect"/>
        </p:spPr>
      </p:pic>
      <p:sp>
        <p:nvSpPr>
          <p:cNvPr id="1049064" name="Caption"/>
          <p:cNvSpPr/>
          <p:nvPr/>
        </p:nvSpPr>
        <p:spPr>
          <a:xfrm>
            <a:off x="548640" y="6020000"/>
            <a:ext cx="11094720" cy="320000"/>
          </a:xfrm>
          <a:prstGeom prst="rect"/>
          <a:noFill/>
        </p:spPr>
        <p:txBody>
          <a:bodyPr anchor="ctr" rtlCol="0" wrap="square"/>
          <a:p>
            <a:pPr algn="ctr" indent="0" marL="0">
              <a:buNone/>
            </a:pPr>
            <a:r>
              <a:rPr dirty="0" sz="1300" i="1" lang="en-US">
                <a:solidFill>
                  <a:srgbClr val="9FB8D1"/>
                </a:solidFill>
                <a:latin typeface="Calibri" pitchFamily="34" charset="0"/>
              </a:rPr>
              <a:t>OrderProcessor calls only the interfaces above the dashed line — Main is the only class that ever touches the concrete classes below 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0A1F38"/>
        </a:solidFill>
      </p:bgPr>
    </p:bg>
    <p:spTree>
      <p:nvGrpSpPr>
        <p:cNvPr id="37" name=""/>
        <p:cNvGrpSpPr/>
        <p:nvPr/>
      </p:nvGrpSpPr>
      <p:grpSpPr>
        <a:xfrm>
          <a:off x="0" y="0"/>
          <a:ext cx="0" cy="0"/>
          <a:chOff x="0" y="0"/>
          <a:chExt cx="0" cy="0"/>
        </a:xfrm>
      </p:grpSpPr>
      <p:sp>
        <p:nvSpPr>
          <p:cNvPr id="1049065" name="Shape 0"/>
          <p:cNvSpPr/>
          <p:nvPr/>
        </p:nvSpPr>
        <p:spPr>
          <a:xfrm>
            <a:off x="548640" y="0"/>
            <a:ext cx="0" cy="6858000"/>
          </a:xfrm>
          <a:prstGeom prst="line"/>
          <a:noFill/>
          <a:ln w="6350">
            <a:solidFill>
              <a:srgbClr val="1B3A5C"/>
            </a:solidFill>
            <a:prstDash val="solid"/>
          </a:ln>
        </p:spPr>
      </p:sp>
      <p:sp>
        <p:nvSpPr>
          <p:cNvPr id="1049066" name="Shape 1"/>
          <p:cNvSpPr/>
          <p:nvPr/>
        </p:nvSpPr>
        <p:spPr>
          <a:xfrm>
            <a:off x="1325880" y="0"/>
            <a:ext cx="0" cy="6858000"/>
          </a:xfrm>
          <a:prstGeom prst="line"/>
          <a:noFill/>
          <a:ln w="6350">
            <a:solidFill>
              <a:srgbClr val="1B3A5C"/>
            </a:solidFill>
            <a:prstDash val="solid"/>
          </a:ln>
        </p:spPr>
      </p:sp>
      <p:sp>
        <p:nvSpPr>
          <p:cNvPr id="1049067" name="Shape 2"/>
          <p:cNvSpPr/>
          <p:nvPr/>
        </p:nvSpPr>
        <p:spPr>
          <a:xfrm>
            <a:off x="2103120" y="0"/>
            <a:ext cx="0" cy="6858000"/>
          </a:xfrm>
          <a:prstGeom prst="line"/>
          <a:noFill/>
          <a:ln w="6350">
            <a:solidFill>
              <a:srgbClr val="1B3A5C"/>
            </a:solidFill>
            <a:prstDash val="solid"/>
          </a:ln>
        </p:spPr>
      </p:sp>
      <p:sp>
        <p:nvSpPr>
          <p:cNvPr id="1049068" name="Shape 3"/>
          <p:cNvSpPr/>
          <p:nvPr/>
        </p:nvSpPr>
        <p:spPr>
          <a:xfrm>
            <a:off x="2880360" y="0"/>
            <a:ext cx="0" cy="6858000"/>
          </a:xfrm>
          <a:prstGeom prst="line"/>
          <a:noFill/>
          <a:ln w="6350">
            <a:solidFill>
              <a:srgbClr val="1B3A5C"/>
            </a:solidFill>
            <a:prstDash val="solid"/>
          </a:ln>
        </p:spPr>
      </p:sp>
      <p:sp>
        <p:nvSpPr>
          <p:cNvPr id="1049069" name="Shape 4"/>
          <p:cNvSpPr/>
          <p:nvPr/>
        </p:nvSpPr>
        <p:spPr>
          <a:xfrm>
            <a:off x="3657600" y="0"/>
            <a:ext cx="0" cy="6858000"/>
          </a:xfrm>
          <a:prstGeom prst="line"/>
          <a:noFill/>
          <a:ln w="6350">
            <a:solidFill>
              <a:srgbClr val="1B3A5C"/>
            </a:solidFill>
            <a:prstDash val="solid"/>
          </a:ln>
        </p:spPr>
      </p:sp>
      <p:sp>
        <p:nvSpPr>
          <p:cNvPr id="1049070" name="Shape 5"/>
          <p:cNvSpPr/>
          <p:nvPr/>
        </p:nvSpPr>
        <p:spPr>
          <a:xfrm>
            <a:off x="4434840" y="0"/>
            <a:ext cx="0" cy="6858000"/>
          </a:xfrm>
          <a:prstGeom prst="line"/>
          <a:noFill/>
          <a:ln w="6350">
            <a:solidFill>
              <a:srgbClr val="1B3A5C"/>
            </a:solidFill>
            <a:prstDash val="solid"/>
          </a:ln>
        </p:spPr>
      </p:sp>
      <p:sp>
        <p:nvSpPr>
          <p:cNvPr id="1049071" name="Shape 6"/>
          <p:cNvSpPr/>
          <p:nvPr/>
        </p:nvSpPr>
        <p:spPr>
          <a:xfrm>
            <a:off x="5212080" y="0"/>
            <a:ext cx="0" cy="6858000"/>
          </a:xfrm>
          <a:prstGeom prst="line"/>
          <a:noFill/>
          <a:ln w="6350">
            <a:solidFill>
              <a:srgbClr val="1B3A5C"/>
            </a:solidFill>
            <a:prstDash val="solid"/>
          </a:ln>
        </p:spPr>
      </p:sp>
      <p:sp>
        <p:nvSpPr>
          <p:cNvPr id="1049072" name="Shape 7"/>
          <p:cNvSpPr/>
          <p:nvPr/>
        </p:nvSpPr>
        <p:spPr>
          <a:xfrm>
            <a:off x="5989320" y="0"/>
            <a:ext cx="0" cy="6858000"/>
          </a:xfrm>
          <a:prstGeom prst="line"/>
          <a:noFill/>
          <a:ln w="6350">
            <a:solidFill>
              <a:srgbClr val="1B3A5C"/>
            </a:solidFill>
            <a:prstDash val="solid"/>
          </a:ln>
        </p:spPr>
      </p:sp>
      <p:sp>
        <p:nvSpPr>
          <p:cNvPr id="1049073" name="Shape 8"/>
          <p:cNvSpPr/>
          <p:nvPr/>
        </p:nvSpPr>
        <p:spPr>
          <a:xfrm>
            <a:off x="6766560" y="0"/>
            <a:ext cx="0" cy="6858000"/>
          </a:xfrm>
          <a:prstGeom prst="line"/>
          <a:noFill/>
          <a:ln w="6350">
            <a:solidFill>
              <a:srgbClr val="1B3A5C"/>
            </a:solidFill>
            <a:prstDash val="solid"/>
          </a:ln>
        </p:spPr>
      </p:sp>
      <p:sp>
        <p:nvSpPr>
          <p:cNvPr id="1049074" name="Shape 9"/>
          <p:cNvSpPr/>
          <p:nvPr/>
        </p:nvSpPr>
        <p:spPr>
          <a:xfrm>
            <a:off x="7543800" y="0"/>
            <a:ext cx="0" cy="6858000"/>
          </a:xfrm>
          <a:prstGeom prst="line"/>
          <a:noFill/>
          <a:ln w="6350">
            <a:solidFill>
              <a:srgbClr val="1B3A5C"/>
            </a:solidFill>
            <a:prstDash val="solid"/>
          </a:ln>
        </p:spPr>
      </p:sp>
      <p:sp>
        <p:nvSpPr>
          <p:cNvPr id="1049075" name="Shape 10"/>
          <p:cNvSpPr/>
          <p:nvPr/>
        </p:nvSpPr>
        <p:spPr>
          <a:xfrm>
            <a:off x="8321040" y="0"/>
            <a:ext cx="0" cy="6858000"/>
          </a:xfrm>
          <a:prstGeom prst="line"/>
          <a:noFill/>
          <a:ln w="6350">
            <a:solidFill>
              <a:srgbClr val="1B3A5C"/>
            </a:solidFill>
            <a:prstDash val="solid"/>
          </a:ln>
        </p:spPr>
      </p:sp>
      <p:sp>
        <p:nvSpPr>
          <p:cNvPr id="1049076" name="Shape 11"/>
          <p:cNvSpPr/>
          <p:nvPr/>
        </p:nvSpPr>
        <p:spPr>
          <a:xfrm>
            <a:off x="9098280" y="0"/>
            <a:ext cx="0" cy="6858000"/>
          </a:xfrm>
          <a:prstGeom prst="line"/>
          <a:noFill/>
          <a:ln w="6350">
            <a:solidFill>
              <a:srgbClr val="1B3A5C"/>
            </a:solidFill>
            <a:prstDash val="solid"/>
          </a:ln>
        </p:spPr>
      </p:sp>
      <p:sp>
        <p:nvSpPr>
          <p:cNvPr id="1049077" name="Shape 12"/>
          <p:cNvSpPr/>
          <p:nvPr/>
        </p:nvSpPr>
        <p:spPr>
          <a:xfrm>
            <a:off x="9875520" y="0"/>
            <a:ext cx="0" cy="6858000"/>
          </a:xfrm>
          <a:prstGeom prst="line"/>
          <a:noFill/>
          <a:ln w="6350">
            <a:solidFill>
              <a:srgbClr val="1B3A5C"/>
            </a:solidFill>
            <a:prstDash val="solid"/>
          </a:ln>
        </p:spPr>
      </p:sp>
      <p:sp>
        <p:nvSpPr>
          <p:cNvPr id="1049078" name="Shape 13"/>
          <p:cNvSpPr/>
          <p:nvPr/>
        </p:nvSpPr>
        <p:spPr>
          <a:xfrm>
            <a:off x="10652760" y="0"/>
            <a:ext cx="0" cy="6858000"/>
          </a:xfrm>
          <a:prstGeom prst="line"/>
          <a:noFill/>
          <a:ln w="6350">
            <a:solidFill>
              <a:srgbClr val="1B3A5C"/>
            </a:solidFill>
            <a:prstDash val="solid"/>
          </a:ln>
        </p:spPr>
      </p:sp>
      <p:sp>
        <p:nvSpPr>
          <p:cNvPr id="1049079" name="Shape 14"/>
          <p:cNvSpPr/>
          <p:nvPr/>
        </p:nvSpPr>
        <p:spPr>
          <a:xfrm>
            <a:off x="11430000" y="0"/>
            <a:ext cx="0" cy="6858000"/>
          </a:xfrm>
          <a:prstGeom prst="line"/>
          <a:noFill/>
          <a:ln w="6350">
            <a:solidFill>
              <a:srgbClr val="1B3A5C"/>
            </a:solidFill>
            <a:prstDash val="solid"/>
          </a:ln>
        </p:spPr>
      </p:sp>
      <p:sp>
        <p:nvSpPr>
          <p:cNvPr id="1049080" name="Shape 15"/>
          <p:cNvSpPr/>
          <p:nvPr/>
        </p:nvSpPr>
        <p:spPr>
          <a:xfrm>
            <a:off x="0" y="548640"/>
            <a:ext cx="12191695" cy="0"/>
          </a:xfrm>
          <a:prstGeom prst="line"/>
          <a:noFill/>
          <a:ln w="6350">
            <a:solidFill>
              <a:srgbClr val="1B3A5C"/>
            </a:solidFill>
            <a:prstDash val="solid"/>
          </a:ln>
        </p:spPr>
      </p:sp>
      <p:sp>
        <p:nvSpPr>
          <p:cNvPr id="1049081" name="Shape 16"/>
          <p:cNvSpPr/>
          <p:nvPr/>
        </p:nvSpPr>
        <p:spPr>
          <a:xfrm>
            <a:off x="0" y="1325880"/>
            <a:ext cx="12191695" cy="0"/>
          </a:xfrm>
          <a:prstGeom prst="line"/>
          <a:noFill/>
          <a:ln w="6350">
            <a:solidFill>
              <a:srgbClr val="1B3A5C"/>
            </a:solidFill>
            <a:prstDash val="solid"/>
          </a:ln>
        </p:spPr>
      </p:sp>
      <p:sp>
        <p:nvSpPr>
          <p:cNvPr id="1049082" name="Shape 17"/>
          <p:cNvSpPr/>
          <p:nvPr/>
        </p:nvSpPr>
        <p:spPr>
          <a:xfrm>
            <a:off x="0" y="2103120"/>
            <a:ext cx="12191695" cy="0"/>
          </a:xfrm>
          <a:prstGeom prst="line"/>
          <a:noFill/>
          <a:ln w="6350">
            <a:solidFill>
              <a:srgbClr val="1B3A5C"/>
            </a:solidFill>
            <a:prstDash val="solid"/>
          </a:ln>
        </p:spPr>
      </p:sp>
      <p:sp>
        <p:nvSpPr>
          <p:cNvPr id="1049083" name="Shape 18"/>
          <p:cNvSpPr/>
          <p:nvPr/>
        </p:nvSpPr>
        <p:spPr>
          <a:xfrm>
            <a:off x="0" y="2880360"/>
            <a:ext cx="12191695" cy="0"/>
          </a:xfrm>
          <a:prstGeom prst="line"/>
          <a:noFill/>
          <a:ln w="6350">
            <a:solidFill>
              <a:srgbClr val="1B3A5C"/>
            </a:solidFill>
            <a:prstDash val="solid"/>
          </a:ln>
        </p:spPr>
      </p:sp>
      <p:sp>
        <p:nvSpPr>
          <p:cNvPr id="1049084" name="Shape 19"/>
          <p:cNvSpPr/>
          <p:nvPr/>
        </p:nvSpPr>
        <p:spPr>
          <a:xfrm>
            <a:off x="0" y="3657600"/>
            <a:ext cx="12191695" cy="0"/>
          </a:xfrm>
          <a:prstGeom prst="line"/>
          <a:noFill/>
          <a:ln w="6350">
            <a:solidFill>
              <a:srgbClr val="1B3A5C"/>
            </a:solidFill>
            <a:prstDash val="solid"/>
          </a:ln>
        </p:spPr>
      </p:sp>
      <p:sp>
        <p:nvSpPr>
          <p:cNvPr id="1049085" name="Shape 20"/>
          <p:cNvSpPr/>
          <p:nvPr/>
        </p:nvSpPr>
        <p:spPr>
          <a:xfrm>
            <a:off x="0" y="4434840"/>
            <a:ext cx="12191695" cy="0"/>
          </a:xfrm>
          <a:prstGeom prst="line"/>
          <a:noFill/>
          <a:ln w="6350">
            <a:solidFill>
              <a:srgbClr val="1B3A5C"/>
            </a:solidFill>
            <a:prstDash val="solid"/>
          </a:ln>
        </p:spPr>
      </p:sp>
      <p:sp>
        <p:nvSpPr>
          <p:cNvPr id="1049086" name="Shape 21"/>
          <p:cNvSpPr/>
          <p:nvPr/>
        </p:nvSpPr>
        <p:spPr>
          <a:xfrm>
            <a:off x="0" y="5212080"/>
            <a:ext cx="12191695" cy="0"/>
          </a:xfrm>
          <a:prstGeom prst="line"/>
          <a:noFill/>
          <a:ln w="6350">
            <a:solidFill>
              <a:srgbClr val="1B3A5C"/>
            </a:solidFill>
            <a:prstDash val="solid"/>
          </a:ln>
        </p:spPr>
      </p:sp>
      <p:sp>
        <p:nvSpPr>
          <p:cNvPr id="1049087" name="Shape 22"/>
          <p:cNvSpPr/>
          <p:nvPr/>
        </p:nvSpPr>
        <p:spPr>
          <a:xfrm>
            <a:off x="0" y="5989320"/>
            <a:ext cx="12191695" cy="0"/>
          </a:xfrm>
          <a:prstGeom prst="line"/>
          <a:noFill/>
          <a:ln w="6350">
            <a:solidFill>
              <a:srgbClr val="1B3A5C"/>
            </a:solidFill>
            <a:prstDash val="solid"/>
          </a:ln>
        </p:spPr>
      </p:sp>
      <p:sp>
        <p:nvSpPr>
          <p:cNvPr id="1049088" name="Shape 23"/>
          <p:cNvSpPr/>
          <p:nvPr/>
        </p:nvSpPr>
        <p:spPr>
          <a:xfrm>
            <a:off x="0" y="6766560"/>
            <a:ext cx="12191695" cy="0"/>
          </a:xfrm>
          <a:prstGeom prst="line"/>
          <a:noFill/>
          <a:ln w="6350">
            <a:solidFill>
              <a:srgbClr val="1B3A5C"/>
            </a:solidFill>
            <a:prstDash val="solid"/>
          </a:ln>
        </p:spPr>
      </p:sp>
      <p:sp>
        <p:nvSpPr>
          <p:cNvPr id="1049089" name="Shape 24"/>
          <p:cNvSpPr/>
          <p:nvPr/>
        </p:nvSpPr>
        <p:spPr>
          <a:xfrm>
            <a:off x="201168" y="201168"/>
            <a:ext cx="11789359" cy="6455664"/>
          </a:xfrm>
          <a:prstGeom prst="rect"/>
          <a:ln w="15875">
            <a:solidFill>
              <a:srgbClr val="3E6690"/>
            </a:solidFill>
            <a:prstDash val="solid"/>
          </a:ln>
        </p:spPr>
      </p:sp>
      <p:sp>
        <p:nvSpPr>
          <p:cNvPr id="1049090" name="Shape 25"/>
          <p:cNvSpPr/>
          <p:nvPr/>
        </p:nvSpPr>
        <p:spPr>
          <a:xfrm>
            <a:off x="320040" y="320040"/>
            <a:ext cx="384048" cy="0"/>
          </a:xfrm>
          <a:prstGeom prst="line"/>
          <a:noFill/>
          <a:ln w="25400">
            <a:solidFill>
              <a:srgbClr val="6EC6FF"/>
            </a:solidFill>
            <a:prstDash val="solid"/>
          </a:ln>
        </p:spPr>
      </p:sp>
      <p:sp>
        <p:nvSpPr>
          <p:cNvPr id="1049091" name="Shape 26"/>
          <p:cNvSpPr/>
          <p:nvPr/>
        </p:nvSpPr>
        <p:spPr>
          <a:xfrm>
            <a:off x="320040" y="320040"/>
            <a:ext cx="0" cy="384048"/>
          </a:xfrm>
          <a:prstGeom prst="line"/>
          <a:noFill/>
          <a:ln w="25400">
            <a:solidFill>
              <a:srgbClr val="6EC6FF"/>
            </a:solidFill>
            <a:prstDash val="solid"/>
          </a:ln>
        </p:spPr>
      </p:sp>
      <p:sp>
        <p:nvSpPr>
          <p:cNvPr id="1049092" name="Shape 27"/>
          <p:cNvSpPr/>
          <p:nvPr/>
        </p:nvSpPr>
        <p:spPr>
          <a:xfrm>
            <a:off x="11487607" y="320040"/>
            <a:ext cx="384048" cy="0"/>
          </a:xfrm>
          <a:prstGeom prst="line"/>
          <a:noFill/>
          <a:ln w="25400">
            <a:solidFill>
              <a:srgbClr val="6EC6FF"/>
            </a:solidFill>
            <a:prstDash val="solid"/>
          </a:ln>
        </p:spPr>
      </p:sp>
      <p:sp>
        <p:nvSpPr>
          <p:cNvPr id="1049093" name="Shape 28"/>
          <p:cNvSpPr/>
          <p:nvPr/>
        </p:nvSpPr>
        <p:spPr>
          <a:xfrm>
            <a:off x="11871655" y="320040"/>
            <a:ext cx="0" cy="384048"/>
          </a:xfrm>
          <a:prstGeom prst="line"/>
          <a:noFill/>
          <a:ln w="25400">
            <a:solidFill>
              <a:srgbClr val="6EC6FF"/>
            </a:solidFill>
            <a:prstDash val="solid"/>
          </a:ln>
        </p:spPr>
      </p:sp>
      <p:sp>
        <p:nvSpPr>
          <p:cNvPr id="1049094" name="Shape 29"/>
          <p:cNvSpPr/>
          <p:nvPr/>
        </p:nvSpPr>
        <p:spPr>
          <a:xfrm>
            <a:off x="320040" y="6537960"/>
            <a:ext cx="384048" cy="0"/>
          </a:xfrm>
          <a:prstGeom prst="line"/>
          <a:noFill/>
          <a:ln w="25400">
            <a:solidFill>
              <a:srgbClr val="6EC6FF"/>
            </a:solidFill>
            <a:prstDash val="solid"/>
          </a:ln>
        </p:spPr>
      </p:sp>
      <p:sp>
        <p:nvSpPr>
          <p:cNvPr id="1049095" name="Shape 30"/>
          <p:cNvSpPr/>
          <p:nvPr/>
        </p:nvSpPr>
        <p:spPr>
          <a:xfrm>
            <a:off x="320040" y="6153912"/>
            <a:ext cx="0" cy="384048"/>
          </a:xfrm>
          <a:prstGeom prst="line"/>
          <a:noFill/>
          <a:ln w="25400">
            <a:solidFill>
              <a:srgbClr val="6EC6FF"/>
            </a:solidFill>
            <a:prstDash val="solid"/>
          </a:ln>
        </p:spPr>
      </p:sp>
      <p:sp>
        <p:nvSpPr>
          <p:cNvPr id="1049096" name="Shape 31"/>
          <p:cNvSpPr/>
          <p:nvPr/>
        </p:nvSpPr>
        <p:spPr>
          <a:xfrm>
            <a:off x="11487607" y="6537960"/>
            <a:ext cx="384048" cy="0"/>
          </a:xfrm>
          <a:prstGeom prst="line"/>
          <a:noFill/>
          <a:ln w="25400">
            <a:solidFill>
              <a:srgbClr val="6EC6FF"/>
            </a:solidFill>
            <a:prstDash val="solid"/>
          </a:ln>
        </p:spPr>
      </p:sp>
      <p:sp>
        <p:nvSpPr>
          <p:cNvPr id="1049097" name="Shape 32"/>
          <p:cNvSpPr/>
          <p:nvPr/>
        </p:nvSpPr>
        <p:spPr>
          <a:xfrm>
            <a:off x="11871655" y="6153912"/>
            <a:ext cx="0" cy="384048"/>
          </a:xfrm>
          <a:prstGeom prst="line"/>
          <a:noFill/>
          <a:ln w="25400">
            <a:solidFill>
              <a:srgbClr val="6EC6FF"/>
            </a:solidFill>
            <a:prstDash val="solid"/>
          </a:ln>
        </p:spPr>
      </p:sp>
      <p:sp>
        <p:nvSpPr>
          <p:cNvPr id="1049098" name="Text 33"/>
          <p:cNvSpPr/>
          <p:nvPr/>
        </p:nvSpPr>
        <p:spPr>
          <a:xfrm>
            <a:off x="9265615" y="6400800"/>
            <a:ext cx="2651760" cy="274320"/>
          </a:xfrm>
          <a:prstGeom prst="rect"/>
          <a:noFill/>
        </p:spPr>
        <p:txBody>
          <a:bodyPr anchor="ctr" rtlCol="0" wrap="square"/>
          <a:p>
            <a:pPr algn="r" indent="0" marL="0">
              <a:buNone/>
            </a:pPr>
            <a:r>
              <a:rPr dirty="0" sz="900" kern="0" lang="en-US" spc="100">
                <a:solidFill>
                  <a:srgbClr val="9FB8D1"/>
                </a:solidFill>
                <a:latin typeface="Courier New" pitchFamily="34" charset="0"/>
                <a:ea typeface="Courier New" pitchFamily="34" charset="-122"/>
                <a:cs typeface="Courier New" pitchFamily="34" charset="-120"/>
              </a:rPr>
              <a:t>CS / SHEET 9 OF 12</a:t>
            </a:r>
            <a:endParaRPr dirty="0" sz="900" lang="en-US"/>
          </a:p>
        </p:txBody>
      </p:sp>
      <p:sp>
        <p:nvSpPr>
          <p:cNvPr id="1049099" name="Text 34"/>
          <p:cNvSpPr/>
          <p:nvPr/>
        </p:nvSpPr>
        <p:spPr>
          <a:xfrm>
            <a:off x="411480" y="6400800"/>
            <a:ext cx="5486400" cy="274320"/>
          </a:xfrm>
          <a:prstGeom prst="rect"/>
          <a:noFill/>
        </p:spPr>
        <p:txBody>
          <a:bodyPr anchor="ctr" rtlCol="0" wrap="square"/>
          <a:p>
            <a:pPr indent="0" marL="0">
              <a:buNone/>
            </a:pPr>
            <a:r>
              <a:rPr dirty="0" sz="900" kern="0" lang="en-US" spc="100">
                <a:solidFill>
                  <a:srgbClr val="9FB8D1"/>
                </a:solidFill>
                <a:latin typeface="Courier New" pitchFamily="34" charset="0"/>
                <a:ea typeface="Courier New" pitchFamily="34" charset="-122"/>
                <a:cs typeface="Courier New" pitchFamily="34" charset="-120"/>
              </a:rPr>
              <a:t>COFFEE SHOP ORDER PROCESSOR — REFACTORING</a:t>
            </a:r>
            <a:endParaRPr dirty="0" sz="900" lang="en-US"/>
          </a:p>
        </p:txBody>
      </p:sp>
      <p:sp>
        <p:nvSpPr>
          <p:cNvPr id="1049100" name="Shape 35"/>
          <p:cNvSpPr/>
          <p:nvPr/>
        </p:nvSpPr>
        <p:spPr>
          <a:xfrm>
            <a:off x="548640" y="502920"/>
            <a:ext cx="3383280" cy="292608"/>
          </a:xfrm>
          <a:prstGeom prst="rect"/>
          <a:solidFill>
            <a:srgbClr val="06162A"/>
          </a:solidFill>
          <a:ln w="12700">
            <a:solidFill>
              <a:srgbClr val="8FD3FF"/>
            </a:solidFill>
            <a:prstDash val="solid"/>
          </a:ln>
        </p:spPr>
      </p:sp>
      <p:sp>
        <p:nvSpPr>
          <p:cNvPr id="1049101" name="Text 36"/>
          <p:cNvSpPr/>
          <p:nvPr/>
        </p:nvSpPr>
        <p:spPr>
          <a:xfrm>
            <a:off x="548640" y="502920"/>
            <a:ext cx="3383280" cy="292608"/>
          </a:xfrm>
          <a:prstGeom prst="rect"/>
          <a:noFill/>
        </p:spPr>
        <p:txBody>
          <a:bodyPr anchor="ctr" rtlCol="0" wrap="square"/>
          <a:p>
            <a:pPr algn="ctr" indent="0" marL="0">
              <a:buNone/>
            </a:pPr>
            <a:r>
              <a:rPr b="1" dirty="0" sz="1050" kern="0" lang="en-US" spc="100">
                <a:solidFill>
                  <a:srgbClr val="8FD3FF"/>
                </a:solidFill>
                <a:latin typeface="Courier New" pitchFamily="34" charset="0"/>
                <a:ea typeface="Courier New" pitchFamily="34" charset="-122"/>
                <a:cs typeface="Courier New" pitchFamily="34" charset="-120"/>
              </a:rPr>
              <a:t>SHEET 09 — CONCEPT SPOTLIGHT</a:t>
            </a:r>
            <a:endParaRPr dirty="0" sz="1050" lang="en-US"/>
          </a:p>
        </p:txBody>
      </p:sp>
      <p:sp>
        <p:nvSpPr>
          <p:cNvPr id="1049102" name="Text 37"/>
          <p:cNvSpPr/>
          <p:nvPr/>
        </p:nvSpPr>
        <p:spPr>
          <a:xfrm>
            <a:off x="548640" y="914400"/>
            <a:ext cx="10058400" cy="548640"/>
          </a:xfrm>
          <a:prstGeom prst="rect"/>
          <a:noFill/>
        </p:spPr>
        <p:txBody>
          <a:bodyPr anchor="ctr" rtlCol="0" wrap="square"/>
          <a:p>
            <a:pPr indent="0" marL="0">
              <a:buNone/>
            </a:pPr>
            <a:r>
              <a:rPr b="1" dirty="0" sz="2800" lang="en-US">
                <a:solidFill>
                  <a:srgbClr val="FFFFFF"/>
                </a:solidFill>
                <a:latin typeface="Arial" pitchFamily="34" charset="0"/>
                <a:ea typeface="Arial" pitchFamily="34" charset="-122"/>
                <a:cs typeface="Arial" pitchFamily="34" charset="-120"/>
              </a:rPr>
              <a:t>High Cohesion, Explained</a:t>
            </a:r>
            <a:endParaRPr dirty="0" sz="2800" lang="en-US"/>
          </a:p>
        </p:txBody>
      </p:sp>
      <p:sp>
        <p:nvSpPr>
          <p:cNvPr id="1049103" name="Text 38"/>
          <p:cNvSpPr/>
          <p:nvPr/>
        </p:nvSpPr>
        <p:spPr>
          <a:xfrm>
            <a:off x="548640" y="1417320"/>
            <a:ext cx="10058400" cy="365760"/>
          </a:xfrm>
          <a:prstGeom prst="rect"/>
          <a:noFill/>
        </p:spPr>
        <p:txBody>
          <a:bodyPr anchor="ctr" rtlCol="0" wrap="square"/>
          <a:p>
            <a:pPr indent="0" marL="0">
              <a:buNone/>
            </a:pPr>
            <a:r>
              <a:rPr dirty="0" sz="1400" i="1" lang="en-US">
                <a:solidFill>
                  <a:srgbClr val="9FB8D1"/>
                </a:solidFill>
                <a:latin typeface="Calibri" pitchFamily="34" charset="0"/>
                <a:ea typeface="Calibri" pitchFamily="34" charset="-122"/>
                <a:cs typeface="Calibri" pitchFamily="34" charset="-120"/>
              </a:rPr>
              <a:t>What it means in the code, and what it looks like in real life</a:t>
            </a:r>
            <a:endParaRPr dirty="0" sz="1400" lang="en-US"/>
          </a:p>
        </p:txBody>
      </p:sp>
      <p:sp>
        <p:nvSpPr>
          <p:cNvPr id="1049104" name="Shape 39"/>
          <p:cNvSpPr/>
          <p:nvPr/>
        </p:nvSpPr>
        <p:spPr>
          <a:xfrm>
            <a:off x="292608" y="1847088"/>
            <a:ext cx="512064" cy="512064"/>
          </a:xfrm>
          <a:prstGeom prst="ellipse"/>
          <a:solidFill>
            <a:srgbClr val="06162A"/>
          </a:solidFill>
          <a:ln w="19050">
            <a:solidFill>
              <a:srgbClr val="FFB627"/>
            </a:solidFill>
            <a:prstDash val="solid"/>
          </a:ln>
        </p:spPr>
      </p:sp>
      <p:sp>
        <p:nvSpPr>
          <p:cNvPr id="1049105" name="Text 40"/>
          <p:cNvSpPr/>
          <p:nvPr/>
        </p:nvSpPr>
        <p:spPr>
          <a:xfrm>
            <a:off x="292608" y="1847088"/>
            <a:ext cx="512064" cy="512064"/>
          </a:xfrm>
          <a:prstGeom prst="rect"/>
          <a:noFill/>
        </p:spPr>
        <p:txBody>
          <a:bodyPr anchor="ctr" rtlCol="0" wrap="square"/>
          <a:p>
            <a:pPr algn="ctr" indent="0" marL="0">
              <a:buNone/>
            </a:pPr>
            <a:r>
              <a:rPr b="1" dirty="0" sz="1800" lang="en-US">
                <a:solidFill>
                  <a:srgbClr val="FFB627"/>
                </a:solidFill>
                <a:latin typeface="Courier New" pitchFamily="34" charset="0"/>
                <a:ea typeface="Courier New" pitchFamily="34" charset="-122"/>
                <a:cs typeface="Courier New" pitchFamily="34" charset="-120"/>
              </a:rPr>
              <a:t>A</a:t>
            </a:r>
            <a:endParaRPr dirty="0" sz="1800" lang="en-US"/>
          </a:p>
        </p:txBody>
      </p:sp>
      <p:sp>
        <p:nvSpPr>
          <p:cNvPr id="1049106" name="Shape 41"/>
          <p:cNvSpPr/>
          <p:nvPr/>
        </p:nvSpPr>
        <p:spPr>
          <a:xfrm>
            <a:off x="548640" y="2103120"/>
            <a:ext cx="5349240" cy="3977640"/>
          </a:xfrm>
          <a:prstGeom prst="rect"/>
          <a:solidFill>
            <a:srgbClr val="102C4C"/>
          </a:solidFill>
          <a:ln w="12700">
            <a:solidFill>
              <a:srgbClr val="3E6690"/>
            </a:solidFill>
            <a:prstDash val="dash"/>
          </a:ln>
        </p:spPr>
      </p:sp>
      <p:sp>
        <p:nvSpPr>
          <p:cNvPr id="1049107" name="Shape 42"/>
          <p:cNvSpPr/>
          <p:nvPr/>
        </p:nvSpPr>
        <p:spPr>
          <a:xfrm>
            <a:off x="868680" y="2468880"/>
            <a:ext cx="685800" cy="685800"/>
          </a:xfrm>
          <a:prstGeom prst="rect"/>
          <a:solidFill>
            <a:srgbClr val="FFB627"/>
          </a:solidFill>
          <a:ln w="12700">
            <a:solidFill>
              <a:srgbClr val="FFFFFF"/>
            </a:solidFill>
            <a:prstDash val="solid"/>
          </a:ln>
        </p:spPr>
      </p:sp>
      <p:pic>
        <p:nvPicPr>
          <p:cNvPr id="2097166" name="Image 0" descr="/home/claude/icons/layers.png"/>
          <p:cNvPicPr>
            <a:picLocks noChangeAspect="1"/>
          </p:cNvPicPr>
          <p:nvPr/>
        </p:nvPicPr>
        <p:blipFill>
          <a:blip xmlns:r="http://schemas.openxmlformats.org/officeDocument/2006/relationships" r:embed="rId1"/>
          <a:stretch>
            <a:fillRect/>
          </a:stretch>
        </p:blipFill>
        <p:spPr>
          <a:xfrm>
            <a:off x="1033272" y="2633472"/>
            <a:ext cx="356616" cy="356616"/>
          </a:xfrm>
          <a:prstGeom prst="rect"/>
        </p:spPr>
      </p:pic>
      <p:sp>
        <p:nvSpPr>
          <p:cNvPr id="1049108" name="Text 43"/>
          <p:cNvSpPr/>
          <p:nvPr/>
        </p:nvSpPr>
        <p:spPr>
          <a:xfrm>
            <a:off x="1783080" y="2487168"/>
            <a:ext cx="3794760" cy="320040"/>
          </a:xfrm>
          <a:prstGeom prst="rect"/>
          <a:noFill/>
        </p:spPr>
        <p:txBody>
          <a:bodyPr anchor="ctr" rtlCol="0" wrap="square"/>
          <a:p>
            <a:pPr indent="0" marL="0">
              <a:buNone/>
            </a:pPr>
            <a:r>
              <a:rPr b="1" dirty="0" sz="1300" kern="0" lang="en-US" spc="150">
                <a:solidFill>
                  <a:srgbClr val="8FD3FF"/>
                </a:solidFill>
                <a:latin typeface="Courier New" pitchFamily="34" charset="0"/>
                <a:ea typeface="Courier New" pitchFamily="34" charset="-122"/>
                <a:cs typeface="Courier New" pitchFamily="34" charset="-120"/>
              </a:rPr>
              <a:t>THE CONCEPT</a:t>
            </a:r>
            <a:endParaRPr dirty="0" sz="1300" lang="en-US"/>
          </a:p>
        </p:txBody>
      </p:sp>
      <p:sp>
        <p:nvSpPr>
          <p:cNvPr id="1049109" name="Text 44"/>
          <p:cNvSpPr/>
          <p:nvPr/>
        </p:nvSpPr>
        <p:spPr>
          <a:xfrm>
            <a:off x="1783080" y="2816352"/>
            <a:ext cx="3794760" cy="457200"/>
          </a:xfrm>
          <a:prstGeom prst="rect"/>
          <a:noFill/>
        </p:spPr>
        <p:txBody>
          <a:bodyPr anchor="ctr" rtlCol="0" wrap="square"/>
          <a:p>
            <a:pPr indent="0" marL="0">
              <a:buNone/>
            </a:pPr>
            <a:r>
              <a:rPr b="1" dirty="0" sz="1900" lang="en-US">
                <a:solidFill>
                  <a:srgbClr val="FFFFFF"/>
                </a:solidFill>
                <a:latin typeface="Arial" pitchFamily="34" charset="0"/>
                <a:ea typeface="Arial" pitchFamily="34" charset="-122"/>
                <a:cs typeface="Arial" pitchFamily="34" charset="-120"/>
              </a:rPr>
              <a:t>Every class has exactly one job</a:t>
            </a:r>
            <a:endParaRPr dirty="0" sz="1900" lang="en-US"/>
          </a:p>
        </p:txBody>
      </p:sp>
      <p:sp>
        <p:nvSpPr>
          <p:cNvPr id="1049110" name="Shape 45"/>
          <p:cNvSpPr/>
          <p:nvPr/>
        </p:nvSpPr>
        <p:spPr>
          <a:xfrm>
            <a:off x="868680" y="3520440"/>
            <a:ext cx="4709160" cy="0"/>
          </a:xfrm>
          <a:prstGeom prst="line"/>
          <a:noFill/>
          <a:ln w="9525">
            <a:solidFill>
              <a:srgbClr val="3E6690"/>
            </a:solidFill>
            <a:prstDash val="solid"/>
          </a:ln>
        </p:spPr>
      </p:sp>
      <p:sp>
        <p:nvSpPr>
          <p:cNvPr id="1049111" name="Text 46"/>
          <p:cNvSpPr/>
          <p:nvPr/>
        </p:nvSpPr>
        <p:spPr>
          <a:xfrm>
            <a:off x="868680" y="3749040"/>
            <a:ext cx="4709160" cy="2103120"/>
          </a:xfrm>
          <a:prstGeom prst="rect"/>
          <a:noFill/>
        </p:spPr>
        <p:txBody>
          <a:bodyPr anchor="t" rtlCol="0" wrap="square"/>
          <a:p>
            <a:pPr indent="0" marL="0">
              <a:buNone/>
            </a:pPr>
            <a:r>
              <a:rPr dirty="0" sz="1500" lang="en-US">
                <a:solidFill>
                  <a:srgbClr val="9FB8D1"/>
                </a:solidFill>
                <a:latin typeface="Calibri" pitchFamily="34" charset="0"/>
                <a:ea typeface="Calibri" pitchFamily="34" charset="-122"/>
                <a:cs typeface="Calibri" pitchFamily="34" charset="-120"/>
              </a:rPr>
              <a:t>StandardTaxCalculator only computes VAT. ReceiptFormatter only builds a string. FileOrderRepository only writes to disk. Nothing does two unrelated jobs at once — unlike the original processOrder(), which mixed tax math, printing, and file I/O together.</a:t>
            </a:r>
            <a:endParaRPr dirty="0" sz="1500" lang="en-US"/>
          </a:p>
        </p:txBody>
      </p:sp>
      <p:sp>
        <p:nvSpPr>
          <p:cNvPr id="1049112" name="Shape 47"/>
          <p:cNvSpPr/>
          <p:nvPr/>
        </p:nvSpPr>
        <p:spPr>
          <a:xfrm>
            <a:off x="6007608" y="1847088"/>
            <a:ext cx="512064" cy="512064"/>
          </a:xfrm>
          <a:prstGeom prst="ellipse"/>
          <a:solidFill>
            <a:srgbClr val="06162A"/>
          </a:solidFill>
          <a:ln w="19050">
            <a:solidFill>
              <a:srgbClr val="FFB627"/>
            </a:solidFill>
            <a:prstDash val="solid"/>
          </a:ln>
        </p:spPr>
      </p:sp>
      <p:sp>
        <p:nvSpPr>
          <p:cNvPr id="1049113" name="Text 48"/>
          <p:cNvSpPr/>
          <p:nvPr/>
        </p:nvSpPr>
        <p:spPr>
          <a:xfrm>
            <a:off x="6007608" y="1847088"/>
            <a:ext cx="512064" cy="512064"/>
          </a:xfrm>
          <a:prstGeom prst="rect"/>
          <a:noFill/>
        </p:spPr>
        <p:txBody>
          <a:bodyPr anchor="ctr" rtlCol="0" wrap="square"/>
          <a:p>
            <a:pPr algn="ctr" indent="0" marL="0">
              <a:buNone/>
            </a:pPr>
            <a:r>
              <a:rPr b="1" dirty="0" sz="1800" lang="en-US">
                <a:solidFill>
                  <a:srgbClr val="FFB627"/>
                </a:solidFill>
                <a:latin typeface="Courier New" pitchFamily="34" charset="0"/>
                <a:ea typeface="Courier New" pitchFamily="34" charset="-122"/>
                <a:cs typeface="Courier New" pitchFamily="34" charset="-120"/>
              </a:rPr>
              <a:t>B</a:t>
            </a:r>
            <a:endParaRPr dirty="0" sz="1800" lang="en-US"/>
          </a:p>
        </p:txBody>
      </p:sp>
      <p:sp>
        <p:nvSpPr>
          <p:cNvPr id="1049114" name="Shape 49"/>
          <p:cNvSpPr/>
          <p:nvPr/>
        </p:nvSpPr>
        <p:spPr>
          <a:xfrm>
            <a:off x="6263640" y="2103120"/>
            <a:ext cx="5349240" cy="3977640"/>
          </a:xfrm>
          <a:prstGeom prst="rect"/>
          <a:solidFill>
            <a:srgbClr val="102C4C"/>
          </a:solidFill>
          <a:ln w="12700">
            <a:solidFill>
              <a:srgbClr val="3E6690"/>
            </a:solidFill>
            <a:prstDash val="dash"/>
          </a:ln>
        </p:spPr>
      </p:sp>
      <p:sp>
        <p:nvSpPr>
          <p:cNvPr id="1049115" name="Shape 50"/>
          <p:cNvSpPr/>
          <p:nvPr/>
        </p:nvSpPr>
        <p:spPr>
          <a:xfrm>
            <a:off x="6583680" y="2468880"/>
            <a:ext cx="685800" cy="685800"/>
          </a:xfrm>
          <a:prstGeom prst="rect"/>
          <a:solidFill>
            <a:srgbClr val="FFB627"/>
          </a:solidFill>
          <a:ln w="12700">
            <a:solidFill>
              <a:srgbClr val="FFFFFF"/>
            </a:solidFill>
            <a:prstDash val="solid"/>
          </a:ln>
        </p:spPr>
      </p:sp>
      <p:pic>
        <p:nvPicPr>
          <p:cNvPr id="2097167" name="Image 1" descr="/home/claude/icons/gitpull.png"/>
          <p:cNvPicPr>
            <a:picLocks noChangeAspect="1"/>
          </p:cNvPicPr>
          <p:nvPr/>
        </p:nvPicPr>
        <p:blipFill>
          <a:blip xmlns:r="http://schemas.openxmlformats.org/officeDocument/2006/relationships" r:embed="rId2"/>
          <a:stretch>
            <a:fillRect/>
          </a:stretch>
        </p:blipFill>
        <p:spPr>
          <a:xfrm>
            <a:off x="6748272" y="2633472"/>
            <a:ext cx="356616" cy="356616"/>
          </a:xfrm>
          <a:prstGeom prst="rect"/>
        </p:spPr>
      </p:pic>
      <p:sp>
        <p:nvSpPr>
          <p:cNvPr id="1049116" name="Text 51"/>
          <p:cNvSpPr/>
          <p:nvPr/>
        </p:nvSpPr>
        <p:spPr>
          <a:xfrm>
            <a:off x="7498080" y="2487168"/>
            <a:ext cx="3794760" cy="320040"/>
          </a:xfrm>
          <a:prstGeom prst="rect"/>
          <a:noFill/>
        </p:spPr>
        <p:txBody>
          <a:bodyPr anchor="ctr" rtlCol="0" wrap="square"/>
          <a:p>
            <a:pPr indent="0" marL="0">
              <a:buNone/>
            </a:pPr>
            <a:r>
              <a:rPr b="1" dirty="0" sz="1300" kern="0" lang="en-US" spc="150">
                <a:solidFill>
                  <a:srgbClr val="8FD3FF"/>
                </a:solidFill>
                <a:latin typeface="Courier New" pitchFamily="34" charset="0"/>
                <a:ea typeface="Courier New" pitchFamily="34" charset="-122"/>
                <a:cs typeface="Courier New" pitchFamily="34" charset="-120"/>
              </a:rPr>
              <a:t>REAL-WORLD EXAMPLE</a:t>
            </a:r>
            <a:endParaRPr dirty="0" sz="1300" lang="en-US"/>
          </a:p>
        </p:txBody>
      </p:sp>
      <p:sp>
        <p:nvSpPr>
          <p:cNvPr id="1049117" name="Text 52"/>
          <p:cNvSpPr/>
          <p:nvPr/>
        </p:nvSpPr>
        <p:spPr>
          <a:xfrm>
            <a:off x="7498080" y="2816352"/>
            <a:ext cx="3794760" cy="457200"/>
          </a:xfrm>
          <a:prstGeom prst="rect"/>
          <a:noFill/>
        </p:spPr>
        <p:txBody>
          <a:bodyPr anchor="ctr" rtlCol="0" wrap="square"/>
          <a:p>
            <a:pPr indent="0" marL="0">
              <a:buNone/>
            </a:pPr>
            <a:r>
              <a:rPr b="1" dirty="0" sz="1900" lang="en-US">
                <a:solidFill>
                  <a:srgbClr val="FFFFFF"/>
                </a:solidFill>
                <a:latin typeface="Arial" pitchFamily="34" charset="0"/>
                <a:ea typeface="Arial" pitchFamily="34" charset="-122"/>
                <a:cs typeface="Arial" pitchFamily="34" charset="-120"/>
              </a:rPr>
              <a:t>A kitchen brigade</a:t>
            </a:r>
            <a:endParaRPr dirty="0" sz="1900" lang="en-US"/>
          </a:p>
        </p:txBody>
      </p:sp>
      <p:sp>
        <p:nvSpPr>
          <p:cNvPr id="1049118" name="Shape 53"/>
          <p:cNvSpPr/>
          <p:nvPr/>
        </p:nvSpPr>
        <p:spPr>
          <a:xfrm>
            <a:off x="6583680" y="3520440"/>
            <a:ext cx="4709160" cy="0"/>
          </a:xfrm>
          <a:prstGeom prst="line"/>
          <a:noFill/>
          <a:ln w="9525">
            <a:solidFill>
              <a:srgbClr val="3E6690"/>
            </a:solidFill>
            <a:prstDash val="solid"/>
          </a:ln>
        </p:spPr>
      </p:sp>
      <p:sp>
        <p:nvSpPr>
          <p:cNvPr id="1049119" name="Text 54"/>
          <p:cNvSpPr/>
          <p:nvPr/>
        </p:nvSpPr>
        <p:spPr>
          <a:xfrm>
            <a:off x="6583680" y="3749040"/>
            <a:ext cx="4709160" cy="2103120"/>
          </a:xfrm>
          <a:prstGeom prst="rect"/>
          <a:noFill/>
        </p:spPr>
        <p:txBody>
          <a:bodyPr anchor="t" rtlCol="0" wrap="square"/>
          <a:p>
            <a:pPr indent="0" marL="0">
              <a:buNone/>
            </a:pPr>
            <a:r>
              <a:rPr dirty="0" sz="1500" lang="en-US">
                <a:solidFill>
                  <a:srgbClr val="9FB8D1"/>
                </a:solidFill>
                <a:latin typeface="Calibri" pitchFamily="34" charset="0"/>
                <a:ea typeface="Calibri" pitchFamily="34" charset="-122"/>
                <a:cs typeface="Calibri" pitchFamily="34" charset="-120"/>
              </a:rPr>
              <a:t>In a professional kitchen, the grill cook only grills and the pastry chef only bakes. Each station does one job well. If the grill breaks, pastry still runs — because no station’s work depends on also doing someone else’s job.</a:t>
            </a:r>
            <a:endParaRPr dirty="0" sz="150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0A1F38"/>
        </a:solidFill>
      </p:bgPr>
    </p:bg>
    <p:spTree>
      <p:nvGrpSpPr>
        <p:cNvPr id="38" name=""/>
        <p:cNvGrpSpPr/>
        <p:nvPr/>
      </p:nvGrpSpPr>
      <p:grpSpPr>
        <a:xfrm>
          <a:off x="0" y="0"/>
          <a:ext cx="0" cy="0"/>
          <a:chOff x="0" y="0"/>
          <a:chExt cx="0" cy="0"/>
        </a:xfrm>
      </p:grpSpPr>
      <p:sp>
        <p:nvSpPr>
          <p:cNvPr id="1049120" name="Shape 0"/>
          <p:cNvSpPr/>
          <p:nvPr/>
        </p:nvSpPr>
        <p:spPr>
          <a:xfrm>
            <a:off x="548640" y="0"/>
            <a:ext cx="0" cy="6858000"/>
          </a:xfrm>
          <a:prstGeom prst="line"/>
          <a:noFill/>
          <a:ln w="6350">
            <a:solidFill>
              <a:srgbClr val="1B3A5C"/>
            </a:solidFill>
            <a:prstDash val="solid"/>
          </a:ln>
        </p:spPr>
      </p:sp>
      <p:sp>
        <p:nvSpPr>
          <p:cNvPr id="1049121" name="Shape 1"/>
          <p:cNvSpPr/>
          <p:nvPr/>
        </p:nvSpPr>
        <p:spPr>
          <a:xfrm>
            <a:off x="1325880" y="0"/>
            <a:ext cx="0" cy="6858000"/>
          </a:xfrm>
          <a:prstGeom prst="line"/>
          <a:noFill/>
          <a:ln w="6350">
            <a:solidFill>
              <a:srgbClr val="1B3A5C"/>
            </a:solidFill>
            <a:prstDash val="solid"/>
          </a:ln>
        </p:spPr>
      </p:sp>
      <p:sp>
        <p:nvSpPr>
          <p:cNvPr id="1049122" name="Shape 2"/>
          <p:cNvSpPr/>
          <p:nvPr/>
        </p:nvSpPr>
        <p:spPr>
          <a:xfrm>
            <a:off x="2103120" y="0"/>
            <a:ext cx="0" cy="6858000"/>
          </a:xfrm>
          <a:prstGeom prst="line"/>
          <a:noFill/>
          <a:ln w="6350">
            <a:solidFill>
              <a:srgbClr val="1B3A5C"/>
            </a:solidFill>
            <a:prstDash val="solid"/>
          </a:ln>
        </p:spPr>
      </p:sp>
      <p:sp>
        <p:nvSpPr>
          <p:cNvPr id="1049123" name="Shape 3"/>
          <p:cNvSpPr/>
          <p:nvPr/>
        </p:nvSpPr>
        <p:spPr>
          <a:xfrm>
            <a:off x="2880360" y="0"/>
            <a:ext cx="0" cy="6858000"/>
          </a:xfrm>
          <a:prstGeom prst="line"/>
          <a:noFill/>
          <a:ln w="6350">
            <a:solidFill>
              <a:srgbClr val="1B3A5C"/>
            </a:solidFill>
            <a:prstDash val="solid"/>
          </a:ln>
        </p:spPr>
      </p:sp>
      <p:sp>
        <p:nvSpPr>
          <p:cNvPr id="1049124" name="Shape 4"/>
          <p:cNvSpPr/>
          <p:nvPr/>
        </p:nvSpPr>
        <p:spPr>
          <a:xfrm>
            <a:off x="3657600" y="0"/>
            <a:ext cx="0" cy="6858000"/>
          </a:xfrm>
          <a:prstGeom prst="line"/>
          <a:noFill/>
          <a:ln w="6350">
            <a:solidFill>
              <a:srgbClr val="1B3A5C"/>
            </a:solidFill>
            <a:prstDash val="solid"/>
          </a:ln>
        </p:spPr>
      </p:sp>
      <p:sp>
        <p:nvSpPr>
          <p:cNvPr id="1049125" name="Shape 5"/>
          <p:cNvSpPr/>
          <p:nvPr/>
        </p:nvSpPr>
        <p:spPr>
          <a:xfrm>
            <a:off x="4434840" y="0"/>
            <a:ext cx="0" cy="6858000"/>
          </a:xfrm>
          <a:prstGeom prst="line"/>
          <a:noFill/>
          <a:ln w="6350">
            <a:solidFill>
              <a:srgbClr val="1B3A5C"/>
            </a:solidFill>
            <a:prstDash val="solid"/>
          </a:ln>
        </p:spPr>
      </p:sp>
      <p:sp>
        <p:nvSpPr>
          <p:cNvPr id="1049126" name="Shape 6"/>
          <p:cNvSpPr/>
          <p:nvPr/>
        </p:nvSpPr>
        <p:spPr>
          <a:xfrm>
            <a:off x="5212080" y="0"/>
            <a:ext cx="0" cy="6858000"/>
          </a:xfrm>
          <a:prstGeom prst="line"/>
          <a:noFill/>
          <a:ln w="6350">
            <a:solidFill>
              <a:srgbClr val="1B3A5C"/>
            </a:solidFill>
            <a:prstDash val="solid"/>
          </a:ln>
        </p:spPr>
      </p:sp>
      <p:sp>
        <p:nvSpPr>
          <p:cNvPr id="1049127" name="Shape 7"/>
          <p:cNvSpPr/>
          <p:nvPr/>
        </p:nvSpPr>
        <p:spPr>
          <a:xfrm>
            <a:off x="5989320" y="0"/>
            <a:ext cx="0" cy="6858000"/>
          </a:xfrm>
          <a:prstGeom prst="line"/>
          <a:noFill/>
          <a:ln w="6350">
            <a:solidFill>
              <a:srgbClr val="1B3A5C"/>
            </a:solidFill>
            <a:prstDash val="solid"/>
          </a:ln>
        </p:spPr>
      </p:sp>
      <p:sp>
        <p:nvSpPr>
          <p:cNvPr id="1049128" name="Shape 8"/>
          <p:cNvSpPr/>
          <p:nvPr/>
        </p:nvSpPr>
        <p:spPr>
          <a:xfrm>
            <a:off x="6766560" y="0"/>
            <a:ext cx="0" cy="6858000"/>
          </a:xfrm>
          <a:prstGeom prst="line"/>
          <a:noFill/>
          <a:ln w="6350">
            <a:solidFill>
              <a:srgbClr val="1B3A5C"/>
            </a:solidFill>
            <a:prstDash val="solid"/>
          </a:ln>
        </p:spPr>
      </p:sp>
      <p:sp>
        <p:nvSpPr>
          <p:cNvPr id="1049129" name="Shape 9"/>
          <p:cNvSpPr/>
          <p:nvPr/>
        </p:nvSpPr>
        <p:spPr>
          <a:xfrm>
            <a:off x="7543800" y="0"/>
            <a:ext cx="0" cy="6858000"/>
          </a:xfrm>
          <a:prstGeom prst="line"/>
          <a:noFill/>
          <a:ln w="6350">
            <a:solidFill>
              <a:srgbClr val="1B3A5C"/>
            </a:solidFill>
            <a:prstDash val="solid"/>
          </a:ln>
        </p:spPr>
      </p:sp>
      <p:sp>
        <p:nvSpPr>
          <p:cNvPr id="1049130" name="Shape 10"/>
          <p:cNvSpPr/>
          <p:nvPr/>
        </p:nvSpPr>
        <p:spPr>
          <a:xfrm>
            <a:off x="8321040" y="0"/>
            <a:ext cx="0" cy="6858000"/>
          </a:xfrm>
          <a:prstGeom prst="line"/>
          <a:noFill/>
          <a:ln w="6350">
            <a:solidFill>
              <a:srgbClr val="1B3A5C"/>
            </a:solidFill>
            <a:prstDash val="solid"/>
          </a:ln>
        </p:spPr>
      </p:sp>
      <p:sp>
        <p:nvSpPr>
          <p:cNvPr id="1049131" name="Shape 11"/>
          <p:cNvSpPr/>
          <p:nvPr/>
        </p:nvSpPr>
        <p:spPr>
          <a:xfrm>
            <a:off x="9098280" y="0"/>
            <a:ext cx="0" cy="6858000"/>
          </a:xfrm>
          <a:prstGeom prst="line"/>
          <a:noFill/>
          <a:ln w="6350">
            <a:solidFill>
              <a:srgbClr val="1B3A5C"/>
            </a:solidFill>
            <a:prstDash val="solid"/>
          </a:ln>
        </p:spPr>
      </p:sp>
      <p:sp>
        <p:nvSpPr>
          <p:cNvPr id="1049132" name="Shape 12"/>
          <p:cNvSpPr/>
          <p:nvPr/>
        </p:nvSpPr>
        <p:spPr>
          <a:xfrm>
            <a:off x="9875520" y="0"/>
            <a:ext cx="0" cy="6858000"/>
          </a:xfrm>
          <a:prstGeom prst="line"/>
          <a:noFill/>
          <a:ln w="6350">
            <a:solidFill>
              <a:srgbClr val="1B3A5C"/>
            </a:solidFill>
            <a:prstDash val="solid"/>
          </a:ln>
        </p:spPr>
      </p:sp>
      <p:sp>
        <p:nvSpPr>
          <p:cNvPr id="1049133" name="Shape 13"/>
          <p:cNvSpPr/>
          <p:nvPr/>
        </p:nvSpPr>
        <p:spPr>
          <a:xfrm>
            <a:off x="10652760" y="0"/>
            <a:ext cx="0" cy="6858000"/>
          </a:xfrm>
          <a:prstGeom prst="line"/>
          <a:noFill/>
          <a:ln w="6350">
            <a:solidFill>
              <a:srgbClr val="1B3A5C"/>
            </a:solidFill>
            <a:prstDash val="solid"/>
          </a:ln>
        </p:spPr>
      </p:sp>
      <p:sp>
        <p:nvSpPr>
          <p:cNvPr id="1049134" name="Shape 14"/>
          <p:cNvSpPr/>
          <p:nvPr/>
        </p:nvSpPr>
        <p:spPr>
          <a:xfrm>
            <a:off x="11430000" y="0"/>
            <a:ext cx="0" cy="6858000"/>
          </a:xfrm>
          <a:prstGeom prst="line"/>
          <a:noFill/>
          <a:ln w="6350">
            <a:solidFill>
              <a:srgbClr val="1B3A5C"/>
            </a:solidFill>
            <a:prstDash val="solid"/>
          </a:ln>
        </p:spPr>
      </p:sp>
      <p:sp>
        <p:nvSpPr>
          <p:cNvPr id="1049135" name="Shape 15"/>
          <p:cNvSpPr/>
          <p:nvPr/>
        </p:nvSpPr>
        <p:spPr>
          <a:xfrm>
            <a:off x="0" y="548640"/>
            <a:ext cx="12191695" cy="0"/>
          </a:xfrm>
          <a:prstGeom prst="line"/>
          <a:noFill/>
          <a:ln w="6350">
            <a:solidFill>
              <a:srgbClr val="1B3A5C"/>
            </a:solidFill>
            <a:prstDash val="solid"/>
          </a:ln>
        </p:spPr>
      </p:sp>
      <p:sp>
        <p:nvSpPr>
          <p:cNvPr id="1049136" name="Shape 16"/>
          <p:cNvSpPr/>
          <p:nvPr/>
        </p:nvSpPr>
        <p:spPr>
          <a:xfrm>
            <a:off x="0" y="1325880"/>
            <a:ext cx="12191695" cy="0"/>
          </a:xfrm>
          <a:prstGeom prst="line"/>
          <a:noFill/>
          <a:ln w="6350">
            <a:solidFill>
              <a:srgbClr val="1B3A5C"/>
            </a:solidFill>
            <a:prstDash val="solid"/>
          </a:ln>
        </p:spPr>
      </p:sp>
      <p:sp>
        <p:nvSpPr>
          <p:cNvPr id="1049137" name="Shape 17"/>
          <p:cNvSpPr/>
          <p:nvPr/>
        </p:nvSpPr>
        <p:spPr>
          <a:xfrm>
            <a:off x="0" y="2103120"/>
            <a:ext cx="12191695" cy="0"/>
          </a:xfrm>
          <a:prstGeom prst="line"/>
          <a:noFill/>
          <a:ln w="6350">
            <a:solidFill>
              <a:srgbClr val="1B3A5C"/>
            </a:solidFill>
            <a:prstDash val="solid"/>
          </a:ln>
        </p:spPr>
      </p:sp>
      <p:sp>
        <p:nvSpPr>
          <p:cNvPr id="1049138" name="Shape 18"/>
          <p:cNvSpPr/>
          <p:nvPr/>
        </p:nvSpPr>
        <p:spPr>
          <a:xfrm>
            <a:off x="0" y="2880360"/>
            <a:ext cx="12191695" cy="0"/>
          </a:xfrm>
          <a:prstGeom prst="line"/>
          <a:noFill/>
          <a:ln w="6350">
            <a:solidFill>
              <a:srgbClr val="1B3A5C"/>
            </a:solidFill>
            <a:prstDash val="solid"/>
          </a:ln>
        </p:spPr>
      </p:sp>
      <p:sp>
        <p:nvSpPr>
          <p:cNvPr id="1049139" name="Shape 19"/>
          <p:cNvSpPr/>
          <p:nvPr/>
        </p:nvSpPr>
        <p:spPr>
          <a:xfrm>
            <a:off x="0" y="3657600"/>
            <a:ext cx="12191695" cy="0"/>
          </a:xfrm>
          <a:prstGeom prst="line"/>
          <a:noFill/>
          <a:ln w="6350">
            <a:solidFill>
              <a:srgbClr val="1B3A5C"/>
            </a:solidFill>
            <a:prstDash val="solid"/>
          </a:ln>
        </p:spPr>
      </p:sp>
      <p:sp>
        <p:nvSpPr>
          <p:cNvPr id="1049140" name="Shape 20"/>
          <p:cNvSpPr/>
          <p:nvPr/>
        </p:nvSpPr>
        <p:spPr>
          <a:xfrm>
            <a:off x="0" y="4434840"/>
            <a:ext cx="12191695" cy="0"/>
          </a:xfrm>
          <a:prstGeom prst="line"/>
          <a:noFill/>
          <a:ln w="6350">
            <a:solidFill>
              <a:srgbClr val="1B3A5C"/>
            </a:solidFill>
            <a:prstDash val="solid"/>
          </a:ln>
        </p:spPr>
      </p:sp>
      <p:sp>
        <p:nvSpPr>
          <p:cNvPr id="1049141" name="Shape 21"/>
          <p:cNvSpPr/>
          <p:nvPr/>
        </p:nvSpPr>
        <p:spPr>
          <a:xfrm>
            <a:off x="0" y="5212080"/>
            <a:ext cx="12191695" cy="0"/>
          </a:xfrm>
          <a:prstGeom prst="line"/>
          <a:noFill/>
          <a:ln w="6350">
            <a:solidFill>
              <a:srgbClr val="1B3A5C"/>
            </a:solidFill>
            <a:prstDash val="solid"/>
          </a:ln>
        </p:spPr>
      </p:sp>
      <p:sp>
        <p:nvSpPr>
          <p:cNvPr id="1049142" name="Shape 22"/>
          <p:cNvSpPr/>
          <p:nvPr/>
        </p:nvSpPr>
        <p:spPr>
          <a:xfrm>
            <a:off x="0" y="5989320"/>
            <a:ext cx="12191695" cy="0"/>
          </a:xfrm>
          <a:prstGeom prst="line"/>
          <a:noFill/>
          <a:ln w="6350">
            <a:solidFill>
              <a:srgbClr val="1B3A5C"/>
            </a:solidFill>
            <a:prstDash val="solid"/>
          </a:ln>
        </p:spPr>
      </p:sp>
      <p:sp>
        <p:nvSpPr>
          <p:cNvPr id="1049143" name="Shape 23"/>
          <p:cNvSpPr/>
          <p:nvPr/>
        </p:nvSpPr>
        <p:spPr>
          <a:xfrm>
            <a:off x="0" y="6766560"/>
            <a:ext cx="12191695" cy="0"/>
          </a:xfrm>
          <a:prstGeom prst="line"/>
          <a:noFill/>
          <a:ln w="6350">
            <a:solidFill>
              <a:srgbClr val="1B3A5C"/>
            </a:solidFill>
            <a:prstDash val="solid"/>
          </a:ln>
        </p:spPr>
      </p:sp>
      <p:sp>
        <p:nvSpPr>
          <p:cNvPr id="1049144" name="Shape 24"/>
          <p:cNvSpPr/>
          <p:nvPr/>
        </p:nvSpPr>
        <p:spPr>
          <a:xfrm>
            <a:off x="201168" y="201168"/>
            <a:ext cx="11789359" cy="6455664"/>
          </a:xfrm>
          <a:prstGeom prst="rect"/>
          <a:ln w="15875">
            <a:solidFill>
              <a:srgbClr val="3E6690"/>
            </a:solidFill>
            <a:prstDash val="solid"/>
          </a:ln>
        </p:spPr>
      </p:sp>
      <p:sp>
        <p:nvSpPr>
          <p:cNvPr id="1049145" name="Shape 25"/>
          <p:cNvSpPr/>
          <p:nvPr/>
        </p:nvSpPr>
        <p:spPr>
          <a:xfrm>
            <a:off x="320040" y="320040"/>
            <a:ext cx="384048" cy="0"/>
          </a:xfrm>
          <a:prstGeom prst="line"/>
          <a:noFill/>
          <a:ln w="25400">
            <a:solidFill>
              <a:srgbClr val="6EC6FF"/>
            </a:solidFill>
            <a:prstDash val="solid"/>
          </a:ln>
        </p:spPr>
      </p:sp>
      <p:sp>
        <p:nvSpPr>
          <p:cNvPr id="1049146" name="Shape 26"/>
          <p:cNvSpPr/>
          <p:nvPr/>
        </p:nvSpPr>
        <p:spPr>
          <a:xfrm>
            <a:off x="320040" y="320040"/>
            <a:ext cx="0" cy="384048"/>
          </a:xfrm>
          <a:prstGeom prst="line"/>
          <a:noFill/>
          <a:ln w="25400">
            <a:solidFill>
              <a:srgbClr val="6EC6FF"/>
            </a:solidFill>
            <a:prstDash val="solid"/>
          </a:ln>
        </p:spPr>
      </p:sp>
      <p:sp>
        <p:nvSpPr>
          <p:cNvPr id="1049147" name="Shape 27"/>
          <p:cNvSpPr/>
          <p:nvPr/>
        </p:nvSpPr>
        <p:spPr>
          <a:xfrm>
            <a:off x="11487607" y="320040"/>
            <a:ext cx="384048" cy="0"/>
          </a:xfrm>
          <a:prstGeom prst="line"/>
          <a:noFill/>
          <a:ln w="25400">
            <a:solidFill>
              <a:srgbClr val="6EC6FF"/>
            </a:solidFill>
            <a:prstDash val="solid"/>
          </a:ln>
        </p:spPr>
      </p:sp>
      <p:sp>
        <p:nvSpPr>
          <p:cNvPr id="1049148" name="Shape 28"/>
          <p:cNvSpPr/>
          <p:nvPr/>
        </p:nvSpPr>
        <p:spPr>
          <a:xfrm>
            <a:off x="11871655" y="320040"/>
            <a:ext cx="0" cy="384048"/>
          </a:xfrm>
          <a:prstGeom prst="line"/>
          <a:noFill/>
          <a:ln w="25400">
            <a:solidFill>
              <a:srgbClr val="6EC6FF"/>
            </a:solidFill>
            <a:prstDash val="solid"/>
          </a:ln>
        </p:spPr>
      </p:sp>
      <p:sp>
        <p:nvSpPr>
          <p:cNvPr id="1049149" name="Shape 29"/>
          <p:cNvSpPr/>
          <p:nvPr/>
        </p:nvSpPr>
        <p:spPr>
          <a:xfrm>
            <a:off x="320040" y="6537960"/>
            <a:ext cx="384048" cy="0"/>
          </a:xfrm>
          <a:prstGeom prst="line"/>
          <a:noFill/>
          <a:ln w="25400">
            <a:solidFill>
              <a:srgbClr val="6EC6FF"/>
            </a:solidFill>
            <a:prstDash val="solid"/>
          </a:ln>
        </p:spPr>
      </p:sp>
      <p:sp>
        <p:nvSpPr>
          <p:cNvPr id="1049150" name="Shape 30"/>
          <p:cNvSpPr/>
          <p:nvPr/>
        </p:nvSpPr>
        <p:spPr>
          <a:xfrm>
            <a:off x="320040" y="6153912"/>
            <a:ext cx="0" cy="384048"/>
          </a:xfrm>
          <a:prstGeom prst="line"/>
          <a:noFill/>
          <a:ln w="25400">
            <a:solidFill>
              <a:srgbClr val="6EC6FF"/>
            </a:solidFill>
            <a:prstDash val="solid"/>
          </a:ln>
        </p:spPr>
      </p:sp>
      <p:sp>
        <p:nvSpPr>
          <p:cNvPr id="1049151" name="Shape 31"/>
          <p:cNvSpPr/>
          <p:nvPr/>
        </p:nvSpPr>
        <p:spPr>
          <a:xfrm>
            <a:off x="11487607" y="6537960"/>
            <a:ext cx="384048" cy="0"/>
          </a:xfrm>
          <a:prstGeom prst="line"/>
          <a:noFill/>
          <a:ln w="25400">
            <a:solidFill>
              <a:srgbClr val="6EC6FF"/>
            </a:solidFill>
            <a:prstDash val="solid"/>
          </a:ln>
        </p:spPr>
      </p:sp>
      <p:sp>
        <p:nvSpPr>
          <p:cNvPr id="1049152" name="Shape 32"/>
          <p:cNvSpPr/>
          <p:nvPr/>
        </p:nvSpPr>
        <p:spPr>
          <a:xfrm>
            <a:off x="11871655" y="6153912"/>
            <a:ext cx="0" cy="384048"/>
          </a:xfrm>
          <a:prstGeom prst="line"/>
          <a:noFill/>
          <a:ln w="25400">
            <a:solidFill>
              <a:srgbClr val="6EC6FF"/>
            </a:solidFill>
            <a:prstDash val="solid"/>
          </a:ln>
        </p:spPr>
      </p:sp>
      <p:sp>
        <p:nvSpPr>
          <p:cNvPr id="1049153" name="Text 33"/>
          <p:cNvSpPr/>
          <p:nvPr/>
        </p:nvSpPr>
        <p:spPr>
          <a:xfrm>
            <a:off x="9265615" y="6400800"/>
            <a:ext cx="2651760" cy="274320"/>
          </a:xfrm>
          <a:prstGeom prst="rect"/>
          <a:noFill/>
        </p:spPr>
        <p:txBody>
          <a:bodyPr anchor="ctr" rtlCol="0" wrap="square"/>
          <a:p>
            <a:pPr algn="r" indent="0" marL="0">
              <a:buNone/>
            </a:pPr>
            <a:r>
              <a:rPr dirty="0" sz="900" kern="0" lang="en-US" spc="100">
                <a:solidFill>
                  <a:srgbClr val="9FB8D1"/>
                </a:solidFill>
                <a:latin typeface="Courier New" pitchFamily="34" charset="0"/>
                <a:ea typeface="Courier New" pitchFamily="34" charset="-122"/>
                <a:cs typeface="Courier New" pitchFamily="34" charset="-120"/>
              </a:rPr>
              <a:t>CS / SHEET 10 OF 12</a:t>
            </a:r>
            <a:endParaRPr dirty="0" sz="900" lang="en-US"/>
          </a:p>
        </p:txBody>
      </p:sp>
      <p:sp>
        <p:nvSpPr>
          <p:cNvPr id="1049154" name="Text 34"/>
          <p:cNvSpPr/>
          <p:nvPr/>
        </p:nvSpPr>
        <p:spPr>
          <a:xfrm>
            <a:off x="411480" y="6400800"/>
            <a:ext cx="5486400" cy="274320"/>
          </a:xfrm>
          <a:prstGeom prst="rect"/>
          <a:noFill/>
        </p:spPr>
        <p:txBody>
          <a:bodyPr anchor="ctr" rtlCol="0" wrap="square"/>
          <a:p>
            <a:pPr indent="0" marL="0">
              <a:buNone/>
            </a:pPr>
            <a:r>
              <a:rPr dirty="0" sz="900" kern="0" lang="en-US" spc="100">
                <a:solidFill>
                  <a:srgbClr val="9FB8D1"/>
                </a:solidFill>
                <a:latin typeface="Courier New" pitchFamily="34" charset="0"/>
                <a:ea typeface="Courier New" pitchFamily="34" charset="-122"/>
                <a:cs typeface="Courier New" pitchFamily="34" charset="-120"/>
              </a:rPr>
              <a:t>COFFEE SHOP ORDER PROCESSOR — REFACTORING</a:t>
            </a:r>
            <a:endParaRPr dirty="0" sz="900" lang="en-US"/>
          </a:p>
        </p:txBody>
      </p:sp>
      <p:sp>
        <p:nvSpPr>
          <p:cNvPr id="1049155" name="Shape 35"/>
          <p:cNvSpPr/>
          <p:nvPr/>
        </p:nvSpPr>
        <p:spPr>
          <a:xfrm>
            <a:off x="548640" y="502920"/>
            <a:ext cx="3383280" cy="292608"/>
          </a:xfrm>
          <a:prstGeom prst="rect"/>
          <a:solidFill>
            <a:srgbClr val="06162A"/>
          </a:solidFill>
          <a:ln w="12700">
            <a:solidFill>
              <a:srgbClr val="8FD3FF"/>
            </a:solidFill>
            <a:prstDash val="solid"/>
          </a:ln>
        </p:spPr>
      </p:sp>
      <p:sp>
        <p:nvSpPr>
          <p:cNvPr id="1049156" name="Text 36"/>
          <p:cNvSpPr/>
          <p:nvPr/>
        </p:nvSpPr>
        <p:spPr>
          <a:xfrm>
            <a:off x="548640" y="502920"/>
            <a:ext cx="3383280" cy="292608"/>
          </a:xfrm>
          <a:prstGeom prst="rect"/>
          <a:noFill/>
        </p:spPr>
        <p:txBody>
          <a:bodyPr anchor="ctr" rtlCol="0" wrap="square"/>
          <a:p>
            <a:pPr algn="ctr" indent="0" marL="0">
              <a:buNone/>
            </a:pPr>
            <a:r>
              <a:rPr b="1" dirty="0" sz="1050" kern="0" lang="en-US" spc="100">
                <a:solidFill>
                  <a:srgbClr val="8FD3FF"/>
                </a:solidFill>
                <a:latin typeface="Courier New" pitchFamily="34" charset="0"/>
                <a:ea typeface="Courier New" pitchFamily="34" charset="-122"/>
                <a:cs typeface="Courier New" pitchFamily="34" charset="-120"/>
              </a:rPr>
              <a:t>SHEET 10 — CONCEPT SPOTLIGHT</a:t>
            </a:r>
            <a:endParaRPr dirty="0" sz="1050" lang="en-US"/>
          </a:p>
        </p:txBody>
      </p:sp>
      <p:sp>
        <p:nvSpPr>
          <p:cNvPr id="1049157" name="Text 37"/>
          <p:cNvSpPr/>
          <p:nvPr/>
        </p:nvSpPr>
        <p:spPr>
          <a:xfrm>
            <a:off x="548640" y="914400"/>
            <a:ext cx="10058400" cy="548640"/>
          </a:xfrm>
          <a:prstGeom prst="rect"/>
          <a:noFill/>
        </p:spPr>
        <p:txBody>
          <a:bodyPr anchor="ctr" rtlCol="0" wrap="square"/>
          <a:p>
            <a:pPr indent="0" marL="0">
              <a:buNone/>
            </a:pPr>
            <a:r>
              <a:rPr b="1" dirty="0" sz="2800" lang="en-US">
                <a:solidFill>
                  <a:srgbClr val="FFFFFF"/>
                </a:solidFill>
                <a:latin typeface="Arial" pitchFamily="34" charset="0"/>
                <a:ea typeface="Arial" pitchFamily="34" charset="-122"/>
                <a:cs typeface="Arial" pitchFamily="34" charset="-120"/>
              </a:rPr>
              <a:t>The Processing Flow, Explained</a:t>
            </a:r>
            <a:endParaRPr dirty="0" sz="2800" lang="en-US"/>
          </a:p>
        </p:txBody>
      </p:sp>
      <p:sp>
        <p:nvSpPr>
          <p:cNvPr id="1049158" name="Text 38"/>
          <p:cNvSpPr/>
          <p:nvPr/>
        </p:nvSpPr>
        <p:spPr>
          <a:xfrm>
            <a:off x="548640" y="1417320"/>
            <a:ext cx="10058400" cy="365760"/>
          </a:xfrm>
          <a:prstGeom prst="rect"/>
          <a:noFill/>
        </p:spPr>
        <p:txBody>
          <a:bodyPr anchor="ctr" rtlCol="0" wrap="square"/>
          <a:p>
            <a:pPr indent="0" marL="0">
              <a:buNone/>
            </a:pPr>
            <a:r>
              <a:rPr dirty="0" sz="1400" i="1" lang="en-US">
                <a:solidFill>
                  <a:srgbClr val="9FB8D1"/>
                </a:solidFill>
                <a:latin typeface="Calibri" pitchFamily="34" charset="0"/>
                <a:ea typeface="Calibri" pitchFamily="34" charset="-122"/>
                <a:cs typeface="Calibri" pitchFamily="34" charset="-120"/>
              </a:rPr>
              <a:t>What it means in the code, and what it looks like in real life</a:t>
            </a:r>
            <a:endParaRPr dirty="0" sz="1400" lang="en-US"/>
          </a:p>
        </p:txBody>
      </p:sp>
      <p:sp>
        <p:nvSpPr>
          <p:cNvPr id="1049159" name="Shape 39"/>
          <p:cNvSpPr/>
          <p:nvPr/>
        </p:nvSpPr>
        <p:spPr>
          <a:xfrm>
            <a:off x="292608" y="1847088"/>
            <a:ext cx="512064" cy="512064"/>
          </a:xfrm>
          <a:prstGeom prst="ellipse"/>
          <a:solidFill>
            <a:srgbClr val="06162A"/>
          </a:solidFill>
          <a:ln w="19050">
            <a:solidFill>
              <a:srgbClr val="FFB627"/>
            </a:solidFill>
            <a:prstDash val="solid"/>
          </a:ln>
        </p:spPr>
      </p:sp>
      <p:sp>
        <p:nvSpPr>
          <p:cNvPr id="1049160" name="Text 40"/>
          <p:cNvSpPr/>
          <p:nvPr/>
        </p:nvSpPr>
        <p:spPr>
          <a:xfrm>
            <a:off x="292608" y="1847088"/>
            <a:ext cx="512064" cy="512064"/>
          </a:xfrm>
          <a:prstGeom prst="rect"/>
          <a:noFill/>
        </p:spPr>
        <p:txBody>
          <a:bodyPr anchor="ctr" rtlCol="0" wrap="square"/>
          <a:p>
            <a:pPr algn="ctr" indent="0" marL="0">
              <a:buNone/>
            </a:pPr>
            <a:r>
              <a:rPr b="1" dirty="0" sz="1800" lang="en-US">
                <a:solidFill>
                  <a:srgbClr val="FFB627"/>
                </a:solidFill>
                <a:latin typeface="Courier New" pitchFamily="34" charset="0"/>
                <a:ea typeface="Courier New" pitchFamily="34" charset="-122"/>
                <a:cs typeface="Courier New" pitchFamily="34" charset="-120"/>
              </a:rPr>
              <a:t>A</a:t>
            </a:r>
            <a:endParaRPr dirty="0" sz="1800" lang="en-US"/>
          </a:p>
        </p:txBody>
      </p:sp>
      <p:sp>
        <p:nvSpPr>
          <p:cNvPr id="1049161" name="Shape 41"/>
          <p:cNvSpPr/>
          <p:nvPr/>
        </p:nvSpPr>
        <p:spPr>
          <a:xfrm>
            <a:off x="548640" y="2103120"/>
            <a:ext cx="5349240" cy="3977640"/>
          </a:xfrm>
          <a:prstGeom prst="rect"/>
          <a:solidFill>
            <a:srgbClr val="102C4C"/>
          </a:solidFill>
          <a:ln w="12700">
            <a:solidFill>
              <a:srgbClr val="3E6690"/>
            </a:solidFill>
            <a:prstDash val="dash"/>
          </a:ln>
        </p:spPr>
      </p:sp>
      <p:sp>
        <p:nvSpPr>
          <p:cNvPr id="1049162" name="Shape 42"/>
          <p:cNvSpPr/>
          <p:nvPr/>
        </p:nvSpPr>
        <p:spPr>
          <a:xfrm>
            <a:off x="868680" y="2468880"/>
            <a:ext cx="685800" cy="685800"/>
          </a:xfrm>
          <a:prstGeom prst="rect"/>
          <a:solidFill>
            <a:srgbClr val="FFB627"/>
          </a:solidFill>
          <a:ln w="12700">
            <a:solidFill>
              <a:srgbClr val="FFFFFF"/>
            </a:solidFill>
            <a:prstDash val="solid"/>
          </a:ln>
        </p:spPr>
      </p:sp>
      <p:pic>
        <p:nvPicPr>
          <p:cNvPr id="2097168" name="Image 0" descr="/home/claude/icons/layers.png"/>
          <p:cNvPicPr>
            <a:picLocks noChangeAspect="1"/>
          </p:cNvPicPr>
          <p:nvPr/>
        </p:nvPicPr>
        <p:blipFill>
          <a:blip xmlns:r="http://schemas.openxmlformats.org/officeDocument/2006/relationships" r:embed="rId1"/>
          <a:stretch>
            <a:fillRect/>
          </a:stretch>
        </p:blipFill>
        <p:spPr>
          <a:xfrm>
            <a:off x="1033272" y="2633472"/>
            <a:ext cx="356616" cy="356616"/>
          </a:xfrm>
          <a:prstGeom prst="rect"/>
        </p:spPr>
      </p:pic>
      <p:sp>
        <p:nvSpPr>
          <p:cNvPr id="1049163" name="Text 43"/>
          <p:cNvSpPr/>
          <p:nvPr/>
        </p:nvSpPr>
        <p:spPr>
          <a:xfrm>
            <a:off x="1783080" y="2487168"/>
            <a:ext cx="3794760" cy="320040"/>
          </a:xfrm>
          <a:prstGeom prst="rect"/>
          <a:noFill/>
        </p:spPr>
        <p:txBody>
          <a:bodyPr anchor="ctr" rtlCol="0" wrap="square"/>
          <a:p>
            <a:pPr indent="0" marL="0">
              <a:buNone/>
            </a:pPr>
            <a:r>
              <a:rPr b="1" dirty="0" sz="1300" kern="0" lang="en-US" spc="150">
                <a:solidFill>
                  <a:srgbClr val="8FD3FF"/>
                </a:solidFill>
                <a:latin typeface="Courier New" pitchFamily="34" charset="0"/>
                <a:ea typeface="Courier New" pitchFamily="34" charset="-122"/>
                <a:cs typeface="Courier New" pitchFamily="34" charset="-120"/>
              </a:rPr>
              <a:t>THE CONCEPT</a:t>
            </a:r>
            <a:endParaRPr dirty="0" sz="1300" lang="en-US"/>
          </a:p>
        </p:txBody>
      </p:sp>
      <p:sp>
        <p:nvSpPr>
          <p:cNvPr id="1049164" name="Text 44"/>
          <p:cNvSpPr/>
          <p:nvPr/>
        </p:nvSpPr>
        <p:spPr>
          <a:xfrm>
            <a:off x="1783080" y="2816352"/>
            <a:ext cx="3794760" cy="457200"/>
          </a:xfrm>
          <a:prstGeom prst="rect"/>
          <a:noFill/>
        </p:spPr>
        <p:txBody>
          <a:bodyPr anchor="ctr" rtlCol="0" wrap="square"/>
          <a:p>
            <a:pPr indent="0" marL="0">
              <a:buNone/>
            </a:pPr>
            <a:r>
              <a:rPr b="1" dirty="0" sz="1900" lang="en-US">
                <a:solidFill>
                  <a:srgbClr val="FFFFFF"/>
                </a:solidFill>
                <a:latin typeface="Arial" pitchFamily="34" charset="0"/>
                <a:ea typeface="Arial" pitchFamily="34" charset="-122"/>
                <a:cs typeface="Arial" pitchFamily="34" charset="-120"/>
              </a:rPr>
              <a:t>Main wires it, OrderProcessor delegates it</a:t>
            </a:r>
            <a:endParaRPr dirty="0" sz="1900" lang="en-US"/>
          </a:p>
        </p:txBody>
      </p:sp>
      <p:sp>
        <p:nvSpPr>
          <p:cNvPr id="1049165" name="Shape 45"/>
          <p:cNvSpPr/>
          <p:nvPr/>
        </p:nvSpPr>
        <p:spPr>
          <a:xfrm>
            <a:off x="868680" y="3520440"/>
            <a:ext cx="4709160" cy="0"/>
          </a:xfrm>
          <a:prstGeom prst="line"/>
          <a:noFill/>
          <a:ln w="9525">
            <a:solidFill>
              <a:srgbClr val="3E6690"/>
            </a:solidFill>
            <a:prstDash val="solid"/>
          </a:ln>
        </p:spPr>
      </p:sp>
      <p:sp>
        <p:nvSpPr>
          <p:cNvPr id="1049166" name="Text 46"/>
          <p:cNvSpPr/>
          <p:nvPr/>
        </p:nvSpPr>
        <p:spPr>
          <a:xfrm>
            <a:off x="868680" y="3749040"/>
            <a:ext cx="4709160" cy="2103120"/>
          </a:xfrm>
          <a:prstGeom prst="rect"/>
          <a:noFill/>
        </p:spPr>
        <p:txBody>
          <a:bodyPr anchor="t" rtlCol="0" wrap="square"/>
          <a:p>
            <a:pPr indent="0" marL="0">
              <a:buNone/>
            </a:pPr>
            <a:r>
              <a:rPr dirty="0" sz="1500" lang="en-US">
                <a:solidFill>
                  <a:srgbClr val="9FB8D1"/>
                </a:solidFill>
                <a:latin typeface="Calibri" pitchFamily="34" charset="0"/>
                <a:ea typeface="Calibri" pitchFamily="34" charset="-122"/>
                <a:cs typeface="Calibri" pitchFamily="34" charset="-120"/>
              </a:rPr>
              <a:t>Main builds the concrete classes once and injects them into OrderProcessor. Then processOrder() calls each collaborator in turn: TaxCalculator for the price, ReceiptFormatter to build the receipt, OrderRepository to save it. OrderProcessor never does the work itself — only coordinates who does.</a:t>
            </a:r>
            <a:endParaRPr dirty="0" sz="1500" lang="en-US"/>
          </a:p>
        </p:txBody>
      </p:sp>
      <p:sp>
        <p:nvSpPr>
          <p:cNvPr id="1049167" name="Shape 47"/>
          <p:cNvSpPr/>
          <p:nvPr/>
        </p:nvSpPr>
        <p:spPr>
          <a:xfrm>
            <a:off x="6007608" y="1847088"/>
            <a:ext cx="512064" cy="512064"/>
          </a:xfrm>
          <a:prstGeom prst="ellipse"/>
          <a:solidFill>
            <a:srgbClr val="06162A"/>
          </a:solidFill>
          <a:ln w="19050">
            <a:solidFill>
              <a:srgbClr val="FFB627"/>
            </a:solidFill>
            <a:prstDash val="solid"/>
          </a:ln>
        </p:spPr>
      </p:sp>
      <p:sp>
        <p:nvSpPr>
          <p:cNvPr id="1049168" name="Text 48"/>
          <p:cNvSpPr/>
          <p:nvPr/>
        </p:nvSpPr>
        <p:spPr>
          <a:xfrm>
            <a:off x="6007608" y="1847088"/>
            <a:ext cx="512064" cy="512064"/>
          </a:xfrm>
          <a:prstGeom prst="rect"/>
          <a:noFill/>
        </p:spPr>
        <p:txBody>
          <a:bodyPr anchor="ctr" rtlCol="0" wrap="square"/>
          <a:p>
            <a:pPr algn="ctr" indent="0" marL="0">
              <a:buNone/>
            </a:pPr>
            <a:r>
              <a:rPr b="1" dirty="0" sz="1800" lang="en-US">
                <a:solidFill>
                  <a:srgbClr val="FFB627"/>
                </a:solidFill>
                <a:latin typeface="Courier New" pitchFamily="34" charset="0"/>
                <a:ea typeface="Courier New" pitchFamily="34" charset="-122"/>
                <a:cs typeface="Courier New" pitchFamily="34" charset="-120"/>
              </a:rPr>
              <a:t>B</a:t>
            </a:r>
            <a:endParaRPr dirty="0" sz="1800" lang="en-US"/>
          </a:p>
        </p:txBody>
      </p:sp>
      <p:sp>
        <p:nvSpPr>
          <p:cNvPr id="1049169" name="Shape 49"/>
          <p:cNvSpPr/>
          <p:nvPr/>
        </p:nvSpPr>
        <p:spPr>
          <a:xfrm>
            <a:off x="6263640" y="2103120"/>
            <a:ext cx="5349240" cy="3977640"/>
          </a:xfrm>
          <a:prstGeom prst="rect"/>
          <a:solidFill>
            <a:srgbClr val="102C4C"/>
          </a:solidFill>
          <a:ln w="12700">
            <a:solidFill>
              <a:srgbClr val="3E6690"/>
            </a:solidFill>
            <a:prstDash val="dash"/>
          </a:ln>
        </p:spPr>
      </p:sp>
      <p:sp>
        <p:nvSpPr>
          <p:cNvPr id="1049170" name="Shape 50"/>
          <p:cNvSpPr/>
          <p:nvPr/>
        </p:nvSpPr>
        <p:spPr>
          <a:xfrm>
            <a:off x="6583680" y="2468880"/>
            <a:ext cx="685800" cy="685800"/>
          </a:xfrm>
          <a:prstGeom prst="rect"/>
          <a:solidFill>
            <a:srgbClr val="FFB627"/>
          </a:solidFill>
          <a:ln w="12700">
            <a:solidFill>
              <a:srgbClr val="FFFFFF"/>
            </a:solidFill>
            <a:prstDash val="solid"/>
          </a:ln>
        </p:spPr>
      </p:sp>
      <p:pic>
        <p:nvPicPr>
          <p:cNvPr id="2097169" name="Image 1" descr="/home/claude/icons/gitpull.png"/>
          <p:cNvPicPr>
            <a:picLocks noChangeAspect="1"/>
          </p:cNvPicPr>
          <p:nvPr/>
        </p:nvPicPr>
        <p:blipFill>
          <a:blip xmlns:r="http://schemas.openxmlformats.org/officeDocument/2006/relationships" r:embed="rId2"/>
          <a:stretch>
            <a:fillRect/>
          </a:stretch>
        </p:blipFill>
        <p:spPr>
          <a:xfrm>
            <a:off x="6748272" y="2633472"/>
            <a:ext cx="356616" cy="356616"/>
          </a:xfrm>
          <a:prstGeom prst="rect"/>
        </p:spPr>
      </p:pic>
      <p:sp>
        <p:nvSpPr>
          <p:cNvPr id="1049171" name="Text 51"/>
          <p:cNvSpPr/>
          <p:nvPr/>
        </p:nvSpPr>
        <p:spPr>
          <a:xfrm>
            <a:off x="7498080" y="2487168"/>
            <a:ext cx="3794760" cy="320040"/>
          </a:xfrm>
          <a:prstGeom prst="rect"/>
          <a:noFill/>
        </p:spPr>
        <p:txBody>
          <a:bodyPr anchor="ctr" rtlCol="0" wrap="square"/>
          <a:p>
            <a:pPr indent="0" marL="0">
              <a:buNone/>
            </a:pPr>
            <a:r>
              <a:rPr b="1" dirty="0" sz="1300" kern="0" lang="en-US" spc="150">
                <a:solidFill>
                  <a:srgbClr val="8FD3FF"/>
                </a:solidFill>
                <a:latin typeface="Courier New" pitchFamily="34" charset="0"/>
                <a:ea typeface="Courier New" pitchFamily="34" charset="-122"/>
                <a:cs typeface="Courier New" pitchFamily="34" charset="-120"/>
              </a:rPr>
              <a:t>REAL-WORLD EXAMPLE</a:t>
            </a:r>
            <a:endParaRPr dirty="0" sz="1300" lang="en-US"/>
          </a:p>
        </p:txBody>
      </p:sp>
      <p:sp>
        <p:nvSpPr>
          <p:cNvPr id="1049172" name="Text 52"/>
          <p:cNvSpPr/>
          <p:nvPr/>
        </p:nvSpPr>
        <p:spPr>
          <a:xfrm>
            <a:off x="7498080" y="2816352"/>
            <a:ext cx="3794760" cy="457200"/>
          </a:xfrm>
          <a:prstGeom prst="rect"/>
          <a:noFill/>
        </p:spPr>
        <p:txBody>
          <a:bodyPr anchor="ctr" rtlCol="0" wrap="square"/>
          <a:p>
            <a:pPr indent="0" marL="0">
              <a:buNone/>
            </a:pPr>
            <a:r>
              <a:rPr b="1" dirty="0" sz="1900" lang="en-US">
                <a:solidFill>
                  <a:srgbClr val="FFFFFF"/>
                </a:solidFill>
                <a:latin typeface="Arial" pitchFamily="34" charset="0"/>
                <a:ea typeface="Arial" pitchFamily="34" charset="-122"/>
                <a:cs typeface="Arial" pitchFamily="34" charset="-120"/>
              </a:rPr>
              <a:t>A restaurant order ticket</a:t>
            </a:r>
            <a:endParaRPr dirty="0" sz="1900" lang="en-US"/>
          </a:p>
        </p:txBody>
      </p:sp>
      <p:sp>
        <p:nvSpPr>
          <p:cNvPr id="1049173" name="Shape 53"/>
          <p:cNvSpPr/>
          <p:nvPr/>
        </p:nvSpPr>
        <p:spPr>
          <a:xfrm>
            <a:off x="6583680" y="3520440"/>
            <a:ext cx="4709160" cy="0"/>
          </a:xfrm>
          <a:prstGeom prst="line"/>
          <a:noFill/>
          <a:ln w="9525">
            <a:solidFill>
              <a:srgbClr val="3E6690"/>
            </a:solidFill>
            <a:prstDash val="solid"/>
          </a:ln>
        </p:spPr>
      </p:sp>
      <p:sp>
        <p:nvSpPr>
          <p:cNvPr id="1049174" name="Text 54"/>
          <p:cNvSpPr/>
          <p:nvPr/>
        </p:nvSpPr>
        <p:spPr>
          <a:xfrm>
            <a:off x="6583680" y="3749040"/>
            <a:ext cx="4709160" cy="2103120"/>
          </a:xfrm>
          <a:prstGeom prst="rect"/>
          <a:noFill/>
        </p:spPr>
        <p:txBody>
          <a:bodyPr anchor="t" rtlCol="0" wrap="square"/>
          <a:p>
            <a:pPr indent="0" marL="0">
              <a:buNone/>
            </a:pPr>
            <a:r>
              <a:rPr dirty="0" sz="1500" lang="en-US">
                <a:solidFill>
                  <a:srgbClr val="9FB8D1"/>
                </a:solidFill>
                <a:latin typeface="Calibri" pitchFamily="34" charset="0"/>
                <a:ea typeface="Calibri" pitchFamily="34" charset="-122"/>
                <a:cs typeface="Calibri" pitchFamily="34" charset="-120"/>
              </a:rPr>
              <a:t>A waiter doesn’t cook, plate, or wash dishes. They pass the ticket to the kitchen, hand the finished plate to the runner, and send the receipt to the register. The waiter coordinates the process without doing any single step personally.</a:t>
            </a:r>
            <a:endParaRPr dirty="0" sz="150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0A1F38"/>
        </a:solidFill>
      </p:bgPr>
    </p:bg>
    <p:spTree>
      <p:nvGrpSpPr>
        <p:cNvPr id="39" name=""/>
        <p:cNvGrpSpPr/>
        <p:nvPr/>
      </p:nvGrpSpPr>
      <p:grpSpPr>
        <a:xfrm>
          <a:off x="0" y="0"/>
          <a:ext cx="0" cy="0"/>
          <a:chOff x="0" y="0"/>
          <a:chExt cx="0" cy="0"/>
        </a:xfrm>
      </p:grpSpPr>
      <p:sp>
        <p:nvSpPr>
          <p:cNvPr id="1049175" name="Shape 0"/>
          <p:cNvSpPr/>
          <p:nvPr/>
        </p:nvSpPr>
        <p:spPr>
          <a:xfrm>
            <a:off x="548640" y="0"/>
            <a:ext cx="0" cy="6858000"/>
          </a:xfrm>
          <a:prstGeom prst="line"/>
          <a:noFill/>
          <a:ln w="6350">
            <a:solidFill>
              <a:srgbClr val="1B3A5C"/>
            </a:solidFill>
            <a:prstDash val="solid"/>
          </a:ln>
        </p:spPr>
      </p:sp>
      <p:sp>
        <p:nvSpPr>
          <p:cNvPr id="1049176" name="Shape 1"/>
          <p:cNvSpPr/>
          <p:nvPr/>
        </p:nvSpPr>
        <p:spPr>
          <a:xfrm>
            <a:off x="1325880" y="0"/>
            <a:ext cx="0" cy="6858000"/>
          </a:xfrm>
          <a:prstGeom prst="line"/>
          <a:noFill/>
          <a:ln w="6350">
            <a:solidFill>
              <a:srgbClr val="1B3A5C"/>
            </a:solidFill>
            <a:prstDash val="solid"/>
          </a:ln>
        </p:spPr>
      </p:sp>
      <p:sp>
        <p:nvSpPr>
          <p:cNvPr id="1049177" name="Shape 2"/>
          <p:cNvSpPr/>
          <p:nvPr/>
        </p:nvSpPr>
        <p:spPr>
          <a:xfrm>
            <a:off x="2103120" y="0"/>
            <a:ext cx="0" cy="6858000"/>
          </a:xfrm>
          <a:prstGeom prst="line"/>
          <a:noFill/>
          <a:ln w="6350">
            <a:solidFill>
              <a:srgbClr val="1B3A5C"/>
            </a:solidFill>
            <a:prstDash val="solid"/>
          </a:ln>
        </p:spPr>
      </p:sp>
      <p:sp>
        <p:nvSpPr>
          <p:cNvPr id="1049178" name="Shape 3"/>
          <p:cNvSpPr/>
          <p:nvPr/>
        </p:nvSpPr>
        <p:spPr>
          <a:xfrm>
            <a:off x="2880360" y="0"/>
            <a:ext cx="0" cy="6858000"/>
          </a:xfrm>
          <a:prstGeom prst="line"/>
          <a:noFill/>
          <a:ln w="6350">
            <a:solidFill>
              <a:srgbClr val="1B3A5C"/>
            </a:solidFill>
            <a:prstDash val="solid"/>
          </a:ln>
        </p:spPr>
      </p:sp>
      <p:sp>
        <p:nvSpPr>
          <p:cNvPr id="1049179" name="Shape 4"/>
          <p:cNvSpPr/>
          <p:nvPr/>
        </p:nvSpPr>
        <p:spPr>
          <a:xfrm>
            <a:off x="3657600" y="0"/>
            <a:ext cx="0" cy="6858000"/>
          </a:xfrm>
          <a:prstGeom prst="line"/>
          <a:noFill/>
          <a:ln w="6350">
            <a:solidFill>
              <a:srgbClr val="1B3A5C"/>
            </a:solidFill>
            <a:prstDash val="solid"/>
          </a:ln>
        </p:spPr>
      </p:sp>
      <p:sp>
        <p:nvSpPr>
          <p:cNvPr id="1049180" name="Shape 5"/>
          <p:cNvSpPr/>
          <p:nvPr/>
        </p:nvSpPr>
        <p:spPr>
          <a:xfrm>
            <a:off x="4434840" y="0"/>
            <a:ext cx="0" cy="6858000"/>
          </a:xfrm>
          <a:prstGeom prst="line"/>
          <a:noFill/>
          <a:ln w="6350">
            <a:solidFill>
              <a:srgbClr val="1B3A5C"/>
            </a:solidFill>
            <a:prstDash val="solid"/>
          </a:ln>
        </p:spPr>
      </p:sp>
      <p:sp>
        <p:nvSpPr>
          <p:cNvPr id="1049181" name="Shape 6"/>
          <p:cNvSpPr/>
          <p:nvPr/>
        </p:nvSpPr>
        <p:spPr>
          <a:xfrm>
            <a:off x="5212080" y="0"/>
            <a:ext cx="0" cy="6858000"/>
          </a:xfrm>
          <a:prstGeom prst="line"/>
          <a:noFill/>
          <a:ln w="6350">
            <a:solidFill>
              <a:srgbClr val="1B3A5C"/>
            </a:solidFill>
            <a:prstDash val="solid"/>
          </a:ln>
        </p:spPr>
      </p:sp>
      <p:sp>
        <p:nvSpPr>
          <p:cNvPr id="1049182" name="Shape 7"/>
          <p:cNvSpPr/>
          <p:nvPr/>
        </p:nvSpPr>
        <p:spPr>
          <a:xfrm>
            <a:off x="5989320" y="0"/>
            <a:ext cx="0" cy="6858000"/>
          </a:xfrm>
          <a:prstGeom prst="line"/>
          <a:noFill/>
          <a:ln w="6350">
            <a:solidFill>
              <a:srgbClr val="1B3A5C"/>
            </a:solidFill>
            <a:prstDash val="solid"/>
          </a:ln>
        </p:spPr>
      </p:sp>
      <p:sp>
        <p:nvSpPr>
          <p:cNvPr id="1049183" name="Shape 8"/>
          <p:cNvSpPr/>
          <p:nvPr/>
        </p:nvSpPr>
        <p:spPr>
          <a:xfrm>
            <a:off x="6766560" y="0"/>
            <a:ext cx="0" cy="6858000"/>
          </a:xfrm>
          <a:prstGeom prst="line"/>
          <a:noFill/>
          <a:ln w="6350">
            <a:solidFill>
              <a:srgbClr val="1B3A5C"/>
            </a:solidFill>
            <a:prstDash val="solid"/>
          </a:ln>
        </p:spPr>
      </p:sp>
      <p:sp>
        <p:nvSpPr>
          <p:cNvPr id="1049184" name="Shape 9"/>
          <p:cNvSpPr/>
          <p:nvPr/>
        </p:nvSpPr>
        <p:spPr>
          <a:xfrm>
            <a:off x="7543800" y="0"/>
            <a:ext cx="0" cy="6858000"/>
          </a:xfrm>
          <a:prstGeom prst="line"/>
          <a:noFill/>
          <a:ln w="6350">
            <a:solidFill>
              <a:srgbClr val="1B3A5C"/>
            </a:solidFill>
            <a:prstDash val="solid"/>
          </a:ln>
        </p:spPr>
      </p:sp>
      <p:sp>
        <p:nvSpPr>
          <p:cNvPr id="1049185" name="Shape 10"/>
          <p:cNvSpPr/>
          <p:nvPr/>
        </p:nvSpPr>
        <p:spPr>
          <a:xfrm>
            <a:off x="8321040" y="0"/>
            <a:ext cx="0" cy="6858000"/>
          </a:xfrm>
          <a:prstGeom prst="line"/>
          <a:noFill/>
          <a:ln w="6350">
            <a:solidFill>
              <a:srgbClr val="1B3A5C"/>
            </a:solidFill>
            <a:prstDash val="solid"/>
          </a:ln>
        </p:spPr>
      </p:sp>
      <p:sp>
        <p:nvSpPr>
          <p:cNvPr id="1049186" name="Shape 11"/>
          <p:cNvSpPr/>
          <p:nvPr/>
        </p:nvSpPr>
        <p:spPr>
          <a:xfrm>
            <a:off x="9098280" y="0"/>
            <a:ext cx="0" cy="6858000"/>
          </a:xfrm>
          <a:prstGeom prst="line"/>
          <a:noFill/>
          <a:ln w="6350">
            <a:solidFill>
              <a:srgbClr val="1B3A5C"/>
            </a:solidFill>
            <a:prstDash val="solid"/>
          </a:ln>
        </p:spPr>
      </p:sp>
      <p:sp>
        <p:nvSpPr>
          <p:cNvPr id="1049187" name="Shape 12"/>
          <p:cNvSpPr/>
          <p:nvPr/>
        </p:nvSpPr>
        <p:spPr>
          <a:xfrm>
            <a:off x="9875520" y="0"/>
            <a:ext cx="0" cy="6858000"/>
          </a:xfrm>
          <a:prstGeom prst="line"/>
          <a:noFill/>
          <a:ln w="6350">
            <a:solidFill>
              <a:srgbClr val="1B3A5C"/>
            </a:solidFill>
            <a:prstDash val="solid"/>
          </a:ln>
        </p:spPr>
      </p:sp>
      <p:sp>
        <p:nvSpPr>
          <p:cNvPr id="1049188" name="Shape 13"/>
          <p:cNvSpPr/>
          <p:nvPr/>
        </p:nvSpPr>
        <p:spPr>
          <a:xfrm>
            <a:off x="10652760" y="0"/>
            <a:ext cx="0" cy="6858000"/>
          </a:xfrm>
          <a:prstGeom prst="line"/>
          <a:noFill/>
          <a:ln w="6350">
            <a:solidFill>
              <a:srgbClr val="1B3A5C"/>
            </a:solidFill>
            <a:prstDash val="solid"/>
          </a:ln>
        </p:spPr>
      </p:sp>
      <p:sp>
        <p:nvSpPr>
          <p:cNvPr id="1049189" name="Shape 14"/>
          <p:cNvSpPr/>
          <p:nvPr/>
        </p:nvSpPr>
        <p:spPr>
          <a:xfrm>
            <a:off x="11430000" y="0"/>
            <a:ext cx="0" cy="6858000"/>
          </a:xfrm>
          <a:prstGeom prst="line"/>
          <a:noFill/>
          <a:ln w="6350">
            <a:solidFill>
              <a:srgbClr val="1B3A5C"/>
            </a:solidFill>
            <a:prstDash val="solid"/>
          </a:ln>
        </p:spPr>
      </p:sp>
      <p:sp>
        <p:nvSpPr>
          <p:cNvPr id="1049190" name="Shape 15"/>
          <p:cNvSpPr/>
          <p:nvPr/>
        </p:nvSpPr>
        <p:spPr>
          <a:xfrm>
            <a:off x="0" y="548640"/>
            <a:ext cx="12191695" cy="0"/>
          </a:xfrm>
          <a:prstGeom prst="line"/>
          <a:noFill/>
          <a:ln w="6350">
            <a:solidFill>
              <a:srgbClr val="1B3A5C"/>
            </a:solidFill>
            <a:prstDash val="solid"/>
          </a:ln>
        </p:spPr>
      </p:sp>
      <p:sp>
        <p:nvSpPr>
          <p:cNvPr id="1049191" name="Shape 16"/>
          <p:cNvSpPr/>
          <p:nvPr/>
        </p:nvSpPr>
        <p:spPr>
          <a:xfrm>
            <a:off x="0" y="1325880"/>
            <a:ext cx="12191695" cy="0"/>
          </a:xfrm>
          <a:prstGeom prst="line"/>
          <a:noFill/>
          <a:ln w="6350">
            <a:solidFill>
              <a:srgbClr val="1B3A5C"/>
            </a:solidFill>
            <a:prstDash val="solid"/>
          </a:ln>
        </p:spPr>
      </p:sp>
      <p:sp>
        <p:nvSpPr>
          <p:cNvPr id="1049192" name="Shape 17"/>
          <p:cNvSpPr/>
          <p:nvPr/>
        </p:nvSpPr>
        <p:spPr>
          <a:xfrm>
            <a:off x="0" y="2103120"/>
            <a:ext cx="12191695" cy="0"/>
          </a:xfrm>
          <a:prstGeom prst="line"/>
          <a:noFill/>
          <a:ln w="6350">
            <a:solidFill>
              <a:srgbClr val="1B3A5C"/>
            </a:solidFill>
            <a:prstDash val="solid"/>
          </a:ln>
        </p:spPr>
      </p:sp>
      <p:sp>
        <p:nvSpPr>
          <p:cNvPr id="1049193" name="Shape 18"/>
          <p:cNvSpPr/>
          <p:nvPr/>
        </p:nvSpPr>
        <p:spPr>
          <a:xfrm>
            <a:off x="0" y="2880360"/>
            <a:ext cx="12191695" cy="0"/>
          </a:xfrm>
          <a:prstGeom prst="line"/>
          <a:noFill/>
          <a:ln w="6350">
            <a:solidFill>
              <a:srgbClr val="1B3A5C"/>
            </a:solidFill>
            <a:prstDash val="solid"/>
          </a:ln>
        </p:spPr>
      </p:sp>
      <p:sp>
        <p:nvSpPr>
          <p:cNvPr id="1049194" name="Shape 19"/>
          <p:cNvSpPr/>
          <p:nvPr/>
        </p:nvSpPr>
        <p:spPr>
          <a:xfrm>
            <a:off x="0" y="3657600"/>
            <a:ext cx="12191695" cy="0"/>
          </a:xfrm>
          <a:prstGeom prst="line"/>
          <a:noFill/>
          <a:ln w="6350">
            <a:solidFill>
              <a:srgbClr val="1B3A5C"/>
            </a:solidFill>
            <a:prstDash val="solid"/>
          </a:ln>
        </p:spPr>
      </p:sp>
      <p:sp>
        <p:nvSpPr>
          <p:cNvPr id="1049195" name="Shape 20"/>
          <p:cNvSpPr/>
          <p:nvPr/>
        </p:nvSpPr>
        <p:spPr>
          <a:xfrm>
            <a:off x="0" y="4434840"/>
            <a:ext cx="12191695" cy="0"/>
          </a:xfrm>
          <a:prstGeom prst="line"/>
          <a:noFill/>
          <a:ln w="6350">
            <a:solidFill>
              <a:srgbClr val="1B3A5C"/>
            </a:solidFill>
            <a:prstDash val="solid"/>
          </a:ln>
        </p:spPr>
      </p:sp>
      <p:sp>
        <p:nvSpPr>
          <p:cNvPr id="1049196" name="Shape 21"/>
          <p:cNvSpPr/>
          <p:nvPr/>
        </p:nvSpPr>
        <p:spPr>
          <a:xfrm>
            <a:off x="0" y="5212080"/>
            <a:ext cx="12191695" cy="0"/>
          </a:xfrm>
          <a:prstGeom prst="line"/>
          <a:noFill/>
          <a:ln w="6350">
            <a:solidFill>
              <a:srgbClr val="1B3A5C"/>
            </a:solidFill>
            <a:prstDash val="solid"/>
          </a:ln>
        </p:spPr>
      </p:sp>
      <p:sp>
        <p:nvSpPr>
          <p:cNvPr id="1049197" name="Shape 22"/>
          <p:cNvSpPr/>
          <p:nvPr/>
        </p:nvSpPr>
        <p:spPr>
          <a:xfrm>
            <a:off x="0" y="5989320"/>
            <a:ext cx="12191695" cy="0"/>
          </a:xfrm>
          <a:prstGeom prst="line"/>
          <a:noFill/>
          <a:ln w="6350">
            <a:solidFill>
              <a:srgbClr val="1B3A5C"/>
            </a:solidFill>
            <a:prstDash val="solid"/>
          </a:ln>
        </p:spPr>
      </p:sp>
      <p:sp>
        <p:nvSpPr>
          <p:cNvPr id="1049198" name="Shape 23"/>
          <p:cNvSpPr/>
          <p:nvPr/>
        </p:nvSpPr>
        <p:spPr>
          <a:xfrm>
            <a:off x="0" y="6766560"/>
            <a:ext cx="12191695" cy="0"/>
          </a:xfrm>
          <a:prstGeom prst="line"/>
          <a:noFill/>
          <a:ln w="6350">
            <a:solidFill>
              <a:srgbClr val="1B3A5C"/>
            </a:solidFill>
            <a:prstDash val="solid"/>
          </a:ln>
        </p:spPr>
      </p:sp>
      <p:sp>
        <p:nvSpPr>
          <p:cNvPr id="1049199" name="Shape 24"/>
          <p:cNvSpPr/>
          <p:nvPr/>
        </p:nvSpPr>
        <p:spPr>
          <a:xfrm>
            <a:off x="201168" y="201168"/>
            <a:ext cx="11789359" cy="6455664"/>
          </a:xfrm>
          <a:prstGeom prst="rect"/>
          <a:ln w="15875">
            <a:solidFill>
              <a:srgbClr val="3E6690"/>
            </a:solidFill>
            <a:prstDash val="solid"/>
          </a:ln>
        </p:spPr>
      </p:sp>
      <p:sp>
        <p:nvSpPr>
          <p:cNvPr id="1049200" name="Shape 25"/>
          <p:cNvSpPr/>
          <p:nvPr/>
        </p:nvSpPr>
        <p:spPr>
          <a:xfrm>
            <a:off x="320040" y="320040"/>
            <a:ext cx="384048" cy="0"/>
          </a:xfrm>
          <a:prstGeom prst="line"/>
          <a:noFill/>
          <a:ln w="25400">
            <a:solidFill>
              <a:srgbClr val="6EC6FF"/>
            </a:solidFill>
            <a:prstDash val="solid"/>
          </a:ln>
        </p:spPr>
      </p:sp>
      <p:sp>
        <p:nvSpPr>
          <p:cNvPr id="1049201" name="Shape 26"/>
          <p:cNvSpPr/>
          <p:nvPr/>
        </p:nvSpPr>
        <p:spPr>
          <a:xfrm>
            <a:off x="320040" y="320040"/>
            <a:ext cx="0" cy="384048"/>
          </a:xfrm>
          <a:prstGeom prst="line"/>
          <a:noFill/>
          <a:ln w="25400">
            <a:solidFill>
              <a:srgbClr val="6EC6FF"/>
            </a:solidFill>
            <a:prstDash val="solid"/>
          </a:ln>
        </p:spPr>
      </p:sp>
      <p:sp>
        <p:nvSpPr>
          <p:cNvPr id="1049202" name="Shape 27"/>
          <p:cNvSpPr/>
          <p:nvPr/>
        </p:nvSpPr>
        <p:spPr>
          <a:xfrm>
            <a:off x="11487607" y="320040"/>
            <a:ext cx="384048" cy="0"/>
          </a:xfrm>
          <a:prstGeom prst="line"/>
          <a:noFill/>
          <a:ln w="25400">
            <a:solidFill>
              <a:srgbClr val="6EC6FF"/>
            </a:solidFill>
            <a:prstDash val="solid"/>
          </a:ln>
        </p:spPr>
      </p:sp>
      <p:sp>
        <p:nvSpPr>
          <p:cNvPr id="1049203" name="Shape 28"/>
          <p:cNvSpPr/>
          <p:nvPr/>
        </p:nvSpPr>
        <p:spPr>
          <a:xfrm>
            <a:off x="11871655" y="320040"/>
            <a:ext cx="0" cy="384048"/>
          </a:xfrm>
          <a:prstGeom prst="line"/>
          <a:noFill/>
          <a:ln w="25400">
            <a:solidFill>
              <a:srgbClr val="6EC6FF"/>
            </a:solidFill>
            <a:prstDash val="solid"/>
          </a:ln>
        </p:spPr>
      </p:sp>
      <p:sp>
        <p:nvSpPr>
          <p:cNvPr id="1049204" name="Shape 29"/>
          <p:cNvSpPr/>
          <p:nvPr/>
        </p:nvSpPr>
        <p:spPr>
          <a:xfrm>
            <a:off x="320040" y="6537960"/>
            <a:ext cx="384048" cy="0"/>
          </a:xfrm>
          <a:prstGeom prst="line"/>
          <a:noFill/>
          <a:ln w="25400">
            <a:solidFill>
              <a:srgbClr val="6EC6FF"/>
            </a:solidFill>
            <a:prstDash val="solid"/>
          </a:ln>
        </p:spPr>
      </p:sp>
      <p:sp>
        <p:nvSpPr>
          <p:cNvPr id="1049205" name="Shape 30"/>
          <p:cNvSpPr/>
          <p:nvPr/>
        </p:nvSpPr>
        <p:spPr>
          <a:xfrm>
            <a:off x="320040" y="6153912"/>
            <a:ext cx="0" cy="384048"/>
          </a:xfrm>
          <a:prstGeom prst="line"/>
          <a:noFill/>
          <a:ln w="25400">
            <a:solidFill>
              <a:srgbClr val="6EC6FF"/>
            </a:solidFill>
            <a:prstDash val="solid"/>
          </a:ln>
        </p:spPr>
      </p:sp>
      <p:sp>
        <p:nvSpPr>
          <p:cNvPr id="1049206" name="Shape 31"/>
          <p:cNvSpPr/>
          <p:nvPr/>
        </p:nvSpPr>
        <p:spPr>
          <a:xfrm>
            <a:off x="11487607" y="6537960"/>
            <a:ext cx="384048" cy="0"/>
          </a:xfrm>
          <a:prstGeom prst="line"/>
          <a:noFill/>
          <a:ln w="25400">
            <a:solidFill>
              <a:srgbClr val="6EC6FF"/>
            </a:solidFill>
            <a:prstDash val="solid"/>
          </a:ln>
        </p:spPr>
      </p:sp>
      <p:sp>
        <p:nvSpPr>
          <p:cNvPr id="1049207" name="Shape 32"/>
          <p:cNvSpPr/>
          <p:nvPr/>
        </p:nvSpPr>
        <p:spPr>
          <a:xfrm>
            <a:off x="11871655" y="6153912"/>
            <a:ext cx="0" cy="384048"/>
          </a:xfrm>
          <a:prstGeom prst="line"/>
          <a:noFill/>
          <a:ln w="25400">
            <a:solidFill>
              <a:srgbClr val="6EC6FF"/>
            </a:solidFill>
            <a:prstDash val="solid"/>
          </a:ln>
        </p:spPr>
      </p:sp>
      <p:sp>
        <p:nvSpPr>
          <p:cNvPr id="1049208" name="Text 33"/>
          <p:cNvSpPr/>
          <p:nvPr/>
        </p:nvSpPr>
        <p:spPr>
          <a:xfrm>
            <a:off x="9265615" y="6400800"/>
            <a:ext cx="2651760" cy="274320"/>
          </a:xfrm>
          <a:prstGeom prst="rect"/>
          <a:noFill/>
        </p:spPr>
        <p:txBody>
          <a:bodyPr anchor="ctr" rtlCol="0" wrap="square"/>
          <a:p>
            <a:pPr algn="r" indent="0" marL="0">
              <a:buNone/>
            </a:pPr>
            <a:r>
              <a:rPr dirty="0" sz="900" kern="0" lang="en-US" spc="100">
                <a:solidFill>
                  <a:srgbClr val="9FB8D1"/>
                </a:solidFill>
                <a:latin typeface="Courier New" pitchFamily="34" charset="0"/>
                <a:ea typeface="Courier New" pitchFamily="34" charset="-122"/>
                <a:cs typeface="Courier New" pitchFamily="34" charset="-120"/>
              </a:rPr>
              <a:t>CS / SHEET 11 OF 12</a:t>
            </a:r>
            <a:endParaRPr dirty="0" sz="900" lang="en-US"/>
          </a:p>
        </p:txBody>
      </p:sp>
      <p:sp>
        <p:nvSpPr>
          <p:cNvPr id="1049209" name="Text 34"/>
          <p:cNvSpPr/>
          <p:nvPr/>
        </p:nvSpPr>
        <p:spPr>
          <a:xfrm>
            <a:off x="411480" y="6400800"/>
            <a:ext cx="5486400" cy="274320"/>
          </a:xfrm>
          <a:prstGeom prst="rect"/>
          <a:noFill/>
        </p:spPr>
        <p:txBody>
          <a:bodyPr anchor="ctr" rtlCol="0" wrap="square"/>
          <a:p>
            <a:pPr indent="0" marL="0">
              <a:buNone/>
            </a:pPr>
            <a:r>
              <a:rPr dirty="0" sz="900" kern="0" lang="en-US" spc="100">
                <a:solidFill>
                  <a:srgbClr val="9FB8D1"/>
                </a:solidFill>
                <a:latin typeface="Courier New" pitchFamily="34" charset="0"/>
                <a:ea typeface="Courier New" pitchFamily="34" charset="-122"/>
                <a:cs typeface="Courier New" pitchFamily="34" charset="-120"/>
              </a:rPr>
              <a:t>COFFEE SHOP ORDER PROCESSOR — REFACTORING</a:t>
            </a:r>
            <a:endParaRPr dirty="0" sz="900" lang="en-US"/>
          </a:p>
        </p:txBody>
      </p:sp>
      <p:sp>
        <p:nvSpPr>
          <p:cNvPr id="1049210" name="Shape 35"/>
          <p:cNvSpPr/>
          <p:nvPr/>
        </p:nvSpPr>
        <p:spPr>
          <a:xfrm>
            <a:off x="548640" y="502920"/>
            <a:ext cx="3383280" cy="292608"/>
          </a:xfrm>
          <a:prstGeom prst="rect"/>
          <a:solidFill>
            <a:srgbClr val="06162A"/>
          </a:solidFill>
          <a:ln w="12700">
            <a:solidFill>
              <a:srgbClr val="8FD3FF"/>
            </a:solidFill>
            <a:prstDash val="solid"/>
          </a:ln>
        </p:spPr>
      </p:sp>
      <p:sp>
        <p:nvSpPr>
          <p:cNvPr id="1049211" name="Text 36"/>
          <p:cNvSpPr/>
          <p:nvPr/>
        </p:nvSpPr>
        <p:spPr>
          <a:xfrm>
            <a:off x="548640" y="502920"/>
            <a:ext cx="3383280" cy="292608"/>
          </a:xfrm>
          <a:prstGeom prst="rect"/>
          <a:noFill/>
        </p:spPr>
        <p:txBody>
          <a:bodyPr anchor="ctr" rtlCol="0" wrap="square"/>
          <a:p>
            <a:pPr algn="ctr" indent="0" marL="0">
              <a:buNone/>
            </a:pPr>
            <a:r>
              <a:rPr b="1" dirty="0" sz="1050" kern="0" lang="en-US" spc="100">
                <a:solidFill>
                  <a:srgbClr val="8FD3FF"/>
                </a:solidFill>
                <a:latin typeface="Courier New" pitchFamily="34" charset="0"/>
                <a:ea typeface="Courier New" pitchFamily="34" charset="-122"/>
                <a:cs typeface="Courier New" pitchFamily="34" charset="-120"/>
              </a:rPr>
              <a:t>SHEET 11 — CONCEPT SPOTLIGHT</a:t>
            </a:r>
            <a:endParaRPr dirty="0" sz="1050" lang="en-US"/>
          </a:p>
        </p:txBody>
      </p:sp>
      <p:sp>
        <p:nvSpPr>
          <p:cNvPr id="1049212" name="Text 37"/>
          <p:cNvSpPr/>
          <p:nvPr/>
        </p:nvSpPr>
        <p:spPr>
          <a:xfrm>
            <a:off x="548640" y="914400"/>
            <a:ext cx="10058400" cy="548640"/>
          </a:xfrm>
          <a:prstGeom prst="rect"/>
          <a:noFill/>
        </p:spPr>
        <p:txBody>
          <a:bodyPr anchor="ctr" rtlCol="0" wrap="square"/>
          <a:p>
            <a:pPr indent="0" marL="0">
              <a:buNone/>
            </a:pPr>
            <a:r>
              <a:rPr b="1" dirty="0" sz="2800" lang="en-US">
                <a:solidFill>
                  <a:srgbClr val="FFFFFF"/>
                </a:solidFill>
                <a:latin typeface="Arial" pitchFamily="34" charset="0"/>
                <a:ea typeface="Arial" pitchFamily="34" charset="-122"/>
                <a:cs typeface="Arial" pitchFamily="34" charset="-120"/>
              </a:rPr>
              <a:t>Class Count &amp; Independence, Explained</a:t>
            </a:r>
            <a:endParaRPr dirty="0" sz="2800" lang="en-US"/>
          </a:p>
        </p:txBody>
      </p:sp>
      <p:sp>
        <p:nvSpPr>
          <p:cNvPr id="1049213" name="Text 38"/>
          <p:cNvSpPr/>
          <p:nvPr/>
        </p:nvSpPr>
        <p:spPr>
          <a:xfrm>
            <a:off x="548640" y="1417320"/>
            <a:ext cx="10058400" cy="365760"/>
          </a:xfrm>
          <a:prstGeom prst="rect"/>
          <a:noFill/>
        </p:spPr>
        <p:txBody>
          <a:bodyPr anchor="ctr" rtlCol="0" wrap="square"/>
          <a:p>
            <a:pPr indent="0" marL="0">
              <a:buNone/>
            </a:pPr>
            <a:r>
              <a:rPr dirty="0" sz="1400" i="1" lang="en-US">
                <a:solidFill>
                  <a:srgbClr val="9FB8D1"/>
                </a:solidFill>
                <a:latin typeface="Calibri" pitchFamily="34" charset="0"/>
                <a:ea typeface="Calibri" pitchFamily="34" charset="-122"/>
                <a:cs typeface="Calibri" pitchFamily="34" charset="-120"/>
              </a:rPr>
              <a:t>What it means in the code, and what it looks like in real life</a:t>
            </a:r>
            <a:endParaRPr dirty="0" sz="1400" lang="en-US"/>
          </a:p>
        </p:txBody>
      </p:sp>
      <p:sp>
        <p:nvSpPr>
          <p:cNvPr id="1049214" name="Shape 39"/>
          <p:cNvSpPr/>
          <p:nvPr/>
        </p:nvSpPr>
        <p:spPr>
          <a:xfrm>
            <a:off x="292608" y="1847088"/>
            <a:ext cx="512064" cy="512064"/>
          </a:xfrm>
          <a:prstGeom prst="ellipse"/>
          <a:solidFill>
            <a:srgbClr val="06162A"/>
          </a:solidFill>
          <a:ln w="19050">
            <a:solidFill>
              <a:srgbClr val="FFB627"/>
            </a:solidFill>
            <a:prstDash val="solid"/>
          </a:ln>
        </p:spPr>
      </p:sp>
      <p:sp>
        <p:nvSpPr>
          <p:cNvPr id="1049215" name="Text 40"/>
          <p:cNvSpPr/>
          <p:nvPr/>
        </p:nvSpPr>
        <p:spPr>
          <a:xfrm>
            <a:off x="292608" y="1847088"/>
            <a:ext cx="512064" cy="512064"/>
          </a:xfrm>
          <a:prstGeom prst="rect"/>
          <a:noFill/>
        </p:spPr>
        <p:txBody>
          <a:bodyPr anchor="ctr" rtlCol="0" wrap="square"/>
          <a:p>
            <a:pPr algn="ctr" indent="0" marL="0">
              <a:buNone/>
            </a:pPr>
            <a:r>
              <a:rPr b="1" dirty="0" sz="1800" lang="en-US">
                <a:solidFill>
                  <a:srgbClr val="FFB627"/>
                </a:solidFill>
                <a:latin typeface="Courier New" pitchFamily="34" charset="0"/>
                <a:ea typeface="Courier New" pitchFamily="34" charset="-122"/>
                <a:cs typeface="Courier New" pitchFamily="34" charset="-120"/>
              </a:rPr>
              <a:t>A</a:t>
            </a:r>
            <a:endParaRPr dirty="0" sz="1800" lang="en-US"/>
          </a:p>
        </p:txBody>
      </p:sp>
      <p:sp>
        <p:nvSpPr>
          <p:cNvPr id="1049216" name="Shape 41"/>
          <p:cNvSpPr/>
          <p:nvPr/>
        </p:nvSpPr>
        <p:spPr>
          <a:xfrm>
            <a:off x="548640" y="2103120"/>
            <a:ext cx="5349240" cy="3977640"/>
          </a:xfrm>
          <a:prstGeom prst="rect"/>
          <a:solidFill>
            <a:srgbClr val="102C4C"/>
          </a:solidFill>
          <a:ln w="12700">
            <a:solidFill>
              <a:srgbClr val="3E6690"/>
            </a:solidFill>
            <a:prstDash val="dash"/>
          </a:ln>
        </p:spPr>
      </p:sp>
      <p:sp>
        <p:nvSpPr>
          <p:cNvPr id="1049217" name="Shape 42"/>
          <p:cNvSpPr/>
          <p:nvPr/>
        </p:nvSpPr>
        <p:spPr>
          <a:xfrm>
            <a:off x="868680" y="2468880"/>
            <a:ext cx="685800" cy="685800"/>
          </a:xfrm>
          <a:prstGeom prst="rect"/>
          <a:solidFill>
            <a:srgbClr val="FFB627"/>
          </a:solidFill>
          <a:ln w="12700">
            <a:solidFill>
              <a:srgbClr val="FFFFFF"/>
            </a:solidFill>
            <a:prstDash val="solid"/>
          </a:ln>
        </p:spPr>
      </p:sp>
      <p:pic>
        <p:nvPicPr>
          <p:cNvPr id="2097170" name="Image 0" descr="/home/claude/icons/layers.png"/>
          <p:cNvPicPr>
            <a:picLocks noChangeAspect="1"/>
          </p:cNvPicPr>
          <p:nvPr/>
        </p:nvPicPr>
        <p:blipFill>
          <a:blip xmlns:r="http://schemas.openxmlformats.org/officeDocument/2006/relationships" r:embed="rId1"/>
          <a:stretch>
            <a:fillRect/>
          </a:stretch>
        </p:blipFill>
        <p:spPr>
          <a:xfrm>
            <a:off x="1033272" y="2633472"/>
            <a:ext cx="356616" cy="356616"/>
          </a:xfrm>
          <a:prstGeom prst="rect"/>
        </p:spPr>
      </p:pic>
      <p:sp>
        <p:nvSpPr>
          <p:cNvPr id="1049218" name="Text 43"/>
          <p:cNvSpPr/>
          <p:nvPr/>
        </p:nvSpPr>
        <p:spPr>
          <a:xfrm>
            <a:off x="1783080" y="2487168"/>
            <a:ext cx="3794760" cy="320040"/>
          </a:xfrm>
          <a:prstGeom prst="rect"/>
          <a:noFill/>
        </p:spPr>
        <p:txBody>
          <a:bodyPr anchor="ctr" rtlCol="0" wrap="square"/>
          <a:p>
            <a:pPr indent="0" marL="0">
              <a:buNone/>
            </a:pPr>
            <a:r>
              <a:rPr b="1" dirty="0" sz="1300" kern="0" lang="en-US" spc="150">
                <a:solidFill>
                  <a:srgbClr val="8FD3FF"/>
                </a:solidFill>
                <a:latin typeface="Courier New" pitchFamily="34" charset="0"/>
                <a:ea typeface="Courier New" pitchFamily="34" charset="-122"/>
                <a:cs typeface="Courier New" pitchFamily="34" charset="-120"/>
              </a:rPr>
              <a:t>THE CONCEPT</a:t>
            </a:r>
            <a:endParaRPr dirty="0" sz="1300" lang="en-US"/>
          </a:p>
        </p:txBody>
      </p:sp>
      <p:sp>
        <p:nvSpPr>
          <p:cNvPr id="1049219" name="Text 44"/>
          <p:cNvSpPr/>
          <p:nvPr/>
        </p:nvSpPr>
        <p:spPr>
          <a:xfrm>
            <a:off x="1783080" y="2816352"/>
            <a:ext cx="3794760" cy="457200"/>
          </a:xfrm>
          <a:prstGeom prst="rect"/>
          <a:noFill/>
        </p:spPr>
        <p:txBody>
          <a:bodyPr anchor="ctr" rtlCol="0" wrap="square"/>
          <a:p>
            <a:pPr indent="0" marL="0">
              <a:buNone/>
            </a:pPr>
            <a:r>
              <a:rPr b="1" dirty="0" sz="1900" lang="en-US">
                <a:solidFill>
                  <a:srgbClr val="FFFFFF"/>
                </a:solidFill>
                <a:latin typeface="Arial" pitchFamily="34" charset="0"/>
                <a:ea typeface="Arial" pitchFamily="34" charset="-122"/>
                <a:cs typeface="Arial" pitchFamily="34" charset="-120"/>
              </a:rPr>
              <a:t>8 classes, each with one reason to exist</a:t>
            </a:r>
            <a:endParaRPr dirty="0" sz="1900" lang="en-US"/>
          </a:p>
        </p:txBody>
      </p:sp>
      <p:sp>
        <p:nvSpPr>
          <p:cNvPr id="1049220" name="Shape 45"/>
          <p:cNvSpPr/>
          <p:nvPr/>
        </p:nvSpPr>
        <p:spPr>
          <a:xfrm>
            <a:off x="868680" y="3520440"/>
            <a:ext cx="4709160" cy="0"/>
          </a:xfrm>
          <a:prstGeom prst="line"/>
          <a:noFill/>
          <a:ln w="9525">
            <a:solidFill>
              <a:srgbClr val="3E6690"/>
            </a:solidFill>
            <a:prstDash val="solid"/>
          </a:ln>
        </p:spPr>
      </p:sp>
      <p:sp>
        <p:nvSpPr>
          <p:cNvPr id="1049221" name="Text 46"/>
          <p:cNvSpPr/>
          <p:nvPr/>
        </p:nvSpPr>
        <p:spPr>
          <a:xfrm>
            <a:off x="868680" y="3749040"/>
            <a:ext cx="4709160" cy="2103120"/>
          </a:xfrm>
          <a:prstGeom prst="rect"/>
          <a:noFill/>
        </p:spPr>
        <p:txBody>
          <a:bodyPr anchor="t" rtlCol="0" wrap="square"/>
          <a:p>
            <a:pPr indent="0" marL="0">
              <a:buNone/>
            </a:pPr>
            <a:r>
              <a:rPr dirty="0" sz="1500" lang="en-US">
                <a:solidFill>
                  <a:srgbClr val="9FB8D1"/>
                </a:solidFill>
                <a:latin typeface="Calibri" pitchFamily="34" charset="0"/>
                <a:ea typeface="Calibri" pitchFamily="34" charset="-122"/>
                <a:cs typeface="Calibri" pitchFamily="34" charset="-120"/>
              </a:rPr>
              <a:t>Order (data), 2 interfaces (contracts), 2 implementations (tax + storage), ReceiptFormatter (concrete, no interface needed), OrderProcessor (orchestration), and Main (wiring). Most classes don’t depend on each other directly — only OrderProcessor depends on the rest, and only through interfaces.</a:t>
            </a:r>
            <a:endParaRPr dirty="0" sz="1500" lang="en-US"/>
          </a:p>
        </p:txBody>
      </p:sp>
      <p:sp>
        <p:nvSpPr>
          <p:cNvPr id="1049222" name="Shape 47"/>
          <p:cNvSpPr/>
          <p:nvPr/>
        </p:nvSpPr>
        <p:spPr>
          <a:xfrm>
            <a:off x="6007608" y="1847088"/>
            <a:ext cx="512064" cy="512064"/>
          </a:xfrm>
          <a:prstGeom prst="ellipse"/>
          <a:solidFill>
            <a:srgbClr val="06162A"/>
          </a:solidFill>
          <a:ln w="19050">
            <a:solidFill>
              <a:srgbClr val="FFB627"/>
            </a:solidFill>
            <a:prstDash val="solid"/>
          </a:ln>
        </p:spPr>
      </p:sp>
      <p:sp>
        <p:nvSpPr>
          <p:cNvPr id="1049223" name="Text 48"/>
          <p:cNvSpPr/>
          <p:nvPr/>
        </p:nvSpPr>
        <p:spPr>
          <a:xfrm>
            <a:off x="6007608" y="1847088"/>
            <a:ext cx="512064" cy="512064"/>
          </a:xfrm>
          <a:prstGeom prst="rect"/>
          <a:noFill/>
        </p:spPr>
        <p:txBody>
          <a:bodyPr anchor="ctr" rtlCol="0" wrap="square"/>
          <a:p>
            <a:pPr algn="ctr" indent="0" marL="0">
              <a:buNone/>
            </a:pPr>
            <a:r>
              <a:rPr b="1" dirty="0" sz="1800" lang="en-US">
                <a:solidFill>
                  <a:srgbClr val="FFB627"/>
                </a:solidFill>
                <a:latin typeface="Courier New" pitchFamily="34" charset="0"/>
                <a:ea typeface="Courier New" pitchFamily="34" charset="-122"/>
                <a:cs typeface="Courier New" pitchFamily="34" charset="-120"/>
              </a:rPr>
              <a:t>B</a:t>
            </a:r>
            <a:endParaRPr dirty="0" sz="1800" lang="en-US"/>
          </a:p>
        </p:txBody>
      </p:sp>
      <p:sp>
        <p:nvSpPr>
          <p:cNvPr id="1049224" name="Shape 49"/>
          <p:cNvSpPr/>
          <p:nvPr/>
        </p:nvSpPr>
        <p:spPr>
          <a:xfrm>
            <a:off x="6263640" y="2103120"/>
            <a:ext cx="5349240" cy="3977640"/>
          </a:xfrm>
          <a:prstGeom prst="rect"/>
          <a:solidFill>
            <a:srgbClr val="102C4C"/>
          </a:solidFill>
          <a:ln w="12700">
            <a:solidFill>
              <a:srgbClr val="3E6690"/>
            </a:solidFill>
            <a:prstDash val="dash"/>
          </a:ln>
        </p:spPr>
      </p:sp>
      <p:sp>
        <p:nvSpPr>
          <p:cNvPr id="1049225" name="Shape 50"/>
          <p:cNvSpPr/>
          <p:nvPr/>
        </p:nvSpPr>
        <p:spPr>
          <a:xfrm>
            <a:off x="6583680" y="2468880"/>
            <a:ext cx="685800" cy="685800"/>
          </a:xfrm>
          <a:prstGeom prst="rect"/>
          <a:solidFill>
            <a:srgbClr val="FFB627"/>
          </a:solidFill>
          <a:ln w="12700">
            <a:solidFill>
              <a:srgbClr val="FFFFFF"/>
            </a:solidFill>
            <a:prstDash val="solid"/>
          </a:ln>
        </p:spPr>
      </p:sp>
      <p:pic>
        <p:nvPicPr>
          <p:cNvPr id="2097171" name="Image 1" descr="/home/claude/icons/gitpull.png"/>
          <p:cNvPicPr>
            <a:picLocks noChangeAspect="1"/>
          </p:cNvPicPr>
          <p:nvPr/>
        </p:nvPicPr>
        <p:blipFill>
          <a:blip xmlns:r="http://schemas.openxmlformats.org/officeDocument/2006/relationships" r:embed="rId2"/>
          <a:stretch>
            <a:fillRect/>
          </a:stretch>
        </p:blipFill>
        <p:spPr>
          <a:xfrm>
            <a:off x="6748272" y="2633472"/>
            <a:ext cx="356616" cy="356616"/>
          </a:xfrm>
          <a:prstGeom prst="rect"/>
        </p:spPr>
      </p:pic>
      <p:sp>
        <p:nvSpPr>
          <p:cNvPr id="1049226" name="Text 51"/>
          <p:cNvSpPr/>
          <p:nvPr/>
        </p:nvSpPr>
        <p:spPr>
          <a:xfrm>
            <a:off x="7498080" y="2487168"/>
            <a:ext cx="3794760" cy="320040"/>
          </a:xfrm>
          <a:prstGeom prst="rect"/>
          <a:noFill/>
        </p:spPr>
        <p:txBody>
          <a:bodyPr anchor="ctr" rtlCol="0" wrap="square"/>
          <a:p>
            <a:pPr indent="0" marL="0">
              <a:buNone/>
            </a:pPr>
            <a:r>
              <a:rPr b="1" dirty="0" sz="1300" kern="0" lang="en-US" spc="150">
                <a:solidFill>
                  <a:srgbClr val="8FD3FF"/>
                </a:solidFill>
                <a:latin typeface="Courier New" pitchFamily="34" charset="0"/>
                <a:ea typeface="Courier New" pitchFamily="34" charset="-122"/>
                <a:cs typeface="Courier New" pitchFamily="34" charset="-120"/>
              </a:rPr>
              <a:t>REAL-WORLD EXAMPLE</a:t>
            </a:r>
            <a:endParaRPr dirty="0" sz="1300" lang="en-US"/>
          </a:p>
        </p:txBody>
      </p:sp>
      <p:sp>
        <p:nvSpPr>
          <p:cNvPr id="1049227" name="Text 52"/>
          <p:cNvSpPr/>
          <p:nvPr/>
        </p:nvSpPr>
        <p:spPr>
          <a:xfrm>
            <a:off x="7498080" y="2816352"/>
            <a:ext cx="3794760" cy="457200"/>
          </a:xfrm>
          <a:prstGeom prst="rect"/>
          <a:noFill/>
        </p:spPr>
        <p:txBody>
          <a:bodyPr anchor="ctr" rtlCol="0" wrap="square"/>
          <a:p>
            <a:pPr indent="0" marL="0">
              <a:buNone/>
            </a:pPr>
            <a:r>
              <a:rPr b="1" dirty="0" sz="1900" lang="en-US">
                <a:solidFill>
                  <a:srgbClr val="FFFFFF"/>
                </a:solidFill>
                <a:latin typeface="Arial" pitchFamily="34" charset="0"/>
                <a:ea typeface="Arial" pitchFamily="34" charset="-122"/>
                <a:cs typeface="Arial" pitchFamily="34" charset="-120"/>
              </a:rPr>
              <a:t>A toolbox, not one multi-tool</a:t>
            </a:r>
            <a:endParaRPr dirty="0" sz="1900" lang="en-US"/>
          </a:p>
        </p:txBody>
      </p:sp>
      <p:sp>
        <p:nvSpPr>
          <p:cNvPr id="1049228" name="Shape 53"/>
          <p:cNvSpPr/>
          <p:nvPr/>
        </p:nvSpPr>
        <p:spPr>
          <a:xfrm>
            <a:off x="6583680" y="3520440"/>
            <a:ext cx="4709160" cy="0"/>
          </a:xfrm>
          <a:prstGeom prst="line"/>
          <a:noFill/>
          <a:ln w="9525">
            <a:solidFill>
              <a:srgbClr val="3E6690"/>
            </a:solidFill>
            <a:prstDash val="solid"/>
          </a:ln>
        </p:spPr>
      </p:sp>
      <p:sp>
        <p:nvSpPr>
          <p:cNvPr id="1049229" name="Text 54"/>
          <p:cNvSpPr/>
          <p:nvPr/>
        </p:nvSpPr>
        <p:spPr>
          <a:xfrm>
            <a:off x="6583680" y="3749040"/>
            <a:ext cx="4709160" cy="2103120"/>
          </a:xfrm>
          <a:prstGeom prst="rect"/>
          <a:noFill/>
        </p:spPr>
        <p:txBody>
          <a:bodyPr anchor="t" rtlCol="0" wrap="square"/>
          <a:p>
            <a:pPr indent="0" marL="0">
              <a:buNone/>
            </a:pPr>
            <a:r>
              <a:rPr dirty="0" sz="1500" lang="en-US">
                <a:solidFill>
                  <a:srgbClr val="9FB8D1"/>
                </a:solidFill>
                <a:latin typeface="Calibri" pitchFamily="34" charset="0"/>
                <a:ea typeface="Calibri" pitchFamily="34" charset="-122"/>
                <a:cs typeface="Calibri" pitchFamily="34" charset="-120"/>
              </a:rPr>
              <a:t>A screwdriver, a wrench, and a hammer each do one job and work independently of each other. Compare that to one tool trying to do all three badly — break one function and the whole tool is useless. Separate tools mean one breaking doesn’t disable the rest.</a:t>
            </a:r>
            <a:endParaRPr dirty="0" sz="1500"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0A1F38"/>
        </a:solidFill>
      </p:bgPr>
    </p:bg>
    <p:spTree>
      <p:nvGrpSpPr>
        <p:cNvPr id="40" name=""/>
        <p:cNvGrpSpPr/>
        <p:nvPr/>
      </p:nvGrpSpPr>
      <p:grpSpPr>
        <a:xfrm>
          <a:off x="0" y="0"/>
          <a:ext cx="0" cy="0"/>
          <a:chOff x="0" y="0"/>
          <a:chExt cx="0" cy="0"/>
        </a:xfrm>
      </p:grpSpPr>
      <p:sp>
        <p:nvSpPr>
          <p:cNvPr id="1049230" name="Shape 0"/>
          <p:cNvSpPr/>
          <p:nvPr/>
        </p:nvSpPr>
        <p:spPr>
          <a:xfrm>
            <a:off x="548640" y="0"/>
            <a:ext cx="0" cy="6858000"/>
          </a:xfrm>
          <a:prstGeom prst="line"/>
          <a:noFill/>
          <a:ln w="6350">
            <a:solidFill>
              <a:srgbClr val="1B3A5C"/>
            </a:solidFill>
            <a:prstDash val="solid"/>
          </a:ln>
        </p:spPr>
      </p:sp>
      <p:sp>
        <p:nvSpPr>
          <p:cNvPr id="1049231" name="Shape 1"/>
          <p:cNvSpPr/>
          <p:nvPr/>
        </p:nvSpPr>
        <p:spPr>
          <a:xfrm>
            <a:off x="1325880" y="0"/>
            <a:ext cx="0" cy="6858000"/>
          </a:xfrm>
          <a:prstGeom prst="line"/>
          <a:noFill/>
          <a:ln w="6350">
            <a:solidFill>
              <a:srgbClr val="1B3A5C"/>
            </a:solidFill>
            <a:prstDash val="solid"/>
          </a:ln>
        </p:spPr>
      </p:sp>
      <p:sp>
        <p:nvSpPr>
          <p:cNvPr id="1049232" name="Shape 2"/>
          <p:cNvSpPr/>
          <p:nvPr/>
        </p:nvSpPr>
        <p:spPr>
          <a:xfrm>
            <a:off x="2103120" y="0"/>
            <a:ext cx="0" cy="6858000"/>
          </a:xfrm>
          <a:prstGeom prst="line"/>
          <a:noFill/>
          <a:ln w="6350">
            <a:solidFill>
              <a:srgbClr val="1B3A5C"/>
            </a:solidFill>
            <a:prstDash val="solid"/>
          </a:ln>
        </p:spPr>
      </p:sp>
      <p:sp>
        <p:nvSpPr>
          <p:cNvPr id="1049233" name="Shape 3"/>
          <p:cNvSpPr/>
          <p:nvPr/>
        </p:nvSpPr>
        <p:spPr>
          <a:xfrm>
            <a:off x="2880360" y="0"/>
            <a:ext cx="0" cy="6858000"/>
          </a:xfrm>
          <a:prstGeom prst="line"/>
          <a:noFill/>
          <a:ln w="6350">
            <a:solidFill>
              <a:srgbClr val="1B3A5C"/>
            </a:solidFill>
            <a:prstDash val="solid"/>
          </a:ln>
        </p:spPr>
      </p:sp>
      <p:sp>
        <p:nvSpPr>
          <p:cNvPr id="1049234" name="Shape 4"/>
          <p:cNvSpPr/>
          <p:nvPr/>
        </p:nvSpPr>
        <p:spPr>
          <a:xfrm>
            <a:off x="3657600" y="0"/>
            <a:ext cx="0" cy="6858000"/>
          </a:xfrm>
          <a:prstGeom prst="line"/>
          <a:noFill/>
          <a:ln w="6350">
            <a:solidFill>
              <a:srgbClr val="1B3A5C"/>
            </a:solidFill>
            <a:prstDash val="solid"/>
          </a:ln>
        </p:spPr>
      </p:sp>
      <p:sp>
        <p:nvSpPr>
          <p:cNvPr id="1049235" name="Shape 5"/>
          <p:cNvSpPr/>
          <p:nvPr/>
        </p:nvSpPr>
        <p:spPr>
          <a:xfrm>
            <a:off x="4434840" y="0"/>
            <a:ext cx="0" cy="6858000"/>
          </a:xfrm>
          <a:prstGeom prst="line"/>
          <a:noFill/>
          <a:ln w="6350">
            <a:solidFill>
              <a:srgbClr val="1B3A5C"/>
            </a:solidFill>
            <a:prstDash val="solid"/>
          </a:ln>
        </p:spPr>
      </p:sp>
      <p:sp>
        <p:nvSpPr>
          <p:cNvPr id="1049236" name="Shape 6"/>
          <p:cNvSpPr/>
          <p:nvPr/>
        </p:nvSpPr>
        <p:spPr>
          <a:xfrm>
            <a:off x="5212080" y="0"/>
            <a:ext cx="0" cy="6858000"/>
          </a:xfrm>
          <a:prstGeom prst="line"/>
          <a:noFill/>
          <a:ln w="6350">
            <a:solidFill>
              <a:srgbClr val="1B3A5C"/>
            </a:solidFill>
            <a:prstDash val="solid"/>
          </a:ln>
        </p:spPr>
      </p:sp>
      <p:sp>
        <p:nvSpPr>
          <p:cNvPr id="1049237" name="Shape 7"/>
          <p:cNvSpPr/>
          <p:nvPr/>
        </p:nvSpPr>
        <p:spPr>
          <a:xfrm>
            <a:off x="5989320" y="0"/>
            <a:ext cx="0" cy="6858000"/>
          </a:xfrm>
          <a:prstGeom prst="line"/>
          <a:noFill/>
          <a:ln w="6350">
            <a:solidFill>
              <a:srgbClr val="1B3A5C"/>
            </a:solidFill>
            <a:prstDash val="solid"/>
          </a:ln>
        </p:spPr>
      </p:sp>
      <p:sp>
        <p:nvSpPr>
          <p:cNvPr id="1049238" name="Shape 8"/>
          <p:cNvSpPr/>
          <p:nvPr/>
        </p:nvSpPr>
        <p:spPr>
          <a:xfrm>
            <a:off x="6766560" y="0"/>
            <a:ext cx="0" cy="6858000"/>
          </a:xfrm>
          <a:prstGeom prst="line"/>
          <a:noFill/>
          <a:ln w="6350">
            <a:solidFill>
              <a:srgbClr val="1B3A5C"/>
            </a:solidFill>
            <a:prstDash val="solid"/>
          </a:ln>
        </p:spPr>
      </p:sp>
      <p:sp>
        <p:nvSpPr>
          <p:cNvPr id="1049239" name="Shape 9"/>
          <p:cNvSpPr/>
          <p:nvPr/>
        </p:nvSpPr>
        <p:spPr>
          <a:xfrm>
            <a:off x="7543800" y="0"/>
            <a:ext cx="0" cy="6858000"/>
          </a:xfrm>
          <a:prstGeom prst="line"/>
          <a:noFill/>
          <a:ln w="6350">
            <a:solidFill>
              <a:srgbClr val="1B3A5C"/>
            </a:solidFill>
            <a:prstDash val="solid"/>
          </a:ln>
        </p:spPr>
      </p:sp>
      <p:sp>
        <p:nvSpPr>
          <p:cNvPr id="1049240" name="Shape 10"/>
          <p:cNvSpPr/>
          <p:nvPr/>
        </p:nvSpPr>
        <p:spPr>
          <a:xfrm>
            <a:off x="8321040" y="0"/>
            <a:ext cx="0" cy="6858000"/>
          </a:xfrm>
          <a:prstGeom prst="line"/>
          <a:noFill/>
          <a:ln w="6350">
            <a:solidFill>
              <a:srgbClr val="1B3A5C"/>
            </a:solidFill>
            <a:prstDash val="solid"/>
          </a:ln>
        </p:spPr>
      </p:sp>
      <p:sp>
        <p:nvSpPr>
          <p:cNvPr id="1049241" name="Shape 11"/>
          <p:cNvSpPr/>
          <p:nvPr/>
        </p:nvSpPr>
        <p:spPr>
          <a:xfrm>
            <a:off x="9098280" y="0"/>
            <a:ext cx="0" cy="6858000"/>
          </a:xfrm>
          <a:prstGeom prst="line"/>
          <a:noFill/>
          <a:ln w="6350">
            <a:solidFill>
              <a:srgbClr val="1B3A5C"/>
            </a:solidFill>
            <a:prstDash val="solid"/>
          </a:ln>
        </p:spPr>
      </p:sp>
      <p:sp>
        <p:nvSpPr>
          <p:cNvPr id="1049242" name="Shape 12"/>
          <p:cNvSpPr/>
          <p:nvPr/>
        </p:nvSpPr>
        <p:spPr>
          <a:xfrm>
            <a:off x="9875520" y="0"/>
            <a:ext cx="0" cy="6858000"/>
          </a:xfrm>
          <a:prstGeom prst="line"/>
          <a:noFill/>
          <a:ln w="6350">
            <a:solidFill>
              <a:srgbClr val="1B3A5C"/>
            </a:solidFill>
            <a:prstDash val="solid"/>
          </a:ln>
        </p:spPr>
      </p:sp>
      <p:sp>
        <p:nvSpPr>
          <p:cNvPr id="1049243" name="Shape 13"/>
          <p:cNvSpPr/>
          <p:nvPr/>
        </p:nvSpPr>
        <p:spPr>
          <a:xfrm>
            <a:off x="10652760" y="0"/>
            <a:ext cx="0" cy="6858000"/>
          </a:xfrm>
          <a:prstGeom prst="line"/>
          <a:noFill/>
          <a:ln w="6350">
            <a:solidFill>
              <a:srgbClr val="1B3A5C"/>
            </a:solidFill>
            <a:prstDash val="solid"/>
          </a:ln>
        </p:spPr>
      </p:sp>
      <p:sp>
        <p:nvSpPr>
          <p:cNvPr id="1049244" name="Shape 14"/>
          <p:cNvSpPr/>
          <p:nvPr/>
        </p:nvSpPr>
        <p:spPr>
          <a:xfrm>
            <a:off x="11430000" y="0"/>
            <a:ext cx="0" cy="6858000"/>
          </a:xfrm>
          <a:prstGeom prst="line"/>
          <a:noFill/>
          <a:ln w="6350">
            <a:solidFill>
              <a:srgbClr val="1B3A5C"/>
            </a:solidFill>
            <a:prstDash val="solid"/>
          </a:ln>
        </p:spPr>
      </p:sp>
      <p:sp>
        <p:nvSpPr>
          <p:cNvPr id="1049245" name="Shape 15"/>
          <p:cNvSpPr/>
          <p:nvPr/>
        </p:nvSpPr>
        <p:spPr>
          <a:xfrm>
            <a:off x="0" y="548640"/>
            <a:ext cx="12191695" cy="0"/>
          </a:xfrm>
          <a:prstGeom prst="line"/>
          <a:noFill/>
          <a:ln w="6350">
            <a:solidFill>
              <a:srgbClr val="1B3A5C"/>
            </a:solidFill>
            <a:prstDash val="solid"/>
          </a:ln>
        </p:spPr>
      </p:sp>
      <p:sp>
        <p:nvSpPr>
          <p:cNvPr id="1049246" name="Shape 16"/>
          <p:cNvSpPr/>
          <p:nvPr/>
        </p:nvSpPr>
        <p:spPr>
          <a:xfrm>
            <a:off x="0" y="1325880"/>
            <a:ext cx="12191695" cy="0"/>
          </a:xfrm>
          <a:prstGeom prst="line"/>
          <a:noFill/>
          <a:ln w="6350">
            <a:solidFill>
              <a:srgbClr val="1B3A5C"/>
            </a:solidFill>
            <a:prstDash val="solid"/>
          </a:ln>
        </p:spPr>
      </p:sp>
      <p:sp>
        <p:nvSpPr>
          <p:cNvPr id="1049247" name="Shape 17"/>
          <p:cNvSpPr/>
          <p:nvPr/>
        </p:nvSpPr>
        <p:spPr>
          <a:xfrm>
            <a:off x="0" y="2103120"/>
            <a:ext cx="12191695" cy="0"/>
          </a:xfrm>
          <a:prstGeom prst="line"/>
          <a:noFill/>
          <a:ln w="6350">
            <a:solidFill>
              <a:srgbClr val="1B3A5C"/>
            </a:solidFill>
            <a:prstDash val="solid"/>
          </a:ln>
        </p:spPr>
      </p:sp>
      <p:sp>
        <p:nvSpPr>
          <p:cNvPr id="1049248" name="Shape 18"/>
          <p:cNvSpPr/>
          <p:nvPr/>
        </p:nvSpPr>
        <p:spPr>
          <a:xfrm>
            <a:off x="0" y="2880360"/>
            <a:ext cx="12191695" cy="0"/>
          </a:xfrm>
          <a:prstGeom prst="line"/>
          <a:noFill/>
          <a:ln w="6350">
            <a:solidFill>
              <a:srgbClr val="1B3A5C"/>
            </a:solidFill>
            <a:prstDash val="solid"/>
          </a:ln>
        </p:spPr>
      </p:sp>
      <p:sp>
        <p:nvSpPr>
          <p:cNvPr id="1049249" name="Shape 19"/>
          <p:cNvSpPr/>
          <p:nvPr/>
        </p:nvSpPr>
        <p:spPr>
          <a:xfrm>
            <a:off x="0" y="3657600"/>
            <a:ext cx="12191695" cy="0"/>
          </a:xfrm>
          <a:prstGeom prst="line"/>
          <a:noFill/>
          <a:ln w="6350">
            <a:solidFill>
              <a:srgbClr val="1B3A5C"/>
            </a:solidFill>
            <a:prstDash val="solid"/>
          </a:ln>
        </p:spPr>
      </p:sp>
      <p:sp>
        <p:nvSpPr>
          <p:cNvPr id="1049250" name="Shape 20"/>
          <p:cNvSpPr/>
          <p:nvPr/>
        </p:nvSpPr>
        <p:spPr>
          <a:xfrm>
            <a:off x="0" y="4434840"/>
            <a:ext cx="12191695" cy="0"/>
          </a:xfrm>
          <a:prstGeom prst="line"/>
          <a:noFill/>
          <a:ln w="6350">
            <a:solidFill>
              <a:srgbClr val="1B3A5C"/>
            </a:solidFill>
            <a:prstDash val="solid"/>
          </a:ln>
        </p:spPr>
      </p:sp>
      <p:sp>
        <p:nvSpPr>
          <p:cNvPr id="1049251" name="Shape 21"/>
          <p:cNvSpPr/>
          <p:nvPr/>
        </p:nvSpPr>
        <p:spPr>
          <a:xfrm>
            <a:off x="0" y="5212080"/>
            <a:ext cx="12191695" cy="0"/>
          </a:xfrm>
          <a:prstGeom prst="line"/>
          <a:noFill/>
          <a:ln w="6350">
            <a:solidFill>
              <a:srgbClr val="1B3A5C"/>
            </a:solidFill>
            <a:prstDash val="solid"/>
          </a:ln>
        </p:spPr>
      </p:sp>
      <p:sp>
        <p:nvSpPr>
          <p:cNvPr id="1049252" name="Shape 22"/>
          <p:cNvSpPr/>
          <p:nvPr/>
        </p:nvSpPr>
        <p:spPr>
          <a:xfrm>
            <a:off x="0" y="5989320"/>
            <a:ext cx="12191695" cy="0"/>
          </a:xfrm>
          <a:prstGeom prst="line"/>
          <a:noFill/>
          <a:ln w="6350">
            <a:solidFill>
              <a:srgbClr val="1B3A5C"/>
            </a:solidFill>
            <a:prstDash val="solid"/>
          </a:ln>
        </p:spPr>
      </p:sp>
      <p:sp>
        <p:nvSpPr>
          <p:cNvPr id="1049253" name="Shape 23"/>
          <p:cNvSpPr/>
          <p:nvPr/>
        </p:nvSpPr>
        <p:spPr>
          <a:xfrm>
            <a:off x="0" y="6766560"/>
            <a:ext cx="12191695" cy="0"/>
          </a:xfrm>
          <a:prstGeom prst="line"/>
          <a:noFill/>
          <a:ln w="6350">
            <a:solidFill>
              <a:srgbClr val="1B3A5C"/>
            </a:solidFill>
            <a:prstDash val="solid"/>
          </a:ln>
        </p:spPr>
      </p:sp>
      <p:sp>
        <p:nvSpPr>
          <p:cNvPr id="1049254" name="Shape 24"/>
          <p:cNvSpPr/>
          <p:nvPr/>
        </p:nvSpPr>
        <p:spPr>
          <a:xfrm>
            <a:off x="201168" y="201168"/>
            <a:ext cx="11789359" cy="6455664"/>
          </a:xfrm>
          <a:prstGeom prst="rect"/>
          <a:ln w="15875">
            <a:solidFill>
              <a:srgbClr val="3E6690"/>
            </a:solidFill>
            <a:prstDash val="solid"/>
          </a:ln>
        </p:spPr>
      </p:sp>
      <p:sp>
        <p:nvSpPr>
          <p:cNvPr id="1049255" name="Shape 25"/>
          <p:cNvSpPr/>
          <p:nvPr/>
        </p:nvSpPr>
        <p:spPr>
          <a:xfrm>
            <a:off x="320040" y="320040"/>
            <a:ext cx="384048" cy="0"/>
          </a:xfrm>
          <a:prstGeom prst="line"/>
          <a:noFill/>
          <a:ln w="25400">
            <a:solidFill>
              <a:srgbClr val="6EC6FF"/>
            </a:solidFill>
            <a:prstDash val="solid"/>
          </a:ln>
        </p:spPr>
      </p:sp>
      <p:sp>
        <p:nvSpPr>
          <p:cNvPr id="1049256" name="Shape 26"/>
          <p:cNvSpPr/>
          <p:nvPr/>
        </p:nvSpPr>
        <p:spPr>
          <a:xfrm>
            <a:off x="320040" y="320040"/>
            <a:ext cx="0" cy="384048"/>
          </a:xfrm>
          <a:prstGeom prst="line"/>
          <a:noFill/>
          <a:ln w="25400">
            <a:solidFill>
              <a:srgbClr val="6EC6FF"/>
            </a:solidFill>
            <a:prstDash val="solid"/>
          </a:ln>
        </p:spPr>
      </p:sp>
      <p:sp>
        <p:nvSpPr>
          <p:cNvPr id="1049257" name="Shape 27"/>
          <p:cNvSpPr/>
          <p:nvPr/>
        </p:nvSpPr>
        <p:spPr>
          <a:xfrm>
            <a:off x="11487607" y="320040"/>
            <a:ext cx="384048" cy="0"/>
          </a:xfrm>
          <a:prstGeom prst="line"/>
          <a:noFill/>
          <a:ln w="25400">
            <a:solidFill>
              <a:srgbClr val="6EC6FF"/>
            </a:solidFill>
            <a:prstDash val="solid"/>
          </a:ln>
        </p:spPr>
      </p:sp>
      <p:sp>
        <p:nvSpPr>
          <p:cNvPr id="1049258" name="Shape 28"/>
          <p:cNvSpPr/>
          <p:nvPr/>
        </p:nvSpPr>
        <p:spPr>
          <a:xfrm>
            <a:off x="11871655" y="320040"/>
            <a:ext cx="0" cy="384048"/>
          </a:xfrm>
          <a:prstGeom prst="line"/>
          <a:noFill/>
          <a:ln w="25400">
            <a:solidFill>
              <a:srgbClr val="6EC6FF"/>
            </a:solidFill>
            <a:prstDash val="solid"/>
          </a:ln>
        </p:spPr>
      </p:sp>
      <p:sp>
        <p:nvSpPr>
          <p:cNvPr id="1049259" name="Shape 29"/>
          <p:cNvSpPr/>
          <p:nvPr/>
        </p:nvSpPr>
        <p:spPr>
          <a:xfrm>
            <a:off x="320040" y="6537960"/>
            <a:ext cx="384048" cy="0"/>
          </a:xfrm>
          <a:prstGeom prst="line"/>
          <a:noFill/>
          <a:ln w="25400">
            <a:solidFill>
              <a:srgbClr val="6EC6FF"/>
            </a:solidFill>
            <a:prstDash val="solid"/>
          </a:ln>
        </p:spPr>
      </p:sp>
      <p:sp>
        <p:nvSpPr>
          <p:cNvPr id="1049260" name="Shape 30"/>
          <p:cNvSpPr/>
          <p:nvPr/>
        </p:nvSpPr>
        <p:spPr>
          <a:xfrm>
            <a:off x="320040" y="6153912"/>
            <a:ext cx="0" cy="384048"/>
          </a:xfrm>
          <a:prstGeom prst="line"/>
          <a:noFill/>
          <a:ln w="25400">
            <a:solidFill>
              <a:srgbClr val="6EC6FF"/>
            </a:solidFill>
            <a:prstDash val="solid"/>
          </a:ln>
        </p:spPr>
      </p:sp>
      <p:sp>
        <p:nvSpPr>
          <p:cNvPr id="1049261" name="Shape 31"/>
          <p:cNvSpPr/>
          <p:nvPr/>
        </p:nvSpPr>
        <p:spPr>
          <a:xfrm>
            <a:off x="11487607" y="6537960"/>
            <a:ext cx="384048" cy="0"/>
          </a:xfrm>
          <a:prstGeom prst="line"/>
          <a:noFill/>
          <a:ln w="25400">
            <a:solidFill>
              <a:srgbClr val="6EC6FF"/>
            </a:solidFill>
            <a:prstDash val="solid"/>
          </a:ln>
        </p:spPr>
      </p:sp>
      <p:sp>
        <p:nvSpPr>
          <p:cNvPr id="1049262" name="Shape 32"/>
          <p:cNvSpPr/>
          <p:nvPr/>
        </p:nvSpPr>
        <p:spPr>
          <a:xfrm>
            <a:off x="11871655" y="6153912"/>
            <a:ext cx="0" cy="384048"/>
          </a:xfrm>
          <a:prstGeom prst="line"/>
          <a:noFill/>
          <a:ln w="25400">
            <a:solidFill>
              <a:srgbClr val="6EC6FF"/>
            </a:solidFill>
            <a:prstDash val="solid"/>
          </a:ln>
        </p:spPr>
      </p:sp>
      <p:sp>
        <p:nvSpPr>
          <p:cNvPr id="1049263" name="Text 33"/>
          <p:cNvSpPr/>
          <p:nvPr/>
        </p:nvSpPr>
        <p:spPr>
          <a:xfrm>
            <a:off x="9265615" y="6400800"/>
            <a:ext cx="2651760" cy="274320"/>
          </a:xfrm>
          <a:prstGeom prst="rect"/>
          <a:noFill/>
        </p:spPr>
        <p:txBody>
          <a:bodyPr anchor="ctr" rtlCol="0" wrap="square"/>
          <a:p>
            <a:pPr algn="r" indent="0" marL="0">
              <a:buNone/>
            </a:pPr>
            <a:r>
              <a:rPr dirty="0" sz="900" kern="0" lang="en-US" spc="100">
                <a:solidFill>
                  <a:srgbClr val="9FB8D1"/>
                </a:solidFill>
                <a:latin typeface="Courier New" pitchFamily="34" charset="0"/>
                <a:ea typeface="Courier New" pitchFamily="34" charset="-122"/>
                <a:cs typeface="Courier New" pitchFamily="34" charset="-120"/>
              </a:rPr>
              <a:t>CS / SHEET 12 OF 12</a:t>
            </a:r>
            <a:endParaRPr dirty="0" sz="900" lang="en-US"/>
          </a:p>
        </p:txBody>
      </p:sp>
      <p:sp>
        <p:nvSpPr>
          <p:cNvPr id="1049264" name="Text 34"/>
          <p:cNvSpPr/>
          <p:nvPr/>
        </p:nvSpPr>
        <p:spPr>
          <a:xfrm>
            <a:off x="411480" y="6400800"/>
            <a:ext cx="5486400" cy="274320"/>
          </a:xfrm>
          <a:prstGeom prst="rect"/>
          <a:noFill/>
        </p:spPr>
        <p:txBody>
          <a:bodyPr anchor="ctr" rtlCol="0" wrap="square"/>
          <a:p>
            <a:pPr indent="0" marL="0">
              <a:buNone/>
            </a:pPr>
            <a:r>
              <a:rPr dirty="0" sz="900" kern="0" lang="en-US" spc="100">
                <a:solidFill>
                  <a:srgbClr val="9FB8D1"/>
                </a:solidFill>
                <a:latin typeface="Courier New" pitchFamily="34" charset="0"/>
                <a:ea typeface="Courier New" pitchFamily="34" charset="-122"/>
                <a:cs typeface="Courier New" pitchFamily="34" charset="-120"/>
              </a:rPr>
              <a:t>COFFEE SHOP ORDER PROCESSOR — REFACTORING</a:t>
            </a:r>
            <a:endParaRPr dirty="0" sz="900" lang="en-US"/>
          </a:p>
        </p:txBody>
      </p:sp>
      <p:sp>
        <p:nvSpPr>
          <p:cNvPr id="1049265" name="Shape 35"/>
          <p:cNvSpPr/>
          <p:nvPr/>
        </p:nvSpPr>
        <p:spPr>
          <a:xfrm>
            <a:off x="548640" y="502920"/>
            <a:ext cx="2926080" cy="292608"/>
          </a:xfrm>
          <a:prstGeom prst="rect"/>
          <a:solidFill>
            <a:srgbClr val="06162A"/>
          </a:solidFill>
          <a:ln w="12700">
            <a:solidFill>
              <a:srgbClr val="8FD3FF"/>
            </a:solidFill>
            <a:prstDash val="solid"/>
          </a:ln>
        </p:spPr>
      </p:sp>
      <p:sp>
        <p:nvSpPr>
          <p:cNvPr id="1049266" name="Text 36"/>
          <p:cNvSpPr/>
          <p:nvPr/>
        </p:nvSpPr>
        <p:spPr>
          <a:xfrm>
            <a:off x="548640" y="502920"/>
            <a:ext cx="2926080" cy="292608"/>
          </a:xfrm>
          <a:prstGeom prst="rect"/>
          <a:noFill/>
        </p:spPr>
        <p:txBody>
          <a:bodyPr anchor="ctr" rtlCol="0" wrap="square"/>
          <a:p>
            <a:pPr algn="ctr" indent="0" marL="0">
              <a:buNone/>
            </a:pPr>
            <a:r>
              <a:rPr b="1" dirty="0" sz="1050" kern="0" lang="en-US" spc="100">
                <a:solidFill>
                  <a:srgbClr val="8FD3FF"/>
                </a:solidFill>
                <a:latin typeface="Courier New" pitchFamily="34" charset="0"/>
                <a:ea typeface="Courier New" pitchFamily="34" charset="-122"/>
                <a:cs typeface="Courier New" pitchFamily="34" charset="-120"/>
              </a:rPr>
              <a:t>SHEET 12 — TITLE BLOCK</a:t>
            </a:r>
            <a:endParaRPr dirty="0" sz="1050" lang="en-US"/>
          </a:p>
        </p:txBody>
      </p:sp>
      <p:sp>
        <p:nvSpPr>
          <p:cNvPr id="1049267" name="Text 37"/>
          <p:cNvSpPr/>
          <p:nvPr/>
        </p:nvSpPr>
        <p:spPr>
          <a:xfrm>
            <a:off x="548640" y="914400"/>
            <a:ext cx="10515600" cy="548640"/>
          </a:xfrm>
          <a:prstGeom prst="rect"/>
          <a:noFill/>
        </p:spPr>
        <p:txBody>
          <a:bodyPr anchor="ctr" rtlCol="0" wrap="square"/>
          <a:p>
            <a:pPr indent="0" marL="0">
              <a:buNone/>
            </a:pPr>
            <a:r>
              <a:rPr b="1" dirty="0" sz="2800" lang="en-US">
                <a:solidFill>
                  <a:srgbClr val="FFFFFF"/>
                </a:solidFill>
                <a:latin typeface="Arial" pitchFamily="34" charset="0"/>
                <a:ea typeface="Arial" pitchFamily="34" charset="-122"/>
                <a:cs typeface="Arial" pitchFamily="34" charset="-120"/>
              </a:rPr>
              <a:t>Group Members &amp; Contributions</a:t>
            </a:r>
            <a:endParaRPr dirty="0" sz="2800" lang="en-US"/>
          </a:p>
        </p:txBody>
      </p:sp>
      <p:sp>
        <p:nvSpPr>
          <p:cNvPr id="1049268" name="Text 38"/>
          <p:cNvSpPr/>
          <p:nvPr/>
        </p:nvSpPr>
        <p:spPr>
          <a:xfrm>
            <a:off x="548640" y="1417320"/>
            <a:ext cx="10515600" cy="365760"/>
          </a:xfrm>
          <a:prstGeom prst="rect"/>
          <a:noFill/>
        </p:spPr>
        <p:txBody>
          <a:bodyPr anchor="ctr" rtlCol="0" wrap="square"/>
          <a:p>
            <a:pPr indent="0" marL="0">
              <a:buNone/>
            </a:pPr>
            <a:r>
              <a:rPr dirty="0" sz="1400" i="1" lang="en-US">
                <a:solidFill>
                  <a:srgbClr val="9FB8D1"/>
                </a:solidFill>
                <a:latin typeface="Calibri" pitchFamily="34" charset="0"/>
                <a:ea typeface="Calibri" pitchFamily="34" charset="-122"/>
                <a:cs typeface="Calibri" pitchFamily="34" charset="-120"/>
              </a:rPr>
              <a:t>Equal contribution across all group members</a:t>
            </a:r>
            <a:endParaRPr dirty="0" sz="1400" lang="en-US"/>
          </a:p>
        </p:txBody>
      </p:sp>
      <p:sp>
        <p:nvSpPr>
          <p:cNvPr id="1049269" name="Shape 39"/>
          <p:cNvSpPr/>
          <p:nvPr/>
        </p:nvSpPr>
        <p:spPr>
          <a:xfrm>
            <a:off x="548640" y="2148840"/>
            <a:ext cx="11091672" cy="3657600"/>
          </a:xfrm>
          <a:prstGeom prst="rect"/>
          <a:solidFill>
            <a:srgbClr val="0D253F"/>
          </a:solidFill>
          <a:ln w="15875">
            <a:solidFill>
              <a:srgbClr val="3E6690"/>
            </a:solidFill>
            <a:prstDash val="solid"/>
          </a:ln>
        </p:spPr>
      </p:sp>
      <p:sp>
        <p:nvSpPr>
          <p:cNvPr id="1049270" name="Shape 40"/>
          <p:cNvSpPr/>
          <p:nvPr/>
        </p:nvSpPr>
        <p:spPr>
          <a:xfrm>
            <a:off x="548640" y="2148840"/>
            <a:ext cx="2377440" cy="914400"/>
          </a:xfrm>
          <a:prstGeom prst="rect"/>
          <a:solidFill>
            <a:srgbClr val="06162A"/>
          </a:solidFill>
          <a:ln w="9525">
            <a:solidFill>
              <a:srgbClr val="3E6690"/>
            </a:solidFill>
            <a:prstDash val="solid"/>
          </a:ln>
        </p:spPr>
      </p:sp>
      <p:sp>
        <p:nvSpPr>
          <p:cNvPr id="1049271" name="Text 41"/>
          <p:cNvSpPr/>
          <p:nvPr/>
        </p:nvSpPr>
        <p:spPr>
          <a:xfrm>
            <a:off x="548640" y="2148840"/>
            <a:ext cx="2377440" cy="914400"/>
          </a:xfrm>
          <a:prstGeom prst="rect"/>
          <a:noFill/>
        </p:spPr>
        <p:txBody>
          <a:bodyPr anchor="ctr" rtlCol="0" wrap="square"/>
          <a:p>
            <a:pPr algn="ctr" indent="0" marL="0">
              <a:buNone/>
            </a:pPr>
            <a:r>
              <a:rPr b="1" dirty="0" sz="1200" kern="0" lang="en-US" spc="100">
                <a:solidFill>
                  <a:srgbClr val="8FD3FF"/>
                </a:solidFill>
                <a:latin typeface="Courier New" pitchFamily="34" charset="0"/>
                <a:ea typeface="Courier New" pitchFamily="34" charset="-122"/>
                <a:cs typeface="Courier New" pitchFamily="34" charset="-120"/>
              </a:rPr>
              <a:t>DRAWN BY</a:t>
            </a:r>
            <a:endParaRPr dirty="0" sz="1200" lang="en-US"/>
          </a:p>
        </p:txBody>
      </p:sp>
      <p:sp>
        <p:nvSpPr>
          <p:cNvPr id="1049272" name="Text 42"/>
          <p:cNvSpPr/>
          <p:nvPr/>
        </p:nvSpPr>
        <p:spPr>
          <a:xfrm>
            <a:off x="3200400" y="2148840"/>
            <a:ext cx="5943600" cy="914400"/>
          </a:xfrm>
          <a:prstGeom prst="rect"/>
          <a:noFill/>
        </p:spPr>
        <p:txBody>
          <a:bodyPr anchor="ctr" rtlCol="0" wrap="square"/>
          <a:p>
            <a:pPr indent="0" marL="0">
              <a:buNone/>
            </a:pPr>
            <a:r>
              <a:rPr b="1" dirty="0" sz="1700" lang="en-US">
                <a:solidFill>
                  <a:srgbClr val="FFFFFF"/>
                </a:solidFill>
                <a:latin typeface="Arial" pitchFamily="34" charset="0"/>
                <a:ea typeface="Arial" pitchFamily="34" charset="-122"/>
                <a:cs typeface="Arial" pitchFamily="34" charset="-120"/>
              </a:rPr>
              <a:t>Andem, Kurt Kurvey C.</a:t>
            </a:r>
            <a:endParaRPr dirty="0" sz="1700" lang="en-US"/>
          </a:p>
        </p:txBody>
      </p:sp>
      <p:sp>
        <p:nvSpPr>
          <p:cNvPr id="1049273" name="Shape 43"/>
          <p:cNvSpPr/>
          <p:nvPr/>
        </p:nvSpPr>
        <p:spPr>
          <a:xfrm>
            <a:off x="9418320" y="2148840"/>
            <a:ext cx="0" cy="914400"/>
          </a:xfrm>
          <a:prstGeom prst="line"/>
          <a:noFill/>
          <a:ln w="9525">
            <a:solidFill>
              <a:srgbClr val="3E6690"/>
            </a:solidFill>
            <a:prstDash val="solid"/>
          </a:ln>
        </p:spPr>
      </p:sp>
      <p:sp>
        <p:nvSpPr>
          <p:cNvPr id="1049274" name="Text 44"/>
          <p:cNvSpPr/>
          <p:nvPr/>
        </p:nvSpPr>
        <p:spPr>
          <a:xfrm>
            <a:off x="9555480" y="2258568"/>
            <a:ext cx="1920240" cy="274320"/>
          </a:xfrm>
          <a:prstGeom prst="rect"/>
          <a:noFill/>
        </p:spPr>
        <p:txBody>
          <a:bodyPr anchor="ctr" rtlCol="0" wrap="square"/>
          <a:p>
            <a:pPr indent="0" marL="0">
              <a:buNone/>
            </a:pPr>
            <a:r>
              <a:rPr dirty="0" sz="850" kern="0" lang="en-US" spc="100">
                <a:solidFill>
                  <a:srgbClr val="9FB8D1"/>
                </a:solidFill>
                <a:latin typeface="Courier New" pitchFamily="34" charset="0"/>
                <a:ea typeface="Courier New" pitchFamily="34" charset="-122"/>
                <a:cs typeface="Courier New" pitchFamily="34" charset="-120"/>
              </a:rPr>
              <a:t>CONTRIBUTION</a:t>
            </a:r>
            <a:endParaRPr dirty="0" sz="850" lang="en-US"/>
          </a:p>
        </p:txBody>
      </p:sp>
      <p:sp>
        <p:nvSpPr>
          <p:cNvPr id="1049275" name="Text 45"/>
          <p:cNvSpPr/>
          <p:nvPr/>
        </p:nvSpPr>
        <p:spPr>
          <a:xfrm>
            <a:off x="9555480" y="2468880"/>
            <a:ext cx="1920240" cy="502920"/>
          </a:xfrm>
          <a:prstGeom prst="rect"/>
          <a:noFill/>
        </p:spPr>
        <p:txBody>
          <a:bodyPr anchor="ctr" rtlCol="0" wrap="square"/>
          <a:p>
            <a:pPr indent="0" marL="0">
              <a:buNone/>
            </a:pPr>
            <a:r>
              <a:rPr b="1" dirty="0" sz="2200" lang="en-US">
                <a:solidFill>
                  <a:srgbClr val="FFB627"/>
                </a:solidFill>
                <a:latin typeface="Courier New" pitchFamily="34" charset="0"/>
                <a:ea typeface="Courier New" pitchFamily="34" charset="-122"/>
                <a:cs typeface="Courier New" pitchFamily="34" charset="-120"/>
              </a:rPr>
              <a:t>25%</a:t>
            </a:r>
            <a:endParaRPr dirty="0" sz="2200" lang="en-US"/>
          </a:p>
        </p:txBody>
      </p:sp>
      <p:sp>
        <p:nvSpPr>
          <p:cNvPr id="1049276" name="Shape 46"/>
          <p:cNvSpPr/>
          <p:nvPr/>
        </p:nvSpPr>
        <p:spPr>
          <a:xfrm>
            <a:off x="548640" y="3063240"/>
            <a:ext cx="11091672" cy="0"/>
          </a:xfrm>
          <a:prstGeom prst="line"/>
          <a:noFill/>
          <a:ln w="9525">
            <a:solidFill>
              <a:srgbClr val="3E6690"/>
            </a:solidFill>
            <a:prstDash val="solid"/>
          </a:ln>
        </p:spPr>
      </p:sp>
      <p:sp>
        <p:nvSpPr>
          <p:cNvPr id="1049277" name="Shape 47"/>
          <p:cNvSpPr/>
          <p:nvPr/>
        </p:nvSpPr>
        <p:spPr>
          <a:xfrm>
            <a:off x="548640" y="3063240"/>
            <a:ext cx="2377440" cy="914400"/>
          </a:xfrm>
          <a:prstGeom prst="rect"/>
          <a:solidFill>
            <a:srgbClr val="06162A"/>
          </a:solidFill>
          <a:ln w="9525">
            <a:solidFill>
              <a:srgbClr val="3E6690"/>
            </a:solidFill>
            <a:prstDash val="solid"/>
          </a:ln>
        </p:spPr>
      </p:sp>
      <p:sp>
        <p:nvSpPr>
          <p:cNvPr id="1049278" name="Text 48"/>
          <p:cNvSpPr/>
          <p:nvPr/>
        </p:nvSpPr>
        <p:spPr>
          <a:xfrm>
            <a:off x="548640" y="3063240"/>
            <a:ext cx="2377440" cy="914400"/>
          </a:xfrm>
          <a:prstGeom prst="rect"/>
          <a:noFill/>
        </p:spPr>
        <p:txBody>
          <a:bodyPr anchor="ctr" rtlCol="0" wrap="square"/>
          <a:p>
            <a:pPr algn="ctr" indent="0" marL="0">
              <a:buNone/>
            </a:pPr>
            <a:r>
              <a:rPr b="1" dirty="0" sz="1200" kern="0" lang="en-US" spc="100">
                <a:solidFill>
                  <a:srgbClr val="8FD3FF"/>
                </a:solidFill>
                <a:latin typeface="Courier New" pitchFamily="34" charset="0"/>
                <a:ea typeface="Courier New" pitchFamily="34" charset="-122"/>
                <a:cs typeface="Courier New" pitchFamily="34" charset="-120"/>
              </a:rPr>
              <a:t>CHECKED BY</a:t>
            </a:r>
            <a:endParaRPr dirty="0" sz="1200" lang="en-US"/>
          </a:p>
        </p:txBody>
      </p:sp>
      <p:sp>
        <p:nvSpPr>
          <p:cNvPr id="1049279" name="Text 49"/>
          <p:cNvSpPr/>
          <p:nvPr/>
        </p:nvSpPr>
        <p:spPr>
          <a:xfrm>
            <a:off x="3200400" y="3063240"/>
            <a:ext cx="5943600" cy="914400"/>
          </a:xfrm>
          <a:prstGeom prst="rect"/>
          <a:noFill/>
        </p:spPr>
        <p:txBody>
          <a:bodyPr anchor="ctr" rtlCol="0" wrap="square"/>
          <a:p>
            <a:pPr indent="0" marL="0">
              <a:buNone/>
            </a:pPr>
            <a:r>
              <a:rPr b="1" dirty="0" sz="1700" lang="en-US">
                <a:solidFill>
                  <a:srgbClr val="FFFFFF"/>
                </a:solidFill>
                <a:latin typeface="Arial" pitchFamily="34" charset="0"/>
                <a:ea typeface="Arial" pitchFamily="34" charset="-122"/>
                <a:cs typeface="Arial" pitchFamily="34" charset="-120"/>
              </a:rPr>
              <a:t>Mamicao, Carl B.</a:t>
            </a:r>
            <a:endParaRPr dirty="0" sz="1700" lang="en-US"/>
          </a:p>
        </p:txBody>
      </p:sp>
      <p:sp>
        <p:nvSpPr>
          <p:cNvPr id="1049280" name="Shape 50"/>
          <p:cNvSpPr/>
          <p:nvPr/>
        </p:nvSpPr>
        <p:spPr>
          <a:xfrm>
            <a:off x="9418320" y="3063240"/>
            <a:ext cx="0" cy="914400"/>
          </a:xfrm>
          <a:prstGeom prst="line"/>
          <a:noFill/>
          <a:ln w="9525">
            <a:solidFill>
              <a:srgbClr val="3E6690"/>
            </a:solidFill>
            <a:prstDash val="solid"/>
          </a:ln>
        </p:spPr>
      </p:sp>
      <p:sp>
        <p:nvSpPr>
          <p:cNvPr id="1049281" name="Text 51"/>
          <p:cNvSpPr/>
          <p:nvPr/>
        </p:nvSpPr>
        <p:spPr>
          <a:xfrm>
            <a:off x="9555480" y="3172968"/>
            <a:ext cx="1920240" cy="274320"/>
          </a:xfrm>
          <a:prstGeom prst="rect"/>
          <a:noFill/>
        </p:spPr>
        <p:txBody>
          <a:bodyPr anchor="ctr" rtlCol="0" wrap="square"/>
          <a:p>
            <a:pPr indent="0" marL="0">
              <a:buNone/>
            </a:pPr>
            <a:r>
              <a:rPr dirty="0" sz="850" kern="0" lang="en-US" spc="100">
                <a:solidFill>
                  <a:srgbClr val="9FB8D1"/>
                </a:solidFill>
                <a:latin typeface="Courier New" pitchFamily="34" charset="0"/>
                <a:ea typeface="Courier New" pitchFamily="34" charset="-122"/>
                <a:cs typeface="Courier New" pitchFamily="34" charset="-120"/>
              </a:rPr>
              <a:t>CONTRIBUTION</a:t>
            </a:r>
            <a:endParaRPr dirty="0" sz="850" lang="en-US"/>
          </a:p>
        </p:txBody>
      </p:sp>
      <p:sp>
        <p:nvSpPr>
          <p:cNvPr id="1049282" name="Text 52"/>
          <p:cNvSpPr/>
          <p:nvPr/>
        </p:nvSpPr>
        <p:spPr>
          <a:xfrm>
            <a:off x="9555480" y="3383280"/>
            <a:ext cx="1920240" cy="502920"/>
          </a:xfrm>
          <a:prstGeom prst="rect"/>
          <a:noFill/>
        </p:spPr>
        <p:txBody>
          <a:bodyPr anchor="ctr" rtlCol="0" wrap="square"/>
          <a:p>
            <a:pPr indent="0" marL="0">
              <a:buNone/>
            </a:pPr>
            <a:r>
              <a:rPr b="1" dirty="0" sz="2200" lang="en-US">
                <a:solidFill>
                  <a:srgbClr val="FFB627"/>
                </a:solidFill>
                <a:latin typeface="Courier New" pitchFamily="34" charset="0"/>
                <a:ea typeface="Courier New" pitchFamily="34" charset="-122"/>
                <a:cs typeface="Courier New" pitchFamily="34" charset="-120"/>
              </a:rPr>
              <a:t>25%</a:t>
            </a:r>
            <a:endParaRPr dirty="0" sz="2200" lang="en-US"/>
          </a:p>
        </p:txBody>
      </p:sp>
      <p:sp>
        <p:nvSpPr>
          <p:cNvPr id="1049283" name="Shape 53"/>
          <p:cNvSpPr/>
          <p:nvPr/>
        </p:nvSpPr>
        <p:spPr>
          <a:xfrm>
            <a:off x="548640" y="3977640"/>
            <a:ext cx="11091672" cy="0"/>
          </a:xfrm>
          <a:prstGeom prst="line"/>
          <a:noFill/>
          <a:ln w="9525">
            <a:solidFill>
              <a:srgbClr val="3E6690"/>
            </a:solidFill>
            <a:prstDash val="solid"/>
          </a:ln>
        </p:spPr>
      </p:sp>
      <p:sp>
        <p:nvSpPr>
          <p:cNvPr id="1049284" name="Shape 54"/>
          <p:cNvSpPr/>
          <p:nvPr/>
        </p:nvSpPr>
        <p:spPr>
          <a:xfrm>
            <a:off x="548640" y="3977640"/>
            <a:ext cx="2377440" cy="914400"/>
          </a:xfrm>
          <a:prstGeom prst="rect"/>
          <a:solidFill>
            <a:srgbClr val="06162A"/>
          </a:solidFill>
          <a:ln w="9525">
            <a:solidFill>
              <a:srgbClr val="3E6690"/>
            </a:solidFill>
            <a:prstDash val="solid"/>
          </a:ln>
        </p:spPr>
      </p:sp>
      <p:sp>
        <p:nvSpPr>
          <p:cNvPr id="1049285" name="Text 55"/>
          <p:cNvSpPr/>
          <p:nvPr/>
        </p:nvSpPr>
        <p:spPr>
          <a:xfrm>
            <a:off x="548640" y="3977640"/>
            <a:ext cx="2377440" cy="914400"/>
          </a:xfrm>
          <a:prstGeom prst="rect"/>
          <a:noFill/>
        </p:spPr>
        <p:txBody>
          <a:bodyPr anchor="ctr" rtlCol="0" wrap="square"/>
          <a:p>
            <a:pPr algn="ctr" indent="0" marL="0">
              <a:buNone/>
            </a:pPr>
            <a:r>
              <a:rPr b="1" dirty="0" sz="1200" kern="0" lang="en-US" spc="100">
                <a:solidFill>
                  <a:srgbClr val="8FD3FF"/>
                </a:solidFill>
                <a:latin typeface="Courier New" pitchFamily="34" charset="0"/>
                <a:ea typeface="Courier New" pitchFamily="34" charset="-122"/>
                <a:cs typeface="Courier New" pitchFamily="34" charset="-120"/>
              </a:rPr>
              <a:t>ENGINEER</a:t>
            </a:r>
            <a:endParaRPr dirty="0" sz="1200" lang="en-US"/>
          </a:p>
        </p:txBody>
      </p:sp>
      <p:sp>
        <p:nvSpPr>
          <p:cNvPr id="1049286" name="Text 56"/>
          <p:cNvSpPr/>
          <p:nvPr/>
        </p:nvSpPr>
        <p:spPr>
          <a:xfrm>
            <a:off x="3200400" y="3977640"/>
            <a:ext cx="5943600" cy="914400"/>
          </a:xfrm>
          <a:prstGeom prst="rect"/>
          <a:noFill/>
        </p:spPr>
        <p:txBody>
          <a:bodyPr anchor="ctr" rtlCol="0" wrap="square"/>
          <a:p>
            <a:pPr indent="0" marL="0">
              <a:buNone/>
            </a:pPr>
            <a:r>
              <a:rPr b="1" dirty="0" sz="1700" lang="en-US">
                <a:solidFill>
                  <a:srgbClr val="FFFFFF"/>
                </a:solidFill>
                <a:latin typeface="Arial" pitchFamily="34" charset="0"/>
                <a:ea typeface="Arial" pitchFamily="34" charset="-122"/>
                <a:cs typeface="Arial" pitchFamily="34" charset="-120"/>
              </a:rPr>
              <a:t>Dapanas, Sirverio</a:t>
            </a:r>
            <a:endParaRPr dirty="0" sz="1700" lang="en-US"/>
          </a:p>
        </p:txBody>
      </p:sp>
      <p:sp>
        <p:nvSpPr>
          <p:cNvPr id="1049287" name="Shape 57"/>
          <p:cNvSpPr/>
          <p:nvPr/>
        </p:nvSpPr>
        <p:spPr>
          <a:xfrm>
            <a:off x="9418320" y="3977640"/>
            <a:ext cx="0" cy="914400"/>
          </a:xfrm>
          <a:prstGeom prst="line"/>
          <a:noFill/>
          <a:ln w="9525">
            <a:solidFill>
              <a:srgbClr val="3E6690"/>
            </a:solidFill>
            <a:prstDash val="solid"/>
          </a:ln>
        </p:spPr>
      </p:sp>
      <p:sp>
        <p:nvSpPr>
          <p:cNvPr id="1049288" name="Text 58"/>
          <p:cNvSpPr/>
          <p:nvPr/>
        </p:nvSpPr>
        <p:spPr>
          <a:xfrm>
            <a:off x="9555480" y="4087368"/>
            <a:ext cx="1920240" cy="274320"/>
          </a:xfrm>
          <a:prstGeom prst="rect"/>
          <a:noFill/>
        </p:spPr>
        <p:txBody>
          <a:bodyPr anchor="ctr" rtlCol="0" wrap="square"/>
          <a:p>
            <a:pPr indent="0" marL="0">
              <a:buNone/>
            </a:pPr>
            <a:r>
              <a:rPr dirty="0" sz="850" kern="0" lang="en-US" spc="100">
                <a:solidFill>
                  <a:srgbClr val="9FB8D1"/>
                </a:solidFill>
                <a:latin typeface="Courier New" pitchFamily="34" charset="0"/>
                <a:ea typeface="Courier New" pitchFamily="34" charset="-122"/>
                <a:cs typeface="Courier New" pitchFamily="34" charset="-120"/>
              </a:rPr>
              <a:t>CONTRIBUTION</a:t>
            </a:r>
            <a:endParaRPr dirty="0" sz="850" lang="en-US"/>
          </a:p>
        </p:txBody>
      </p:sp>
      <p:sp>
        <p:nvSpPr>
          <p:cNvPr id="1049289" name="Text 59"/>
          <p:cNvSpPr/>
          <p:nvPr/>
        </p:nvSpPr>
        <p:spPr>
          <a:xfrm>
            <a:off x="9555480" y="4297680"/>
            <a:ext cx="1920240" cy="502920"/>
          </a:xfrm>
          <a:prstGeom prst="rect"/>
          <a:noFill/>
        </p:spPr>
        <p:txBody>
          <a:bodyPr anchor="ctr" rtlCol="0" wrap="square"/>
          <a:p>
            <a:pPr indent="0" marL="0">
              <a:buNone/>
            </a:pPr>
            <a:r>
              <a:rPr b="1" dirty="0" sz="2200" lang="en-US">
                <a:solidFill>
                  <a:srgbClr val="FFB627"/>
                </a:solidFill>
                <a:latin typeface="Courier New" pitchFamily="34" charset="0"/>
                <a:ea typeface="Courier New" pitchFamily="34" charset="-122"/>
                <a:cs typeface="Courier New" pitchFamily="34" charset="-120"/>
              </a:rPr>
              <a:t>25%</a:t>
            </a:r>
            <a:endParaRPr dirty="0" sz="2200" lang="en-US"/>
          </a:p>
        </p:txBody>
      </p:sp>
      <p:sp>
        <p:nvSpPr>
          <p:cNvPr id="1049290" name="Shape 60"/>
          <p:cNvSpPr/>
          <p:nvPr/>
        </p:nvSpPr>
        <p:spPr>
          <a:xfrm>
            <a:off x="548640" y="4892040"/>
            <a:ext cx="11091672" cy="0"/>
          </a:xfrm>
          <a:prstGeom prst="line"/>
          <a:noFill/>
          <a:ln w="9525">
            <a:solidFill>
              <a:srgbClr val="3E6690"/>
            </a:solidFill>
            <a:prstDash val="solid"/>
          </a:ln>
        </p:spPr>
      </p:sp>
      <p:sp>
        <p:nvSpPr>
          <p:cNvPr id="1049291" name="Shape 61"/>
          <p:cNvSpPr/>
          <p:nvPr/>
        </p:nvSpPr>
        <p:spPr>
          <a:xfrm>
            <a:off x="548640" y="4892040"/>
            <a:ext cx="2377440" cy="914400"/>
          </a:xfrm>
          <a:prstGeom prst="rect"/>
          <a:solidFill>
            <a:srgbClr val="06162A"/>
          </a:solidFill>
          <a:ln w="9525">
            <a:solidFill>
              <a:srgbClr val="3E6690"/>
            </a:solidFill>
            <a:prstDash val="solid"/>
          </a:ln>
        </p:spPr>
      </p:sp>
      <p:sp>
        <p:nvSpPr>
          <p:cNvPr id="1049292" name="Text 62"/>
          <p:cNvSpPr/>
          <p:nvPr/>
        </p:nvSpPr>
        <p:spPr>
          <a:xfrm>
            <a:off x="548640" y="4892040"/>
            <a:ext cx="2377440" cy="914400"/>
          </a:xfrm>
          <a:prstGeom prst="rect"/>
          <a:noFill/>
        </p:spPr>
        <p:txBody>
          <a:bodyPr anchor="ctr" rtlCol="0" wrap="square"/>
          <a:p>
            <a:pPr algn="ctr" indent="0" marL="0">
              <a:buNone/>
            </a:pPr>
            <a:r>
              <a:rPr b="1" dirty="0" sz="1200" kern="0" lang="en-US" spc="100">
                <a:solidFill>
                  <a:srgbClr val="8FD3FF"/>
                </a:solidFill>
                <a:latin typeface="Courier New" pitchFamily="34" charset="0"/>
                <a:ea typeface="Courier New" pitchFamily="34" charset="-122"/>
                <a:cs typeface="Courier New" pitchFamily="34" charset="-120"/>
              </a:rPr>
              <a:t>APPROVED BY</a:t>
            </a:r>
            <a:endParaRPr dirty="0" sz="1200" lang="en-US"/>
          </a:p>
        </p:txBody>
      </p:sp>
      <p:sp>
        <p:nvSpPr>
          <p:cNvPr id="1049293" name="Text 63"/>
          <p:cNvSpPr/>
          <p:nvPr/>
        </p:nvSpPr>
        <p:spPr>
          <a:xfrm>
            <a:off x="3200400" y="4892040"/>
            <a:ext cx="5943600" cy="914400"/>
          </a:xfrm>
          <a:prstGeom prst="rect"/>
          <a:noFill/>
        </p:spPr>
        <p:txBody>
          <a:bodyPr anchor="ctr" rtlCol="0" wrap="square"/>
          <a:p>
            <a:pPr indent="0" marL="0">
              <a:buNone/>
            </a:pPr>
            <a:r>
              <a:rPr b="1" dirty="0" sz="1700" lang="en-US">
                <a:solidFill>
                  <a:srgbClr val="FFFFFF"/>
                </a:solidFill>
                <a:latin typeface="Arial" pitchFamily="34" charset="0"/>
                <a:ea typeface="Arial" pitchFamily="34" charset="-122"/>
                <a:cs typeface="Arial" pitchFamily="34" charset="-120"/>
              </a:rPr>
              <a:t>Litorco, Khen S.</a:t>
            </a:r>
            <a:endParaRPr dirty="0" sz="1700" lang="en-US"/>
          </a:p>
        </p:txBody>
      </p:sp>
      <p:sp>
        <p:nvSpPr>
          <p:cNvPr id="1049294" name="Shape 64"/>
          <p:cNvSpPr/>
          <p:nvPr/>
        </p:nvSpPr>
        <p:spPr>
          <a:xfrm>
            <a:off x="9418320" y="4892040"/>
            <a:ext cx="0" cy="914400"/>
          </a:xfrm>
          <a:prstGeom prst="line"/>
          <a:noFill/>
          <a:ln w="9525">
            <a:solidFill>
              <a:srgbClr val="3E6690"/>
            </a:solidFill>
            <a:prstDash val="solid"/>
          </a:ln>
        </p:spPr>
      </p:sp>
      <p:sp>
        <p:nvSpPr>
          <p:cNvPr id="1049295" name="Text 65"/>
          <p:cNvSpPr/>
          <p:nvPr/>
        </p:nvSpPr>
        <p:spPr>
          <a:xfrm>
            <a:off x="9555480" y="5001768"/>
            <a:ext cx="1920240" cy="274320"/>
          </a:xfrm>
          <a:prstGeom prst="rect"/>
          <a:noFill/>
        </p:spPr>
        <p:txBody>
          <a:bodyPr anchor="ctr" rtlCol="0" wrap="square"/>
          <a:p>
            <a:pPr indent="0" marL="0">
              <a:buNone/>
            </a:pPr>
            <a:r>
              <a:rPr dirty="0" sz="850" kern="0" lang="en-US" spc="100">
                <a:solidFill>
                  <a:srgbClr val="9FB8D1"/>
                </a:solidFill>
                <a:latin typeface="Courier New" pitchFamily="34" charset="0"/>
                <a:ea typeface="Courier New" pitchFamily="34" charset="-122"/>
                <a:cs typeface="Courier New" pitchFamily="34" charset="-120"/>
              </a:rPr>
              <a:t>CONTRIBUTION</a:t>
            </a:r>
            <a:endParaRPr dirty="0" sz="850" lang="en-US"/>
          </a:p>
        </p:txBody>
      </p:sp>
      <p:sp>
        <p:nvSpPr>
          <p:cNvPr id="1049296" name="Text 66"/>
          <p:cNvSpPr/>
          <p:nvPr/>
        </p:nvSpPr>
        <p:spPr>
          <a:xfrm>
            <a:off x="9555480" y="5212080"/>
            <a:ext cx="1920240" cy="502920"/>
          </a:xfrm>
          <a:prstGeom prst="rect"/>
          <a:noFill/>
        </p:spPr>
        <p:txBody>
          <a:bodyPr anchor="ctr" rtlCol="0" wrap="square"/>
          <a:p>
            <a:pPr indent="0" marL="0">
              <a:buNone/>
            </a:pPr>
            <a:r>
              <a:rPr b="1" dirty="0" sz="2200" lang="en-US">
                <a:solidFill>
                  <a:srgbClr val="FFB627"/>
                </a:solidFill>
                <a:latin typeface="Courier New" pitchFamily="34" charset="0"/>
                <a:ea typeface="Courier New" pitchFamily="34" charset="-122"/>
                <a:cs typeface="Courier New" pitchFamily="34" charset="-120"/>
              </a:rPr>
              <a:t>25%</a:t>
            </a:r>
            <a:endParaRPr dirty="0" sz="220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creator>PptxGenJS</dc:creator>
  <cp:lastModifiedBy>PptxGenJS</cp:lastModifiedBy>
  <dcterms:created xsi:type="dcterms:W3CDTF">2026-07-19T09:23:28Z</dcterms:created>
  <dcterms:modified xsi:type="dcterms:W3CDTF">2026-07-20T06:28:55Z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e467bdf19df942a5967207470e3227e2</vt:lpwstr>
  </property>
</Properties>
</file>